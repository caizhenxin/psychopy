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customXml/itemProps140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0" r:id="rId5"/>
    <p:sldId id="258" r:id="rId6"/>
    <p:sldId id="261" r:id="rId7"/>
    <p:sldId id="262" r:id="rId8"/>
    <p:sldId id="263" r:id="rId9"/>
    <p:sldId id="265" r:id="rId10"/>
    <p:sldId id="264" r:id="rId11"/>
    <p:sldId id="259" r:id="rId12"/>
    <p:sldId id="266" r:id="rId13"/>
    <p:sldId id="267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2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A44"/>
    <a:srgbClr val="FE9F5D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02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customXml" Target="../customXml/item1.xml"/><Relationship Id="rId18" Type="http://schemas.openxmlformats.org/officeDocument/2006/relationships/customXmlProps" Target="../customXml/itemProps140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5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6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75.xml"/><Relationship Id="rId8" Type="http://schemas.openxmlformats.org/officeDocument/2006/relationships/tags" Target="../tags/tag74.xml"/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image" Target="../media/image1.png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82.xml"/><Relationship Id="rId15" Type="http://schemas.openxmlformats.org/officeDocument/2006/relationships/tags" Target="../tags/tag81.xml"/><Relationship Id="rId14" Type="http://schemas.openxmlformats.org/officeDocument/2006/relationships/tags" Target="../tags/tag80.xml"/><Relationship Id="rId13" Type="http://schemas.openxmlformats.org/officeDocument/2006/relationships/tags" Target="../tags/tag79.xml"/><Relationship Id="rId12" Type="http://schemas.openxmlformats.org/officeDocument/2006/relationships/tags" Target="../tags/tag78.xml"/><Relationship Id="rId11" Type="http://schemas.openxmlformats.org/officeDocument/2006/relationships/tags" Target="../tags/tag77.xml"/><Relationship Id="rId10" Type="http://schemas.openxmlformats.org/officeDocument/2006/relationships/tags" Target="../tags/tag76.xml"/><Relationship Id="rId1" Type="http://schemas.openxmlformats.org/officeDocument/2006/relationships/tags" Target="../tags/tag68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90.xml"/><Relationship Id="rId8" Type="http://schemas.openxmlformats.org/officeDocument/2006/relationships/tags" Target="../tags/tag89.xml"/><Relationship Id="rId7" Type="http://schemas.openxmlformats.org/officeDocument/2006/relationships/tags" Target="../tags/tag88.xml"/><Relationship Id="rId6" Type="http://schemas.openxmlformats.org/officeDocument/2006/relationships/tags" Target="../tags/tag87.xml"/><Relationship Id="rId5" Type="http://schemas.openxmlformats.org/officeDocument/2006/relationships/tags" Target="../tags/tag86.xml"/><Relationship Id="rId4" Type="http://schemas.openxmlformats.org/officeDocument/2006/relationships/image" Target="../media/image1.png"/><Relationship Id="rId3" Type="http://schemas.openxmlformats.org/officeDocument/2006/relationships/tags" Target="../tags/tag85.xml"/><Relationship Id="rId20" Type="http://schemas.openxmlformats.org/officeDocument/2006/relationships/slideLayout" Target="../slideLayouts/slideLayout1.xml"/><Relationship Id="rId2" Type="http://schemas.openxmlformats.org/officeDocument/2006/relationships/tags" Target="../tags/tag84.xml"/><Relationship Id="rId19" Type="http://schemas.openxmlformats.org/officeDocument/2006/relationships/tags" Target="../tags/tag100.xml"/><Relationship Id="rId18" Type="http://schemas.openxmlformats.org/officeDocument/2006/relationships/tags" Target="../tags/tag99.xml"/><Relationship Id="rId17" Type="http://schemas.openxmlformats.org/officeDocument/2006/relationships/tags" Target="../tags/tag98.xml"/><Relationship Id="rId16" Type="http://schemas.openxmlformats.org/officeDocument/2006/relationships/tags" Target="../tags/tag97.xml"/><Relationship Id="rId15" Type="http://schemas.openxmlformats.org/officeDocument/2006/relationships/tags" Target="../tags/tag96.xml"/><Relationship Id="rId14" Type="http://schemas.openxmlformats.org/officeDocument/2006/relationships/tags" Target="../tags/tag95.xml"/><Relationship Id="rId13" Type="http://schemas.openxmlformats.org/officeDocument/2006/relationships/tags" Target="../tags/tag94.xml"/><Relationship Id="rId12" Type="http://schemas.openxmlformats.org/officeDocument/2006/relationships/tags" Target="../tags/tag93.xml"/><Relationship Id="rId11" Type="http://schemas.openxmlformats.org/officeDocument/2006/relationships/tags" Target="../tags/tag92.xml"/><Relationship Id="rId10" Type="http://schemas.openxmlformats.org/officeDocument/2006/relationships/tags" Target="../tags/tag91.xml"/><Relationship Id="rId1" Type="http://schemas.openxmlformats.org/officeDocument/2006/relationships/tags" Target="../tags/tag83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08.xml"/><Relationship Id="rId8" Type="http://schemas.openxmlformats.org/officeDocument/2006/relationships/tags" Target="../tags/tag107.xml"/><Relationship Id="rId7" Type="http://schemas.openxmlformats.org/officeDocument/2006/relationships/tags" Target="../tags/tag106.xml"/><Relationship Id="rId6" Type="http://schemas.openxmlformats.org/officeDocument/2006/relationships/tags" Target="../tags/tag105.xml"/><Relationship Id="rId5" Type="http://schemas.openxmlformats.org/officeDocument/2006/relationships/tags" Target="../tags/tag104.xml"/><Relationship Id="rId4" Type="http://schemas.openxmlformats.org/officeDocument/2006/relationships/image" Target="../media/image1.png"/><Relationship Id="rId3" Type="http://schemas.openxmlformats.org/officeDocument/2006/relationships/tags" Target="../tags/tag103.xml"/><Relationship Id="rId20" Type="http://schemas.openxmlformats.org/officeDocument/2006/relationships/slideLayout" Target="../slideLayouts/slideLayout1.xml"/><Relationship Id="rId2" Type="http://schemas.openxmlformats.org/officeDocument/2006/relationships/tags" Target="../tags/tag102.xml"/><Relationship Id="rId19" Type="http://schemas.openxmlformats.org/officeDocument/2006/relationships/tags" Target="../tags/tag118.xml"/><Relationship Id="rId18" Type="http://schemas.openxmlformats.org/officeDocument/2006/relationships/tags" Target="../tags/tag117.xml"/><Relationship Id="rId17" Type="http://schemas.openxmlformats.org/officeDocument/2006/relationships/tags" Target="../tags/tag116.xml"/><Relationship Id="rId16" Type="http://schemas.openxmlformats.org/officeDocument/2006/relationships/tags" Target="../tags/tag115.xml"/><Relationship Id="rId15" Type="http://schemas.openxmlformats.org/officeDocument/2006/relationships/tags" Target="../tags/tag114.xml"/><Relationship Id="rId14" Type="http://schemas.openxmlformats.org/officeDocument/2006/relationships/tags" Target="../tags/tag113.xml"/><Relationship Id="rId13" Type="http://schemas.openxmlformats.org/officeDocument/2006/relationships/tags" Target="../tags/tag112.xml"/><Relationship Id="rId12" Type="http://schemas.openxmlformats.org/officeDocument/2006/relationships/tags" Target="../tags/tag111.xml"/><Relationship Id="rId11" Type="http://schemas.openxmlformats.org/officeDocument/2006/relationships/tags" Target="../tags/tag110.xml"/><Relationship Id="rId10" Type="http://schemas.openxmlformats.org/officeDocument/2006/relationships/tags" Target="../tags/tag109.xml"/><Relationship Id="rId1" Type="http://schemas.openxmlformats.org/officeDocument/2006/relationships/tags" Target="../tags/tag10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26.xml"/><Relationship Id="rId8" Type="http://schemas.openxmlformats.org/officeDocument/2006/relationships/tags" Target="../tags/tag125.xml"/><Relationship Id="rId7" Type="http://schemas.openxmlformats.org/officeDocument/2006/relationships/tags" Target="../tags/tag124.xml"/><Relationship Id="rId6" Type="http://schemas.openxmlformats.org/officeDocument/2006/relationships/tags" Target="../tags/tag123.xml"/><Relationship Id="rId5" Type="http://schemas.openxmlformats.org/officeDocument/2006/relationships/tags" Target="../tags/tag122.xml"/><Relationship Id="rId4" Type="http://schemas.openxmlformats.org/officeDocument/2006/relationships/image" Target="../media/image1.png"/><Relationship Id="rId3" Type="http://schemas.openxmlformats.org/officeDocument/2006/relationships/tags" Target="../tags/tag121.xml"/><Relationship Id="rId20" Type="http://schemas.openxmlformats.org/officeDocument/2006/relationships/slideLayout" Target="../slideLayouts/slideLayout1.xml"/><Relationship Id="rId2" Type="http://schemas.openxmlformats.org/officeDocument/2006/relationships/tags" Target="../tags/tag120.xml"/><Relationship Id="rId19" Type="http://schemas.openxmlformats.org/officeDocument/2006/relationships/tags" Target="../tags/tag136.xml"/><Relationship Id="rId18" Type="http://schemas.openxmlformats.org/officeDocument/2006/relationships/tags" Target="../tags/tag135.xml"/><Relationship Id="rId17" Type="http://schemas.openxmlformats.org/officeDocument/2006/relationships/tags" Target="../tags/tag134.xml"/><Relationship Id="rId16" Type="http://schemas.openxmlformats.org/officeDocument/2006/relationships/tags" Target="../tags/tag133.xml"/><Relationship Id="rId15" Type="http://schemas.openxmlformats.org/officeDocument/2006/relationships/tags" Target="../tags/tag132.xml"/><Relationship Id="rId14" Type="http://schemas.openxmlformats.org/officeDocument/2006/relationships/tags" Target="../tags/tag131.xml"/><Relationship Id="rId13" Type="http://schemas.openxmlformats.org/officeDocument/2006/relationships/tags" Target="../tags/tag130.xml"/><Relationship Id="rId12" Type="http://schemas.openxmlformats.org/officeDocument/2006/relationships/tags" Target="../tags/tag129.xml"/><Relationship Id="rId11" Type="http://schemas.openxmlformats.org/officeDocument/2006/relationships/tags" Target="../tags/tag128.xml"/><Relationship Id="rId10" Type="http://schemas.openxmlformats.org/officeDocument/2006/relationships/tags" Target="../tags/tag127.xml"/><Relationship Id="rId1" Type="http://schemas.openxmlformats.org/officeDocument/2006/relationships/tags" Target="../tags/tag1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rcRect l="1896" t="10281" r="79757"/>
          <a:stretch>
            <a:fillRect/>
          </a:stretch>
        </p:blipFill>
        <p:spPr>
          <a:xfrm>
            <a:off x="0" y="0"/>
            <a:ext cx="3352165" cy="328993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rcRect l="27960" t="10324" r="53334"/>
          <a:stretch>
            <a:fillRect/>
          </a:stretch>
        </p:blipFill>
        <p:spPr>
          <a:xfrm>
            <a:off x="4388803" y="0"/>
            <a:ext cx="3414395" cy="328485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rcRect l="54267" t="10701" r="27118"/>
          <a:stretch>
            <a:fillRect/>
          </a:stretch>
        </p:blipFill>
        <p:spPr>
          <a:xfrm>
            <a:off x="8789670" y="0"/>
            <a:ext cx="3402330" cy="327533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rcRect l="80679" t="11027" r="771"/>
          <a:stretch>
            <a:fillRect/>
          </a:stretch>
        </p:blipFill>
        <p:spPr>
          <a:xfrm>
            <a:off x="77470" y="3429000"/>
            <a:ext cx="3348355" cy="322326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360BE8B-6686-4F3D-AEAF-501FE73E4058-1" descr="SMT流程图(3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740" y="311150"/>
            <a:ext cx="9774555" cy="579882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597765" cy="252793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1896" t="10281" r="79757"/>
          <a:stretch>
            <a:fillRect/>
          </a:stretch>
        </p:blipFill>
        <p:spPr>
          <a:xfrm>
            <a:off x="207645" y="321628"/>
            <a:ext cx="1883450" cy="184848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27960" t="10324" r="53334"/>
          <a:stretch>
            <a:fillRect/>
          </a:stretch>
        </p:blipFill>
        <p:spPr>
          <a:xfrm>
            <a:off x="1754327" y="952818"/>
            <a:ext cx="1883450" cy="181199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l="54267" t="10701" r="27118"/>
          <a:stretch>
            <a:fillRect/>
          </a:stretch>
        </p:blipFill>
        <p:spPr>
          <a:xfrm>
            <a:off x="3236039" y="1369378"/>
            <a:ext cx="1883450" cy="181314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l="80679" t="11027" r="771"/>
          <a:stretch>
            <a:fillRect/>
          </a:stretch>
        </p:blipFill>
        <p:spPr>
          <a:xfrm>
            <a:off x="4665107" y="1770380"/>
            <a:ext cx="1883450" cy="181308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l="1896" t="10281" r="79757"/>
          <a:stretch>
            <a:fillRect/>
          </a:stretch>
        </p:blipFill>
        <p:spPr>
          <a:xfrm>
            <a:off x="140335" y="3681413"/>
            <a:ext cx="1883450" cy="184848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 l="27960" t="10324" r="53334"/>
          <a:stretch>
            <a:fillRect/>
          </a:stretch>
        </p:blipFill>
        <p:spPr>
          <a:xfrm>
            <a:off x="1687017" y="4312603"/>
            <a:ext cx="1883450" cy="181199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rcRect l="54267" t="10701" r="27118"/>
          <a:stretch>
            <a:fillRect/>
          </a:stretch>
        </p:blipFill>
        <p:spPr>
          <a:xfrm>
            <a:off x="3168729" y="4729163"/>
            <a:ext cx="1883450" cy="181314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1896" t="10281" r="79757" b="22992"/>
          <a:stretch>
            <a:fillRect/>
          </a:stretch>
        </p:blipFill>
        <p:spPr>
          <a:xfrm>
            <a:off x="207645" y="264795"/>
            <a:ext cx="1752600" cy="12795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27960" t="10324" r="53334" b="22435"/>
          <a:stretch>
            <a:fillRect/>
          </a:stretch>
        </p:blipFill>
        <p:spPr>
          <a:xfrm>
            <a:off x="1754505" y="895985"/>
            <a:ext cx="1752600" cy="12642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l="54267" t="10701" r="27118" b="20143"/>
          <a:stretch>
            <a:fillRect/>
          </a:stretch>
        </p:blipFill>
        <p:spPr>
          <a:xfrm>
            <a:off x="3235960" y="1312545"/>
            <a:ext cx="1752600" cy="130619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l="80679" t="11027" r="771" b="20818"/>
          <a:stretch>
            <a:fillRect/>
          </a:stretch>
        </p:blipFill>
        <p:spPr>
          <a:xfrm>
            <a:off x="4665345" y="1713230"/>
            <a:ext cx="1752600" cy="129222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1896" t="10281" r="79757" b="22992"/>
          <a:stretch>
            <a:fillRect/>
          </a:stretch>
        </p:blipFill>
        <p:spPr>
          <a:xfrm>
            <a:off x="207645" y="3824605"/>
            <a:ext cx="1752600" cy="127952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rcRect l="27960" t="10324" r="53334" b="22435"/>
          <a:stretch>
            <a:fillRect/>
          </a:stretch>
        </p:blipFill>
        <p:spPr>
          <a:xfrm>
            <a:off x="1754505" y="4455795"/>
            <a:ext cx="1752600" cy="126428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rcRect l="54267" t="10701" r="27118" b="20143"/>
          <a:stretch>
            <a:fillRect/>
          </a:stretch>
        </p:blipFill>
        <p:spPr>
          <a:xfrm>
            <a:off x="3235960" y="4872355"/>
            <a:ext cx="1752600" cy="1306195"/>
          </a:xfrm>
          <a:prstGeom prst="rect">
            <a:avLst/>
          </a:prstGeom>
        </p:spPr>
      </p:pic>
      <p:sp>
        <p:nvSpPr>
          <p:cNvPr id="12" name="圆角矩形 11"/>
          <p:cNvSpPr/>
          <p:nvPr/>
        </p:nvSpPr>
        <p:spPr>
          <a:xfrm>
            <a:off x="-635" y="71120"/>
            <a:ext cx="6543040" cy="3213735"/>
          </a:xfrm>
          <a:prstGeom prst="round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-635" y="3524885"/>
            <a:ext cx="6543040" cy="3213735"/>
          </a:xfrm>
          <a:prstGeom prst="round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9839325" y="264795"/>
            <a:ext cx="20923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练习次数（</a:t>
            </a:r>
            <a:r>
              <a:rPr lang="en-US" altLang="zh-CN"/>
              <a:t>P)</a:t>
            </a:r>
            <a:endParaRPr lang="en-US" altLang="zh-CN"/>
          </a:p>
          <a:p>
            <a:r>
              <a:rPr lang="zh-CN" altLang="en-US"/>
              <a:t>刺激呈现时间（</a:t>
            </a:r>
            <a:r>
              <a:rPr lang="en-US" altLang="zh-CN"/>
              <a:t>T)</a:t>
            </a:r>
            <a:endParaRPr lang="en-US" altLang="zh-CN"/>
          </a:p>
          <a:p>
            <a:r>
              <a:rPr lang="zh-CN" altLang="en-US"/>
              <a:t>反应窗口（</a:t>
            </a:r>
            <a:r>
              <a:rPr lang="en-US" altLang="zh-CN"/>
              <a:t>W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6966585" y="70485"/>
            <a:ext cx="881380" cy="321437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eaVert" rtlCol="0" anchor="ctr"/>
          <a:p>
            <a:pPr algn="ctr"/>
            <a:r>
              <a:rPr lang="zh-CN" altLang="en-US" sz="3200"/>
              <a:t>练习阶段</a:t>
            </a:r>
            <a:endParaRPr lang="zh-CN" altLang="en-US" sz="3200"/>
          </a:p>
        </p:txBody>
      </p:sp>
      <p:sp>
        <p:nvSpPr>
          <p:cNvPr id="16" name="圆角矩形 15"/>
          <p:cNvSpPr/>
          <p:nvPr/>
        </p:nvSpPr>
        <p:spPr>
          <a:xfrm>
            <a:off x="6966585" y="3524250"/>
            <a:ext cx="881380" cy="321437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eaVert" rtlCol="0" anchor="ctr"/>
          <a:p>
            <a:pPr algn="ctr"/>
            <a:r>
              <a:rPr lang="zh-CN" altLang="en-US" sz="3200"/>
              <a:t>正式试次</a:t>
            </a:r>
            <a:endParaRPr lang="zh-CN" altLang="en-US" sz="3200"/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1896" t="10281" r="79757" b="22992"/>
          <a:stretch>
            <a:fillRect/>
          </a:stretch>
        </p:blipFill>
        <p:spPr>
          <a:xfrm>
            <a:off x="207645" y="264795"/>
            <a:ext cx="1752600" cy="12795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/>
          <a:srcRect l="27960" t="10324" r="53334" b="22435"/>
          <a:stretch>
            <a:fillRect/>
          </a:stretch>
        </p:blipFill>
        <p:spPr>
          <a:xfrm>
            <a:off x="1483360" y="694055"/>
            <a:ext cx="1752600" cy="12642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"/>
          <a:srcRect l="54267" t="10701" r="27118" b="20143"/>
          <a:stretch>
            <a:fillRect/>
          </a:stretch>
        </p:blipFill>
        <p:spPr>
          <a:xfrm>
            <a:off x="2832100" y="1024890"/>
            <a:ext cx="1752600" cy="130619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"/>
          <a:srcRect l="80679" t="11027" r="771" b="20818"/>
          <a:stretch>
            <a:fillRect/>
          </a:stretch>
        </p:blipFill>
        <p:spPr>
          <a:xfrm>
            <a:off x="4039870" y="1405255"/>
            <a:ext cx="1752600" cy="129222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"/>
          <a:srcRect l="1896" t="10281" r="79757" b="22992"/>
          <a:stretch>
            <a:fillRect/>
          </a:stretch>
        </p:blipFill>
        <p:spPr>
          <a:xfrm>
            <a:off x="207645" y="3824605"/>
            <a:ext cx="1752600" cy="127952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"/>
          <a:srcRect l="27960" t="10324" r="53334" b="22435"/>
          <a:stretch>
            <a:fillRect/>
          </a:stretch>
        </p:blipFill>
        <p:spPr>
          <a:xfrm>
            <a:off x="1754505" y="4455795"/>
            <a:ext cx="1752600" cy="126428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"/>
          <a:srcRect l="54267" t="10701" r="27118" b="20143"/>
          <a:stretch>
            <a:fillRect/>
          </a:stretch>
        </p:blipFill>
        <p:spPr>
          <a:xfrm>
            <a:off x="3235960" y="4872355"/>
            <a:ext cx="1752600" cy="1306195"/>
          </a:xfrm>
          <a:prstGeom prst="rect">
            <a:avLst/>
          </a:prstGeom>
        </p:spPr>
      </p:pic>
      <p:sp>
        <p:nvSpPr>
          <p:cNvPr id="12" name="圆角矩形 11"/>
          <p:cNvSpPr/>
          <p:nvPr>
            <p:custDataLst>
              <p:tags r:id="rId9"/>
            </p:custDataLst>
          </p:nvPr>
        </p:nvSpPr>
        <p:spPr>
          <a:xfrm>
            <a:off x="-635" y="71120"/>
            <a:ext cx="6543040" cy="3213735"/>
          </a:xfrm>
          <a:prstGeom prst="round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>
            <p:custDataLst>
              <p:tags r:id="rId10"/>
            </p:custDataLst>
          </p:nvPr>
        </p:nvSpPr>
        <p:spPr>
          <a:xfrm>
            <a:off x="-635" y="3524885"/>
            <a:ext cx="6543040" cy="3213735"/>
          </a:xfrm>
          <a:prstGeom prst="round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9839325" y="264795"/>
            <a:ext cx="20923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练习次数（</a:t>
            </a:r>
            <a:r>
              <a:rPr lang="en-US" altLang="zh-CN"/>
              <a:t>P)</a:t>
            </a:r>
            <a:endParaRPr lang="en-US" altLang="zh-CN"/>
          </a:p>
          <a:p>
            <a:r>
              <a:rPr lang="zh-CN" altLang="en-US"/>
              <a:t>刺激呈现时间（</a:t>
            </a:r>
            <a:r>
              <a:rPr lang="en-US" altLang="zh-CN"/>
              <a:t>T)</a:t>
            </a:r>
            <a:endParaRPr lang="en-US" altLang="zh-CN"/>
          </a:p>
          <a:p>
            <a:r>
              <a:rPr lang="zh-CN" altLang="en-US"/>
              <a:t>反应窗口（</a:t>
            </a:r>
            <a:r>
              <a:rPr lang="en-US" altLang="zh-CN"/>
              <a:t>W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15" name="圆角矩形 14"/>
          <p:cNvSpPr/>
          <p:nvPr>
            <p:custDataLst>
              <p:tags r:id="rId11"/>
            </p:custDataLst>
          </p:nvPr>
        </p:nvSpPr>
        <p:spPr>
          <a:xfrm>
            <a:off x="6966585" y="70485"/>
            <a:ext cx="881380" cy="321437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eaVert" rtlCol="0" anchor="ctr"/>
          <a:p>
            <a:pPr algn="ctr"/>
            <a:r>
              <a:rPr lang="zh-CN" altLang="en-US" sz="3200"/>
              <a:t>练习阶段</a:t>
            </a:r>
            <a:endParaRPr lang="zh-CN" altLang="en-US" sz="3200"/>
          </a:p>
        </p:txBody>
      </p:sp>
      <p:sp>
        <p:nvSpPr>
          <p:cNvPr id="16" name="圆角矩形 15"/>
          <p:cNvSpPr/>
          <p:nvPr>
            <p:custDataLst>
              <p:tags r:id="rId12"/>
            </p:custDataLst>
          </p:nvPr>
        </p:nvSpPr>
        <p:spPr>
          <a:xfrm>
            <a:off x="6966585" y="3524250"/>
            <a:ext cx="881380" cy="321437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eaVert" rtlCol="0" anchor="ctr"/>
          <a:p>
            <a:pPr algn="ctr"/>
            <a:r>
              <a:rPr lang="zh-CN" altLang="en-US" sz="3200"/>
              <a:t>正式试次</a:t>
            </a:r>
            <a:endParaRPr lang="zh-CN" altLang="en-US" sz="3200"/>
          </a:p>
        </p:txBody>
      </p:sp>
      <p:cxnSp>
        <p:nvCxnSpPr>
          <p:cNvPr id="7" name="直接箭头连接符 6"/>
          <p:cNvCxnSpPr/>
          <p:nvPr>
            <p:custDataLst>
              <p:tags r:id="rId13"/>
            </p:custDataLst>
          </p:nvPr>
        </p:nvCxnSpPr>
        <p:spPr>
          <a:xfrm>
            <a:off x="213360" y="1551940"/>
            <a:ext cx="5253355" cy="1654810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左大括号 7"/>
          <p:cNvSpPr/>
          <p:nvPr>
            <p:custDataLst>
              <p:tags r:id="rId14"/>
            </p:custDataLst>
          </p:nvPr>
        </p:nvSpPr>
        <p:spPr>
          <a:xfrm rot="16200000">
            <a:off x="2103120" y="1744980"/>
            <a:ext cx="125095" cy="1358900"/>
          </a:xfrm>
          <a:prstGeom prst="leftBrace">
            <a:avLst>
              <a:gd name="adj1" fmla="val 9261"/>
              <a:gd name="adj2" fmla="val 50793"/>
            </a:avLst>
          </a:prstGeom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左大括号 8"/>
          <p:cNvSpPr/>
          <p:nvPr>
            <p:custDataLst>
              <p:tags r:id="rId15"/>
            </p:custDataLst>
          </p:nvPr>
        </p:nvSpPr>
        <p:spPr>
          <a:xfrm rot="16200000">
            <a:off x="3373755" y="2279650"/>
            <a:ext cx="125095" cy="1207135"/>
          </a:xfrm>
          <a:prstGeom prst="leftBrace">
            <a:avLst>
              <a:gd name="adj1" fmla="val 9261"/>
              <a:gd name="adj2" fmla="val 50793"/>
            </a:avLst>
          </a:prstGeom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7229475" y="2697480"/>
            <a:ext cx="355600" cy="355600"/>
          </a:xfrm>
          <a:prstGeom prst="ellipse">
            <a:avLst/>
          </a:prstGeom>
          <a:solidFill>
            <a:srgbClr val="FE9F5D"/>
          </a:solidFill>
          <a:ln>
            <a:solidFill>
              <a:schemeClr val="tx1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P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1988185" y="2697480"/>
            <a:ext cx="355600" cy="355600"/>
          </a:xfrm>
          <a:prstGeom prst="ellipse">
            <a:avLst/>
          </a:prstGeom>
          <a:solidFill>
            <a:srgbClr val="AECE9B"/>
          </a:solidFill>
          <a:ln>
            <a:solidFill>
              <a:schemeClr val="tx1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3235960" y="3169285"/>
            <a:ext cx="355600" cy="355600"/>
          </a:xfrm>
          <a:prstGeom prst="ellipse">
            <a:avLst/>
          </a:prstGeom>
          <a:solidFill>
            <a:srgbClr val="7FA2DB"/>
          </a:solidFill>
          <a:ln>
            <a:solidFill>
              <a:schemeClr val="tx1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W</a:t>
            </a:r>
            <a:endParaRPr lang="en-US" altLang="zh-CN">
              <a:solidFill>
                <a:schemeClr val="tx1"/>
              </a:solidFill>
            </a:endParaRPr>
          </a:p>
        </p:txBody>
      </p:sp>
    </p:spTree>
    <p:custDataLst>
      <p:tags r:id="rId16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7587615" y="204470"/>
            <a:ext cx="2634615" cy="12052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练习次数（</a:t>
            </a:r>
            <a:r>
              <a:rPr lang="en-US" altLang="zh-CN" sz="2400"/>
              <a:t>P)</a:t>
            </a:r>
            <a:endParaRPr lang="en-US" altLang="zh-CN" sz="2400"/>
          </a:p>
          <a:p>
            <a:r>
              <a:rPr lang="zh-CN" altLang="en-US" sz="2400"/>
              <a:t>刺激呈现时间（</a:t>
            </a:r>
            <a:r>
              <a:rPr lang="en-US" altLang="zh-CN" sz="2400"/>
              <a:t>T)</a:t>
            </a:r>
            <a:endParaRPr lang="en-US" altLang="zh-CN" sz="2400"/>
          </a:p>
          <a:p>
            <a:r>
              <a:rPr lang="zh-CN" altLang="en-US" sz="2400"/>
              <a:t>反应窗口（</a:t>
            </a:r>
            <a:r>
              <a:rPr lang="en-US" altLang="zh-CN" sz="2400"/>
              <a:t>W</a:t>
            </a:r>
            <a:r>
              <a:rPr lang="zh-CN" altLang="en-US" sz="2400"/>
              <a:t>）</a:t>
            </a:r>
            <a:endParaRPr lang="zh-CN" altLang="en-US" sz="2400"/>
          </a:p>
        </p:txBody>
      </p:sp>
      <p:sp>
        <p:nvSpPr>
          <p:cNvPr id="16" name="圆角矩形 15"/>
          <p:cNvSpPr/>
          <p:nvPr>
            <p:custDataLst>
              <p:tags r:id="rId1"/>
            </p:custDataLst>
          </p:nvPr>
        </p:nvSpPr>
        <p:spPr>
          <a:xfrm>
            <a:off x="6348095" y="3418840"/>
            <a:ext cx="881380" cy="3319145"/>
          </a:xfrm>
          <a:prstGeom prst="roundRect">
            <a:avLst/>
          </a:prstGeom>
          <a:solidFill>
            <a:srgbClr val="006A4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eaVert" rtlCol="0" anchor="ctr"/>
          <a:p>
            <a:pPr algn="ctr"/>
            <a:r>
              <a:rPr lang="zh-CN" altLang="en-US" sz="3200"/>
              <a:t>正式试次</a:t>
            </a:r>
            <a:endParaRPr lang="zh-CN" altLang="en-US" sz="3200"/>
          </a:p>
        </p:txBody>
      </p:sp>
      <p:grpSp>
        <p:nvGrpSpPr>
          <p:cNvPr id="31" name="组合 30"/>
          <p:cNvGrpSpPr/>
          <p:nvPr/>
        </p:nvGrpSpPr>
        <p:grpSpPr>
          <a:xfrm>
            <a:off x="6348095" y="70485"/>
            <a:ext cx="881380" cy="3214370"/>
            <a:chOff x="10971" y="111"/>
            <a:chExt cx="1388" cy="5062"/>
          </a:xfrm>
          <a:solidFill>
            <a:srgbClr val="006A44"/>
          </a:solidFill>
        </p:grpSpPr>
        <p:sp>
          <p:nvSpPr>
            <p:cNvPr id="15" name="圆角矩形 14"/>
            <p:cNvSpPr/>
            <p:nvPr>
              <p:custDataLst>
                <p:tags r:id="rId2"/>
              </p:custDataLst>
            </p:nvPr>
          </p:nvSpPr>
          <p:spPr>
            <a:xfrm>
              <a:off x="10971" y="111"/>
              <a:ext cx="1388" cy="5062"/>
            </a:xfrm>
            <a:prstGeom prst="roundRect">
              <a:avLst/>
            </a:prstGeom>
            <a:grp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eaVert" rtlCol="0" anchor="ctr"/>
            <a:p>
              <a:pPr algn="ctr"/>
              <a:r>
                <a:rPr lang="zh-CN" altLang="en-US" sz="3200"/>
                <a:t>练习阶段</a:t>
              </a:r>
              <a:endParaRPr lang="zh-CN" altLang="en-US" sz="3200"/>
            </a:p>
          </p:txBody>
        </p:sp>
        <p:sp>
          <p:nvSpPr>
            <p:cNvPr id="17" name="椭圆 16"/>
            <p:cNvSpPr/>
            <p:nvPr/>
          </p:nvSpPr>
          <p:spPr>
            <a:xfrm>
              <a:off x="11385" y="4248"/>
              <a:ext cx="560" cy="560"/>
            </a:xfrm>
            <a:prstGeom prst="ellipse">
              <a:avLst/>
            </a:prstGeom>
            <a:solidFill>
              <a:srgbClr val="FE9F5D"/>
            </a:solidFill>
            <a:ln>
              <a:solidFill>
                <a:schemeClr val="tx1"/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P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419735" y="22860"/>
            <a:ext cx="5733415" cy="6714490"/>
            <a:chOff x="74" y="37"/>
            <a:chExt cx="9757" cy="11291"/>
          </a:xfrm>
        </p:grpSpPr>
        <p:pic>
          <p:nvPicPr>
            <p:cNvPr id="3" name="图片 2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rcRect l="1896" t="10281" r="79757" b="22992"/>
            <a:stretch>
              <a:fillRect/>
            </a:stretch>
          </p:blipFill>
          <p:spPr>
            <a:xfrm>
              <a:off x="402" y="342"/>
              <a:ext cx="2760" cy="2015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4"/>
            <a:srcRect l="27960" t="10324" r="53334" b="22435"/>
            <a:stretch>
              <a:fillRect/>
            </a:stretch>
          </p:blipFill>
          <p:spPr>
            <a:xfrm>
              <a:off x="2411" y="958"/>
              <a:ext cx="2760" cy="1991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4"/>
            <a:srcRect l="54267" t="10701" r="27118" b="20143"/>
            <a:stretch>
              <a:fillRect/>
            </a:stretch>
          </p:blipFill>
          <p:spPr>
            <a:xfrm>
              <a:off x="4535" y="1539"/>
              <a:ext cx="2760" cy="2057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4"/>
            <a:srcRect l="80679" t="11027" r="771" b="20818"/>
            <a:stretch>
              <a:fillRect/>
            </a:stretch>
          </p:blipFill>
          <p:spPr>
            <a:xfrm>
              <a:off x="6437" y="2138"/>
              <a:ext cx="2760" cy="2035"/>
            </a:xfrm>
            <a:prstGeom prst="rect">
              <a:avLst/>
            </a:prstGeom>
          </p:spPr>
        </p:pic>
        <p:sp>
          <p:nvSpPr>
            <p:cNvPr id="12" name="圆角矩形 11"/>
            <p:cNvSpPr/>
            <p:nvPr>
              <p:custDataLst>
                <p:tags r:id="rId8"/>
              </p:custDataLst>
            </p:nvPr>
          </p:nvSpPr>
          <p:spPr>
            <a:xfrm>
              <a:off x="74" y="37"/>
              <a:ext cx="9757" cy="5581"/>
            </a:xfrm>
            <a:prstGeom prst="roundRect">
              <a:avLst/>
            </a:pr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7" name="直接箭头连接符 6"/>
            <p:cNvCxnSpPr/>
            <p:nvPr>
              <p:custDataLst>
                <p:tags r:id="rId9"/>
              </p:custDataLst>
            </p:nvPr>
          </p:nvCxnSpPr>
          <p:spPr>
            <a:xfrm>
              <a:off x="411" y="2369"/>
              <a:ext cx="8343" cy="2556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8" name="左大括号 7"/>
            <p:cNvSpPr/>
            <p:nvPr>
              <p:custDataLst>
                <p:tags r:id="rId10"/>
              </p:custDataLst>
            </p:nvPr>
          </p:nvSpPr>
          <p:spPr>
            <a:xfrm rot="16200000">
              <a:off x="3387" y="2673"/>
              <a:ext cx="197" cy="2140"/>
            </a:xfrm>
            <a:prstGeom prst="leftBrace">
              <a:avLst>
                <a:gd name="adj1" fmla="val 9261"/>
                <a:gd name="adj2" fmla="val 50793"/>
              </a:avLst>
            </a:prstGeom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左大括号 8"/>
            <p:cNvSpPr/>
            <p:nvPr>
              <p:custDataLst>
                <p:tags r:id="rId11"/>
              </p:custDataLst>
            </p:nvPr>
          </p:nvSpPr>
          <p:spPr>
            <a:xfrm rot="16200000">
              <a:off x="5388" y="3475"/>
              <a:ext cx="197" cy="1901"/>
            </a:xfrm>
            <a:prstGeom prst="leftBrace">
              <a:avLst>
                <a:gd name="adj1" fmla="val 9261"/>
                <a:gd name="adj2" fmla="val 50793"/>
              </a:avLst>
            </a:prstGeom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3206" y="4173"/>
              <a:ext cx="560" cy="560"/>
            </a:xfrm>
            <a:prstGeom prst="ellipse">
              <a:avLst/>
            </a:prstGeom>
            <a:solidFill>
              <a:srgbClr val="AECE9B"/>
            </a:solidFill>
            <a:ln>
              <a:solidFill>
                <a:schemeClr val="tx1"/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T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5171" y="4856"/>
              <a:ext cx="560" cy="560"/>
            </a:xfrm>
            <a:prstGeom prst="ellipse">
              <a:avLst/>
            </a:prstGeom>
            <a:solidFill>
              <a:srgbClr val="7FA2DB"/>
            </a:solidFill>
            <a:ln>
              <a:solidFill>
                <a:schemeClr val="tx1"/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W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pic>
          <p:nvPicPr>
            <p:cNvPr id="20" name="图片 19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4"/>
            <a:srcRect l="1896" t="10281" r="79757" b="22992"/>
            <a:stretch>
              <a:fillRect/>
            </a:stretch>
          </p:blipFill>
          <p:spPr>
            <a:xfrm>
              <a:off x="403" y="6053"/>
              <a:ext cx="2760" cy="2015"/>
            </a:xfrm>
            <a:prstGeom prst="rect">
              <a:avLst/>
            </a:prstGeom>
          </p:spPr>
        </p:pic>
        <p:pic>
          <p:nvPicPr>
            <p:cNvPr id="21" name="图片 20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4"/>
            <a:srcRect l="27960" t="10324" r="53334" b="22435"/>
            <a:stretch>
              <a:fillRect/>
            </a:stretch>
          </p:blipFill>
          <p:spPr>
            <a:xfrm>
              <a:off x="2412" y="6669"/>
              <a:ext cx="2760" cy="1991"/>
            </a:xfrm>
            <a:prstGeom prst="rect">
              <a:avLst/>
            </a:prstGeom>
          </p:spPr>
        </p:pic>
        <p:pic>
          <p:nvPicPr>
            <p:cNvPr id="22" name="图片 21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4"/>
            <a:srcRect l="54267" t="10701" r="27118" b="20143"/>
            <a:stretch>
              <a:fillRect/>
            </a:stretch>
          </p:blipFill>
          <p:spPr>
            <a:xfrm>
              <a:off x="4536" y="7250"/>
              <a:ext cx="2760" cy="2057"/>
            </a:xfrm>
            <a:prstGeom prst="rect">
              <a:avLst/>
            </a:prstGeom>
          </p:spPr>
        </p:pic>
        <p:sp>
          <p:nvSpPr>
            <p:cNvPr id="24" name="圆角矩形 23"/>
            <p:cNvSpPr/>
            <p:nvPr>
              <p:custDataLst>
                <p:tags r:id="rId15"/>
              </p:custDataLst>
            </p:nvPr>
          </p:nvSpPr>
          <p:spPr>
            <a:xfrm>
              <a:off x="75" y="5748"/>
              <a:ext cx="9757" cy="5581"/>
            </a:xfrm>
            <a:prstGeom prst="roundRect">
              <a:avLst/>
            </a:pr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25" name="直接箭头连接符 24"/>
            <p:cNvCxnSpPr/>
            <p:nvPr>
              <p:custDataLst>
                <p:tags r:id="rId16"/>
              </p:custDataLst>
            </p:nvPr>
          </p:nvCxnSpPr>
          <p:spPr>
            <a:xfrm>
              <a:off x="412" y="8080"/>
              <a:ext cx="6984" cy="2139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6" name="左大括号 25"/>
            <p:cNvSpPr/>
            <p:nvPr>
              <p:custDataLst>
                <p:tags r:id="rId17"/>
              </p:custDataLst>
            </p:nvPr>
          </p:nvSpPr>
          <p:spPr>
            <a:xfrm rot="16200000">
              <a:off x="3388" y="8384"/>
              <a:ext cx="197" cy="2140"/>
            </a:xfrm>
            <a:prstGeom prst="leftBrace">
              <a:avLst>
                <a:gd name="adj1" fmla="val 9261"/>
                <a:gd name="adj2" fmla="val 50793"/>
              </a:avLst>
            </a:prstGeom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" name="左大括号 26"/>
            <p:cNvSpPr/>
            <p:nvPr>
              <p:custDataLst>
                <p:tags r:id="rId18"/>
              </p:custDataLst>
            </p:nvPr>
          </p:nvSpPr>
          <p:spPr>
            <a:xfrm rot="16200000">
              <a:off x="5389" y="9186"/>
              <a:ext cx="197" cy="1901"/>
            </a:xfrm>
            <a:prstGeom prst="leftBrace">
              <a:avLst>
                <a:gd name="adj1" fmla="val 9261"/>
                <a:gd name="adj2" fmla="val 50793"/>
              </a:avLst>
            </a:prstGeom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3207" y="9884"/>
              <a:ext cx="560" cy="560"/>
            </a:xfrm>
            <a:prstGeom prst="ellipse">
              <a:avLst/>
            </a:prstGeom>
            <a:solidFill>
              <a:srgbClr val="AECE9B"/>
            </a:solidFill>
            <a:ln>
              <a:solidFill>
                <a:schemeClr val="tx1"/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T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29" name="椭圆 28"/>
            <p:cNvSpPr/>
            <p:nvPr/>
          </p:nvSpPr>
          <p:spPr>
            <a:xfrm>
              <a:off x="5172" y="10567"/>
              <a:ext cx="560" cy="560"/>
            </a:xfrm>
            <a:prstGeom prst="ellipse">
              <a:avLst/>
            </a:prstGeom>
            <a:solidFill>
              <a:srgbClr val="7FA2DB"/>
            </a:solidFill>
            <a:ln>
              <a:solidFill>
                <a:schemeClr val="tx1"/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W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</p:grpSp>
      <p:sp>
        <p:nvSpPr>
          <p:cNvPr id="32" name="椭圆 31"/>
          <p:cNvSpPr/>
          <p:nvPr/>
        </p:nvSpPr>
        <p:spPr>
          <a:xfrm>
            <a:off x="10222230" y="268605"/>
            <a:ext cx="355600" cy="355600"/>
          </a:xfrm>
          <a:prstGeom prst="ellipse">
            <a:avLst/>
          </a:prstGeom>
          <a:solidFill>
            <a:srgbClr val="FE9F5D"/>
          </a:solidFill>
          <a:ln>
            <a:solidFill>
              <a:schemeClr val="tx1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P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10222230" y="635000"/>
            <a:ext cx="355600" cy="355600"/>
          </a:xfrm>
          <a:prstGeom prst="ellipse">
            <a:avLst/>
          </a:prstGeom>
          <a:solidFill>
            <a:srgbClr val="AECE9B"/>
          </a:solidFill>
          <a:ln>
            <a:solidFill>
              <a:schemeClr val="tx1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10222230" y="1001395"/>
            <a:ext cx="355600" cy="355600"/>
          </a:xfrm>
          <a:prstGeom prst="ellipse">
            <a:avLst/>
          </a:prstGeom>
          <a:solidFill>
            <a:srgbClr val="7FA2DB"/>
          </a:solidFill>
          <a:ln>
            <a:solidFill>
              <a:schemeClr val="tx1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W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0" y="6871970"/>
            <a:ext cx="12192000" cy="155575"/>
          </a:xfrm>
          <a:prstGeom prst="rect">
            <a:avLst/>
          </a:prstGeom>
          <a:solidFill>
            <a:srgbClr val="006A4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9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7587615" y="252095"/>
            <a:ext cx="2634615" cy="12052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练习次数（</a:t>
            </a:r>
            <a:r>
              <a:rPr lang="en-US" altLang="zh-CN" sz="2400"/>
              <a:t>P)</a:t>
            </a:r>
            <a:endParaRPr lang="en-US" altLang="zh-CN" sz="2400"/>
          </a:p>
          <a:p>
            <a:r>
              <a:rPr lang="zh-CN" altLang="en-US" sz="2400"/>
              <a:t>刺激呈现时间（</a:t>
            </a:r>
            <a:r>
              <a:rPr lang="en-US" altLang="zh-CN" sz="2400"/>
              <a:t>T)</a:t>
            </a:r>
            <a:endParaRPr lang="en-US" altLang="zh-CN" sz="2400"/>
          </a:p>
          <a:p>
            <a:r>
              <a:rPr lang="zh-CN" altLang="en-US" sz="2400"/>
              <a:t>反应窗口（</a:t>
            </a:r>
            <a:r>
              <a:rPr lang="en-US" altLang="zh-CN" sz="2400"/>
              <a:t>W</a:t>
            </a:r>
            <a:r>
              <a:rPr lang="zh-CN" altLang="en-US" sz="2400"/>
              <a:t>）</a:t>
            </a:r>
            <a:endParaRPr lang="zh-CN" altLang="en-US" sz="2400"/>
          </a:p>
        </p:txBody>
      </p:sp>
      <p:sp>
        <p:nvSpPr>
          <p:cNvPr id="16" name="圆角矩形 15"/>
          <p:cNvSpPr/>
          <p:nvPr>
            <p:custDataLst>
              <p:tags r:id="rId1"/>
            </p:custDataLst>
          </p:nvPr>
        </p:nvSpPr>
        <p:spPr>
          <a:xfrm>
            <a:off x="6348095" y="3466465"/>
            <a:ext cx="881380" cy="3319145"/>
          </a:xfrm>
          <a:prstGeom prst="roundRect">
            <a:avLst/>
          </a:prstGeom>
          <a:solidFill>
            <a:srgbClr val="006A4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eaVert" rtlCol="0" anchor="ctr"/>
          <a:p>
            <a:pPr algn="ctr"/>
            <a:r>
              <a:rPr lang="zh-CN" altLang="en-US" sz="3200"/>
              <a:t>正式试次</a:t>
            </a:r>
            <a:endParaRPr lang="zh-CN" altLang="en-US" sz="3200"/>
          </a:p>
        </p:txBody>
      </p:sp>
      <p:grpSp>
        <p:nvGrpSpPr>
          <p:cNvPr id="31" name="组合 30"/>
          <p:cNvGrpSpPr/>
          <p:nvPr/>
        </p:nvGrpSpPr>
        <p:grpSpPr>
          <a:xfrm>
            <a:off x="6348095" y="118110"/>
            <a:ext cx="881380" cy="3214370"/>
            <a:chOff x="10971" y="111"/>
            <a:chExt cx="1388" cy="5062"/>
          </a:xfrm>
          <a:solidFill>
            <a:srgbClr val="006A44"/>
          </a:solidFill>
        </p:grpSpPr>
        <p:sp>
          <p:nvSpPr>
            <p:cNvPr id="15" name="圆角矩形 14"/>
            <p:cNvSpPr/>
            <p:nvPr>
              <p:custDataLst>
                <p:tags r:id="rId2"/>
              </p:custDataLst>
            </p:nvPr>
          </p:nvSpPr>
          <p:spPr>
            <a:xfrm>
              <a:off x="10971" y="111"/>
              <a:ext cx="1388" cy="5062"/>
            </a:xfrm>
            <a:prstGeom prst="roundRect">
              <a:avLst/>
            </a:prstGeom>
            <a:grp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eaVert" rtlCol="0" anchor="ctr"/>
            <a:p>
              <a:pPr algn="ctr"/>
              <a:r>
                <a:rPr lang="zh-CN" altLang="en-US" sz="3200"/>
                <a:t>练习阶段</a:t>
              </a:r>
              <a:endParaRPr lang="zh-CN" altLang="en-US" sz="3200"/>
            </a:p>
          </p:txBody>
        </p:sp>
        <p:sp>
          <p:nvSpPr>
            <p:cNvPr id="17" name="椭圆 16"/>
            <p:cNvSpPr/>
            <p:nvPr/>
          </p:nvSpPr>
          <p:spPr>
            <a:xfrm>
              <a:off x="11385" y="4248"/>
              <a:ext cx="560" cy="560"/>
            </a:xfrm>
            <a:prstGeom prst="ellipse">
              <a:avLst/>
            </a:prstGeom>
            <a:solidFill>
              <a:srgbClr val="FE9F5D"/>
            </a:solidFill>
            <a:ln>
              <a:solidFill>
                <a:schemeClr val="tx1"/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P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1896" t="10281" r="79757" b="22992"/>
          <a:stretch>
            <a:fillRect/>
          </a:stretch>
        </p:blipFill>
        <p:spPr>
          <a:xfrm>
            <a:off x="612775" y="252095"/>
            <a:ext cx="1621790" cy="119824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rcRect l="27960" t="10324" r="53334" b="22435"/>
          <a:stretch>
            <a:fillRect/>
          </a:stretch>
        </p:blipFill>
        <p:spPr>
          <a:xfrm>
            <a:off x="1793240" y="618490"/>
            <a:ext cx="1621790" cy="11842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4"/>
          <a:srcRect l="54267" t="10701" r="27118" b="20143"/>
          <a:stretch>
            <a:fillRect/>
          </a:stretch>
        </p:blipFill>
        <p:spPr>
          <a:xfrm>
            <a:off x="3041015" y="963930"/>
            <a:ext cx="1621790" cy="122301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4"/>
          <a:srcRect l="80679" t="11027" r="771" b="20818"/>
          <a:stretch>
            <a:fillRect/>
          </a:stretch>
        </p:blipFill>
        <p:spPr>
          <a:xfrm>
            <a:off x="4158615" y="1320165"/>
            <a:ext cx="1621790" cy="1210310"/>
          </a:xfrm>
          <a:prstGeom prst="rect">
            <a:avLst/>
          </a:prstGeom>
        </p:spPr>
      </p:pic>
      <p:sp>
        <p:nvSpPr>
          <p:cNvPr id="12" name="圆角矩形 11"/>
          <p:cNvSpPr/>
          <p:nvPr>
            <p:custDataLst>
              <p:tags r:id="rId8"/>
            </p:custDataLst>
          </p:nvPr>
        </p:nvSpPr>
        <p:spPr>
          <a:xfrm>
            <a:off x="419735" y="70485"/>
            <a:ext cx="5733415" cy="3319145"/>
          </a:xfrm>
          <a:prstGeom prst="roundRect">
            <a:avLst/>
          </a:prstGeom>
          <a:noFill/>
          <a:ln w="28575" cmpd="sng">
            <a:solidFill>
              <a:srgbClr val="006A44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" name="直接箭头连接符 6"/>
          <p:cNvCxnSpPr/>
          <p:nvPr>
            <p:custDataLst>
              <p:tags r:id="rId9"/>
            </p:custDataLst>
          </p:nvPr>
        </p:nvCxnSpPr>
        <p:spPr>
          <a:xfrm>
            <a:off x="617855" y="1457325"/>
            <a:ext cx="4902835" cy="1520190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左大括号 7"/>
          <p:cNvSpPr/>
          <p:nvPr>
            <p:custDataLst>
              <p:tags r:id="rId10"/>
            </p:custDataLst>
          </p:nvPr>
        </p:nvSpPr>
        <p:spPr>
          <a:xfrm rot="16200000">
            <a:off x="2366010" y="1645285"/>
            <a:ext cx="116840" cy="1257300"/>
          </a:xfrm>
          <a:prstGeom prst="leftBrace">
            <a:avLst>
              <a:gd name="adj1" fmla="val 9261"/>
              <a:gd name="adj2" fmla="val 50793"/>
            </a:avLst>
          </a:prstGeom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左大括号 8"/>
          <p:cNvSpPr/>
          <p:nvPr>
            <p:custDataLst>
              <p:tags r:id="rId11"/>
            </p:custDataLst>
          </p:nvPr>
        </p:nvSpPr>
        <p:spPr>
          <a:xfrm rot="16200000">
            <a:off x="3541395" y="2121535"/>
            <a:ext cx="116840" cy="1116965"/>
          </a:xfrm>
          <a:prstGeom prst="leftBrace">
            <a:avLst>
              <a:gd name="adj1" fmla="val 9261"/>
              <a:gd name="adj2" fmla="val 50793"/>
            </a:avLst>
          </a:prstGeom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2259965" y="2529840"/>
            <a:ext cx="328930" cy="332740"/>
          </a:xfrm>
          <a:prstGeom prst="ellipse">
            <a:avLst/>
          </a:prstGeom>
          <a:solidFill>
            <a:srgbClr val="AECE9B"/>
          </a:solidFill>
          <a:ln>
            <a:solidFill>
              <a:schemeClr val="tx1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3435985" y="2936240"/>
            <a:ext cx="328930" cy="332740"/>
          </a:xfrm>
          <a:prstGeom prst="ellipse">
            <a:avLst/>
          </a:prstGeom>
          <a:solidFill>
            <a:srgbClr val="7FA2DB"/>
          </a:solidFill>
          <a:ln>
            <a:solidFill>
              <a:schemeClr val="tx1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W</a:t>
            </a:r>
            <a:endParaRPr lang="en-US" altLang="zh-CN">
              <a:solidFill>
                <a:schemeClr val="tx1"/>
              </a:solidFill>
            </a:endParaRPr>
          </a:p>
        </p:txBody>
      </p:sp>
      <p:pic>
        <p:nvPicPr>
          <p:cNvPr id="20" name="图片 19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4"/>
          <a:srcRect l="1896" t="10281" r="79757" b="22992"/>
          <a:stretch>
            <a:fillRect/>
          </a:stretch>
        </p:blipFill>
        <p:spPr>
          <a:xfrm>
            <a:off x="612775" y="3648075"/>
            <a:ext cx="1621790" cy="119824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4"/>
          <a:srcRect l="27960" t="10324" r="53334" b="22435"/>
          <a:stretch>
            <a:fillRect/>
          </a:stretch>
        </p:blipFill>
        <p:spPr>
          <a:xfrm>
            <a:off x="1793875" y="4014470"/>
            <a:ext cx="1621790" cy="118427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4"/>
          <a:srcRect l="54267" t="10701" r="27118" b="20143"/>
          <a:stretch>
            <a:fillRect/>
          </a:stretch>
        </p:blipFill>
        <p:spPr>
          <a:xfrm>
            <a:off x="3041650" y="4359910"/>
            <a:ext cx="1621790" cy="1223010"/>
          </a:xfrm>
          <a:prstGeom prst="rect">
            <a:avLst/>
          </a:prstGeom>
        </p:spPr>
      </p:pic>
      <p:sp>
        <p:nvSpPr>
          <p:cNvPr id="24" name="圆角矩形 23"/>
          <p:cNvSpPr/>
          <p:nvPr>
            <p:custDataLst>
              <p:tags r:id="rId15"/>
            </p:custDataLst>
          </p:nvPr>
        </p:nvSpPr>
        <p:spPr>
          <a:xfrm>
            <a:off x="420370" y="3466465"/>
            <a:ext cx="5733415" cy="3319145"/>
          </a:xfrm>
          <a:prstGeom prst="roundRect">
            <a:avLst/>
          </a:prstGeom>
          <a:noFill/>
          <a:ln w="28575" cmpd="sng">
            <a:solidFill>
              <a:srgbClr val="006A44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5" name="直接箭头连接符 24"/>
          <p:cNvCxnSpPr/>
          <p:nvPr>
            <p:custDataLst>
              <p:tags r:id="rId16"/>
            </p:custDataLst>
          </p:nvPr>
        </p:nvCxnSpPr>
        <p:spPr>
          <a:xfrm>
            <a:off x="618490" y="4853305"/>
            <a:ext cx="4104005" cy="1271905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" name="左大括号 25"/>
          <p:cNvSpPr/>
          <p:nvPr>
            <p:custDataLst>
              <p:tags r:id="rId17"/>
            </p:custDataLst>
          </p:nvPr>
        </p:nvSpPr>
        <p:spPr>
          <a:xfrm rot="16200000">
            <a:off x="2366645" y="5041900"/>
            <a:ext cx="116840" cy="1257300"/>
          </a:xfrm>
          <a:prstGeom prst="leftBrace">
            <a:avLst>
              <a:gd name="adj1" fmla="val 9261"/>
              <a:gd name="adj2" fmla="val 50793"/>
            </a:avLst>
          </a:prstGeom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左大括号 26"/>
          <p:cNvSpPr/>
          <p:nvPr>
            <p:custDataLst>
              <p:tags r:id="rId18"/>
            </p:custDataLst>
          </p:nvPr>
        </p:nvSpPr>
        <p:spPr>
          <a:xfrm rot="16200000">
            <a:off x="3752850" y="5412740"/>
            <a:ext cx="161290" cy="1582420"/>
          </a:xfrm>
          <a:prstGeom prst="leftBrace">
            <a:avLst>
              <a:gd name="adj1" fmla="val 9261"/>
              <a:gd name="adj2" fmla="val 50793"/>
            </a:avLst>
          </a:prstGeom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>
            <a:off x="2260600" y="5926455"/>
            <a:ext cx="328930" cy="332740"/>
          </a:xfrm>
          <a:prstGeom prst="ellipse">
            <a:avLst/>
          </a:prstGeom>
          <a:solidFill>
            <a:srgbClr val="AECE9B"/>
          </a:solidFill>
          <a:ln>
            <a:solidFill>
              <a:schemeClr val="tx1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3687445" y="6416040"/>
            <a:ext cx="328930" cy="332740"/>
          </a:xfrm>
          <a:prstGeom prst="ellipse">
            <a:avLst/>
          </a:prstGeom>
          <a:solidFill>
            <a:srgbClr val="7FA2DB"/>
          </a:solidFill>
          <a:ln>
            <a:solidFill>
              <a:schemeClr val="tx1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W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10222230" y="316230"/>
            <a:ext cx="355600" cy="355600"/>
          </a:xfrm>
          <a:prstGeom prst="ellipse">
            <a:avLst/>
          </a:prstGeom>
          <a:solidFill>
            <a:srgbClr val="FE9F5D"/>
          </a:solidFill>
          <a:ln>
            <a:solidFill>
              <a:schemeClr val="tx1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P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10222230" y="682625"/>
            <a:ext cx="355600" cy="355600"/>
          </a:xfrm>
          <a:prstGeom prst="ellipse">
            <a:avLst/>
          </a:prstGeom>
          <a:solidFill>
            <a:srgbClr val="AECE9B"/>
          </a:solidFill>
          <a:ln>
            <a:solidFill>
              <a:schemeClr val="tx1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10222230" y="1049020"/>
            <a:ext cx="355600" cy="355600"/>
          </a:xfrm>
          <a:prstGeom prst="ellipse">
            <a:avLst/>
          </a:prstGeom>
          <a:solidFill>
            <a:srgbClr val="7FA2DB"/>
          </a:solidFill>
          <a:ln>
            <a:solidFill>
              <a:schemeClr val="tx1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W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0" y="7281545"/>
            <a:ext cx="12192000" cy="155575"/>
          </a:xfrm>
          <a:prstGeom prst="rect">
            <a:avLst/>
          </a:prstGeom>
          <a:solidFill>
            <a:srgbClr val="006A4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9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19735" y="22860"/>
            <a:ext cx="10158095" cy="6714490"/>
            <a:chOff x="661" y="36"/>
            <a:chExt cx="15997" cy="10574"/>
          </a:xfrm>
        </p:grpSpPr>
        <p:sp>
          <p:nvSpPr>
            <p:cNvPr id="14" name="文本框 13"/>
            <p:cNvSpPr txBox="1"/>
            <p:nvPr/>
          </p:nvSpPr>
          <p:spPr>
            <a:xfrm>
              <a:off x="11949" y="322"/>
              <a:ext cx="4149" cy="189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2400"/>
                <a:t>练习次数（</a:t>
              </a:r>
              <a:r>
                <a:rPr lang="en-US" altLang="zh-CN" sz="2400"/>
                <a:t>P)</a:t>
              </a:r>
              <a:endParaRPr lang="en-US" altLang="zh-CN" sz="2400"/>
            </a:p>
            <a:p>
              <a:r>
                <a:rPr lang="zh-CN" altLang="en-US" sz="2400"/>
                <a:t>刺激呈现时间（</a:t>
              </a:r>
              <a:r>
                <a:rPr lang="en-US" altLang="zh-CN" sz="2400"/>
                <a:t>T)</a:t>
              </a:r>
              <a:endParaRPr lang="en-US" altLang="zh-CN" sz="2400"/>
            </a:p>
            <a:p>
              <a:r>
                <a:rPr lang="zh-CN" altLang="en-US" sz="2400"/>
                <a:t>反应窗口（</a:t>
              </a:r>
              <a:r>
                <a:rPr lang="en-US" altLang="zh-CN" sz="2400"/>
                <a:t>W</a:t>
              </a:r>
              <a:r>
                <a:rPr lang="zh-CN" altLang="en-US" sz="2400"/>
                <a:t>）</a:t>
              </a:r>
              <a:endParaRPr lang="zh-CN" altLang="en-US" sz="2400"/>
            </a:p>
          </p:txBody>
        </p:sp>
        <p:sp>
          <p:nvSpPr>
            <p:cNvPr id="16" name="圆角矩形 15"/>
            <p:cNvSpPr/>
            <p:nvPr>
              <p:custDataLst>
                <p:tags r:id="rId1"/>
              </p:custDataLst>
            </p:nvPr>
          </p:nvSpPr>
          <p:spPr>
            <a:xfrm>
              <a:off x="9997" y="5384"/>
              <a:ext cx="1388" cy="5227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eaVert" rtlCol="0" anchor="ctr"/>
            <a:p>
              <a:pPr algn="ctr"/>
              <a:r>
                <a:rPr lang="zh-CN" altLang="en-US" sz="3200"/>
                <a:t>正式试次</a:t>
              </a:r>
              <a:endParaRPr lang="zh-CN" altLang="en-US" sz="3200"/>
            </a:p>
          </p:txBody>
        </p:sp>
        <p:grpSp>
          <p:nvGrpSpPr>
            <p:cNvPr id="31" name="组合 30"/>
            <p:cNvGrpSpPr/>
            <p:nvPr/>
          </p:nvGrpSpPr>
          <p:grpSpPr>
            <a:xfrm>
              <a:off x="9997" y="111"/>
              <a:ext cx="1388" cy="5062"/>
              <a:chOff x="10971" y="111"/>
              <a:chExt cx="1388" cy="5062"/>
            </a:xfrm>
          </p:grpSpPr>
          <p:sp>
            <p:nvSpPr>
              <p:cNvPr id="15" name="圆角矩形 14"/>
              <p:cNvSpPr/>
              <p:nvPr>
                <p:custDataLst>
                  <p:tags r:id="rId2"/>
                </p:custDataLst>
              </p:nvPr>
            </p:nvSpPr>
            <p:spPr>
              <a:xfrm>
                <a:off x="10971" y="111"/>
                <a:ext cx="1388" cy="5062"/>
              </a:xfrm>
              <a:prstGeom prst="roundRect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="eaVert" rtlCol="0" anchor="ctr"/>
              <a:p>
                <a:pPr algn="ctr"/>
                <a:r>
                  <a:rPr lang="zh-CN" altLang="en-US" sz="3200"/>
                  <a:t>练习阶段</a:t>
                </a:r>
                <a:endParaRPr lang="zh-CN" altLang="en-US" sz="3200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11385" y="4248"/>
                <a:ext cx="560" cy="560"/>
              </a:xfrm>
              <a:prstGeom prst="ellipse">
                <a:avLst/>
              </a:prstGeom>
              <a:solidFill>
                <a:srgbClr val="FE9F5D"/>
              </a:solidFill>
              <a:ln>
                <a:solidFill>
                  <a:schemeClr val="tx1"/>
                </a:solidFill>
              </a:ln>
            </p:spPr>
            <p:style>
              <a:lnRef idx="0">
                <a:srgbClr val="FFFFFF"/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P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661" y="36"/>
              <a:ext cx="9029" cy="10574"/>
              <a:chOff x="74" y="37"/>
              <a:chExt cx="9757" cy="11291"/>
            </a:xfrm>
          </p:grpSpPr>
          <p:pic>
            <p:nvPicPr>
              <p:cNvPr id="3" name="图片 2"/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4"/>
              <a:srcRect l="1896" t="10281" r="79757" b="22992"/>
              <a:stretch>
                <a:fillRect/>
              </a:stretch>
            </p:blipFill>
            <p:spPr>
              <a:xfrm>
                <a:off x="402" y="342"/>
                <a:ext cx="2760" cy="2015"/>
              </a:xfrm>
              <a:prstGeom prst="rect">
                <a:avLst/>
              </a:prstGeom>
            </p:spPr>
          </p:pic>
          <p:pic>
            <p:nvPicPr>
              <p:cNvPr id="4" name="图片 3"/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4"/>
              <a:srcRect l="27960" t="10324" r="53334" b="22435"/>
              <a:stretch>
                <a:fillRect/>
              </a:stretch>
            </p:blipFill>
            <p:spPr>
              <a:xfrm>
                <a:off x="2411" y="958"/>
                <a:ext cx="2760" cy="1991"/>
              </a:xfrm>
              <a:prstGeom prst="rect">
                <a:avLst/>
              </a:prstGeom>
            </p:spPr>
          </p:pic>
          <p:pic>
            <p:nvPicPr>
              <p:cNvPr id="5" name="图片 4"/>
              <p:cNvPicPr>
                <a:picLocks noChangeAspect="1"/>
              </p:cNvPicPr>
              <p:nvPr>
                <p:custDataLst>
                  <p:tags r:id="rId6"/>
                </p:custDataLst>
              </p:nvPr>
            </p:nvPicPr>
            <p:blipFill>
              <a:blip r:embed="rId4"/>
              <a:srcRect l="54267" t="10701" r="27118" b="20143"/>
              <a:stretch>
                <a:fillRect/>
              </a:stretch>
            </p:blipFill>
            <p:spPr>
              <a:xfrm>
                <a:off x="4535" y="1539"/>
                <a:ext cx="2760" cy="2057"/>
              </a:xfrm>
              <a:prstGeom prst="rect">
                <a:avLst/>
              </a:prstGeom>
            </p:spPr>
          </p:pic>
          <p:pic>
            <p:nvPicPr>
              <p:cNvPr id="6" name="图片 5"/>
              <p:cNvPicPr>
                <a:picLocks noChangeAspect="1"/>
              </p:cNvPicPr>
              <p:nvPr>
                <p:custDataLst>
                  <p:tags r:id="rId7"/>
                </p:custDataLst>
              </p:nvPr>
            </p:nvPicPr>
            <p:blipFill>
              <a:blip r:embed="rId4"/>
              <a:srcRect l="80679" t="11027" r="771" b="20818"/>
              <a:stretch>
                <a:fillRect/>
              </a:stretch>
            </p:blipFill>
            <p:spPr>
              <a:xfrm>
                <a:off x="6437" y="2138"/>
                <a:ext cx="2760" cy="2035"/>
              </a:xfrm>
              <a:prstGeom prst="rect">
                <a:avLst/>
              </a:prstGeom>
            </p:spPr>
          </p:pic>
          <p:sp>
            <p:nvSpPr>
              <p:cNvPr id="12" name="圆角矩形 11"/>
              <p:cNvSpPr/>
              <p:nvPr>
                <p:custDataLst>
                  <p:tags r:id="rId8"/>
                </p:custDataLst>
              </p:nvPr>
            </p:nvSpPr>
            <p:spPr>
              <a:xfrm>
                <a:off x="74" y="37"/>
                <a:ext cx="9757" cy="5581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7" name="直接箭头连接符 6"/>
              <p:cNvCxnSpPr/>
              <p:nvPr>
                <p:custDataLst>
                  <p:tags r:id="rId9"/>
                </p:custDataLst>
              </p:nvPr>
            </p:nvCxnSpPr>
            <p:spPr>
              <a:xfrm>
                <a:off x="411" y="2369"/>
                <a:ext cx="8343" cy="2556"/>
              </a:xfrm>
              <a:prstGeom prst="straightConnector1">
                <a:avLst/>
              </a:prstGeom>
              <a:ln w="28575" cmpd="sng">
                <a:solidFill>
                  <a:schemeClr val="tx1"/>
                </a:solidFill>
                <a:prstDash val="solid"/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8" name="左大括号 7"/>
              <p:cNvSpPr/>
              <p:nvPr>
                <p:custDataLst>
                  <p:tags r:id="rId10"/>
                </p:custDataLst>
              </p:nvPr>
            </p:nvSpPr>
            <p:spPr>
              <a:xfrm rot="16200000">
                <a:off x="3387" y="2673"/>
                <a:ext cx="197" cy="2140"/>
              </a:xfrm>
              <a:prstGeom prst="leftBrace">
                <a:avLst>
                  <a:gd name="adj1" fmla="val 9261"/>
                  <a:gd name="adj2" fmla="val 50793"/>
                </a:avLst>
              </a:prstGeom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" name="左大括号 8"/>
              <p:cNvSpPr/>
              <p:nvPr>
                <p:custDataLst>
                  <p:tags r:id="rId11"/>
                </p:custDataLst>
              </p:nvPr>
            </p:nvSpPr>
            <p:spPr>
              <a:xfrm rot="16200000">
                <a:off x="5388" y="3475"/>
                <a:ext cx="197" cy="1901"/>
              </a:xfrm>
              <a:prstGeom prst="leftBrace">
                <a:avLst>
                  <a:gd name="adj1" fmla="val 9261"/>
                  <a:gd name="adj2" fmla="val 50793"/>
                </a:avLst>
              </a:prstGeom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8" name="椭圆 17"/>
              <p:cNvSpPr/>
              <p:nvPr/>
            </p:nvSpPr>
            <p:spPr>
              <a:xfrm>
                <a:off x="3206" y="4173"/>
                <a:ext cx="560" cy="560"/>
              </a:xfrm>
              <a:prstGeom prst="ellipse">
                <a:avLst/>
              </a:prstGeom>
              <a:solidFill>
                <a:srgbClr val="AECE9B"/>
              </a:solidFill>
              <a:ln>
                <a:solidFill>
                  <a:schemeClr val="tx1"/>
                </a:solidFill>
              </a:ln>
            </p:spPr>
            <p:style>
              <a:lnRef idx="0">
                <a:srgbClr val="FFFFFF"/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T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椭圆 18"/>
              <p:cNvSpPr/>
              <p:nvPr/>
            </p:nvSpPr>
            <p:spPr>
              <a:xfrm>
                <a:off x="5171" y="4856"/>
                <a:ext cx="560" cy="560"/>
              </a:xfrm>
              <a:prstGeom prst="ellipse">
                <a:avLst/>
              </a:prstGeom>
              <a:solidFill>
                <a:srgbClr val="7FA2DB"/>
              </a:solidFill>
              <a:ln>
                <a:solidFill>
                  <a:schemeClr val="tx1"/>
                </a:solidFill>
              </a:ln>
            </p:spPr>
            <p:style>
              <a:lnRef idx="0">
                <a:srgbClr val="FFFFFF"/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W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>
                <p:custDataLst>
                  <p:tags r:id="rId12"/>
                </p:custDataLst>
              </p:nvPr>
            </p:nvPicPr>
            <p:blipFill>
              <a:blip r:embed="rId4"/>
              <a:srcRect l="1896" t="10281" r="79757" b="22992"/>
              <a:stretch>
                <a:fillRect/>
              </a:stretch>
            </p:blipFill>
            <p:spPr>
              <a:xfrm>
                <a:off x="403" y="6053"/>
                <a:ext cx="2760" cy="2015"/>
              </a:xfrm>
              <a:prstGeom prst="rect">
                <a:avLst/>
              </a:prstGeom>
            </p:spPr>
          </p:pic>
          <p:pic>
            <p:nvPicPr>
              <p:cNvPr id="21" name="图片 20"/>
              <p:cNvPicPr>
                <a:picLocks noChangeAspect="1"/>
              </p:cNvPicPr>
              <p:nvPr>
                <p:custDataLst>
                  <p:tags r:id="rId13"/>
                </p:custDataLst>
              </p:nvPr>
            </p:nvPicPr>
            <p:blipFill>
              <a:blip r:embed="rId4"/>
              <a:srcRect l="27960" t="10324" r="53334" b="22435"/>
              <a:stretch>
                <a:fillRect/>
              </a:stretch>
            </p:blipFill>
            <p:spPr>
              <a:xfrm>
                <a:off x="2412" y="6669"/>
                <a:ext cx="2760" cy="1991"/>
              </a:xfrm>
              <a:prstGeom prst="rect">
                <a:avLst/>
              </a:prstGeom>
            </p:spPr>
          </p:pic>
          <p:pic>
            <p:nvPicPr>
              <p:cNvPr id="22" name="图片 21"/>
              <p:cNvPicPr>
                <a:picLocks noChangeAspect="1"/>
              </p:cNvPicPr>
              <p:nvPr>
                <p:custDataLst>
                  <p:tags r:id="rId14"/>
                </p:custDataLst>
              </p:nvPr>
            </p:nvPicPr>
            <p:blipFill>
              <a:blip r:embed="rId4"/>
              <a:srcRect l="54267" t="10701" r="27118" b="20143"/>
              <a:stretch>
                <a:fillRect/>
              </a:stretch>
            </p:blipFill>
            <p:spPr>
              <a:xfrm>
                <a:off x="4536" y="7250"/>
                <a:ext cx="2760" cy="2057"/>
              </a:xfrm>
              <a:prstGeom prst="rect">
                <a:avLst/>
              </a:prstGeom>
            </p:spPr>
          </p:pic>
          <p:sp>
            <p:nvSpPr>
              <p:cNvPr id="24" name="圆角矩形 23"/>
              <p:cNvSpPr/>
              <p:nvPr>
                <p:custDataLst>
                  <p:tags r:id="rId15"/>
                </p:custDataLst>
              </p:nvPr>
            </p:nvSpPr>
            <p:spPr>
              <a:xfrm>
                <a:off x="75" y="5748"/>
                <a:ext cx="9757" cy="5581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25" name="直接箭头连接符 24"/>
              <p:cNvCxnSpPr/>
              <p:nvPr>
                <p:custDataLst>
                  <p:tags r:id="rId16"/>
                </p:custDataLst>
              </p:nvPr>
            </p:nvCxnSpPr>
            <p:spPr>
              <a:xfrm>
                <a:off x="412" y="8080"/>
                <a:ext cx="6984" cy="2139"/>
              </a:xfrm>
              <a:prstGeom prst="straightConnector1">
                <a:avLst/>
              </a:prstGeom>
              <a:ln w="28575" cmpd="sng">
                <a:solidFill>
                  <a:schemeClr val="tx1"/>
                </a:solidFill>
                <a:prstDash val="solid"/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6" name="左大括号 25"/>
              <p:cNvSpPr/>
              <p:nvPr>
                <p:custDataLst>
                  <p:tags r:id="rId17"/>
                </p:custDataLst>
              </p:nvPr>
            </p:nvSpPr>
            <p:spPr>
              <a:xfrm rot="16200000">
                <a:off x="3388" y="8384"/>
                <a:ext cx="197" cy="2140"/>
              </a:xfrm>
              <a:prstGeom prst="leftBrace">
                <a:avLst>
                  <a:gd name="adj1" fmla="val 9261"/>
                  <a:gd name="adj2" fmla="val 50793"/>
                </a:avLst>
              </a:prstGeom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7" name="左大括号 26"/>
              <p:cNvSpPr/>
              <p:nvPr>
                <p:custDataLst>
                  <p:tags r:id="rId18"/>
                </p:custDataLst>
              </p:nvPr>
            </p:nvSpPr>
            <p:spPr>
              <a:xfrm rot="16200000">
                <a:off x="5389" y="9186"/>
                <a:ext cx="197" cy="1901"/>
              </a:xfrm>
              <a:prstGeom prst="leftBrace">
                <a:avLst>
                  <a:gd name="adj1" fmla="val 9261"/>
                  <a:gd name="adj2" fmla="val 50793"/>
                </a:avLst>
              </a:prstGeom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8" name="椭圆 27"/>
              <p:cNvSpPr/>
              <p:nvPr/>
            </p:nvSpPr>
            <p:spPr>
              <a:xfrm>
                <a:off x="3207" y="9884"/>
                <a:ext cx="560" cy="560"/>
              </a:xfrm>
              <a:prstGeom prst="ellipse">
                <a:avLst/>
              </a:prstGeom>
              <a:solidFill>
                <a:srgbClr val="AECE9B"/>
              </a:solidFill>
              <a:ln>
                <a:solidFill>
                  <a:schemeClr val="tx1"/>
                </a:solidFill>
              </a:ln>
            </p:spPr>
            <p:style>
              <a:lnRef idx="0">
                <a:srgbClr val="FFFFFF"/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T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椭圆 28"/>
              <p:cNvSpPr/>
              <p:nvPr/>
            </p:nvSpPr>
            <p:spPr>
              <a:xfrm>
                <a:off x="5172" y="10567"/>
                <a:ext cx="560" cy="560"/>
              </a:xfrm>
              <a:prstGeom prst="ellipse">
                <a:avLst/>
              </a:prstGeom>
              <a:solidFill>
                <a:srgbClr val="7FA2DB"/>
              </a:solidFill>
              <a:ln>
                <a:solidFill>
                  <a:schemeClr val="tx1"/>
                </a:solidFill>
              </a:ln>
            </p:spPr>
            <p:style>
              <a:lnRef idx="0">
                <a:srgbClr val="FFFFFF"/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W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2" name="椭圆 31"/>
            <p:cNvSpPr/>
            <p:nvPr/>
          </p:nvSpPr>
          <p:spPr>
            <a:xfrm>
              <a:off x="16098" y="423"/>
              <a:ext cx="560" cy="560"/>
            </a:xfrm>
            <a:prstGeom prst="ellipse">
              <a:avLst/>
            </a:prstGeom>
            <a:solidFill>
              <a:srgbClr val="FE9F5D"/>
            </a:solidFill>
            <a:ln>
              <a:solidFill>
                <a:schemeClr val="tx1"/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P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16098" y="1000"/>
              <a:ext cx="560" cy="560"/>
            </a:xfrm>
            <a:prstGeom prst="ellipse">
              <a:avLst/>
            </a:prstGeom>
            <a:solidFill>
              <a:srgbClr val="AECE9B"/>
            </a:solidFill>
            <a:ln>
              <a:solidFill>
                <a:schemeClr val="tx1"/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T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34" name="椭圆 33"/>
            <p:cNvSpPr/>
            <p:nvPr/>
          </p:nvSpPr>
          <p:spPr>
            <a:xfrm>
              <a:off x="16098" y="1577"/>
              <a:ext cx="560" cy="560"/>
            </a:xfrm>
            <a:prstGeom prst="ellipse">
              <a:avLst/>
            </a:prstGeom>
            <a:solidFill>
              <a:srgbClr val="7FA2DB"/>
            </a:solidFill>
            <a:ln>
              <a:solidFill>
                <a:schemeClr val="tx1"/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W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0" y="6702425"/>
            <a:ext cx="12192000" cy="155575"/>
          </a:xfrm>
          <a:prstGeom prst="rect">
            <a:avLst/>
          </a:prstGeom>
          <a:solidFill>
            <a:srgbClr val="006A4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9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等腰三角形 1"/>
          <p:cNvSpPr/>
          <p:nvPr/>
        </p:nvSpPr>
        <p:spPr>
          <a:xfrm>
            <a:off x="4602480" y="1935480"/>
            <a:ext cx="2987040" cy="2987040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椭圆 3"/>
          <p:cNvSpPr/>
          <p:nvPr/>
        </p:nvSpPr>
        <p:spPr>
          <a:xfrm>
            <a:off x="4551998" y="1884998"/>
            <a:ext cx="3088005" cy="308800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等腰三角形 5"/>
          <p:cNvSpPr/>
          <p:nvPr/>
        </p:nvSpPr>
        <p:spPr>
          <a:xfrm>
            <a:off x="511175" y="282575"/>
            <a:ext cx="2987040" cy="2987040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033260" y="1223010"/>
            <a:ext cx="226060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6600"/>
              <a:t>自我</a:t>
            </a:r>
            <a:endParaRPr lang="zh-CN" altLang="en-US" sz="6600"/>
          </a:p>
        </p:txBody>
      </p:sp>
      <p:sp>
        <p:nvSpPr>
          <p:cNvPr id="8" name="椭圆 7"/>
          <p:cNvSpPr/>
          <p:nvPr/>
        </p:nvSpPr>
        <p:spPr>
          <a:xfrm>
            <a:off x="352108" y="3696018"/>
            <a:ext cx="3088005" cy="308800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292975" y="4733290"/>
            <a:ext cx="200025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6000"/>
              <a:t>他人</a:t>
            </a:r>
            <a:endParaRPr lang="zh-CN" altLang="en-US" sz="600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DIAGRAM_VIRTUALLY_FRAME" val="{&quot;height&quot;:525.05,&quot;left&quot;:-0.05,&quot;top&quot;:5.55,&quot;width&quot;:618}"/>
</p:tagLst>
</file>

<file path=ppt/tags/tag69.xml><?xml version="1.0" encoding="utf-8"?>
<p:tagLst xmlns:p="http://schemas.openxmlformats.org/presentationml/2006/main">
  <p:tag name="KSO_WM_DIAGRAM_VIRTUALLY_FRAME" val="{&quot;height&quot;:525.05,&quot;left&quot;:-0.05,&quot;top&quot;:5.55,&quot;width&quot;:618}"/>
</p:tagLst>
</file>

<file path=ppt/tags/tag70.xml><?xml version="1.0" encoding="utf-8"?>
<p:tagLst xmlns:p="http://schemas.openxmlformats.org/presentationml/2006/main">
  <p:tag name="KSO_WM_DIAGRAM_VIRTUALLY_FRAME" val="{&quot;height&quot;:525.05,&quot;left&quot;:-0.05,&quot;top&quot;:5.55,&quot;width&quot;:618}"/>
</p:tagLst>
</file>

<file path=ppt/tags/tag71.xml><?xml version="1.0" encoding="utf-8"?>
<p:tagLst xmlns:p="http://schemas.openxmlformats.org/presentationml/2006/main">
  <p:tag name="KSO_WM_DIAGRAM_VIRTUALLY_FRAME" val="{&quot;height&quot;:525.05,&quot;left&quot;:-0.05,&quot;top&quot;:5.55,&quot;width&quot;:618}"/>
</p:tagLst>
</file>

<file path=ppt/tags/tag72.xml><?xml version="1.0" encoding="utf-8"?>
<p:tagLst xmlns:p="http://schemas.openxmlformats.org/presentationml/2006/main">
  <p:tag name="KSO_WM_DIAGRAM_VIRTUALLY_FRAME" val="{&quot;height&quot;:525.05,&quot;left&quot;:-0.05,&quot;top&quot;:5.55,&quot;width&quot;:618}"/>
</p:tagLst>
</file>

<file path=ppt/tags/tag73.xml><?xml version="1.0" encoding="utf-8"?>
<p:tagLst xmlns:p="http://schemas.openxmlformats.org/presentationml/2006/main">
  <p:tag name="KSO_WM_DIAGRAM_VIRTUALLY_FRAME" val="{&quot;height&quot;:525.05,&quot;left&quot;:-0.05,&quot;top&quot;:5.55,&quot;width&quot;:618}"/>
</p:tagLst>
</file>

<file path=ppt/tags/tag74.xml><?xml version="1.0" encoding="utf-8"?>
<p:tagLst xmlns:p="http://schemas.openxmlformats.org/presentationml/2006/main">
  <p:tag name="KSO_WM_DIAGRAM_VIRTUALLY_FRAME" val="{&quot;height&quot;:525.05,&quot;left&quot;:-0.05,&quot;top&quot;:5.55,&quot;width&quot;:618}"/>
</p:tagLst>
</file>

<file path=ppt/tags/tag75.xml><?xml version="1.0" encoding="utf-8"?>
<p:tagLst xmlns:p="http://schemas.openxmlformats.org/presentationml/2006/main">
  <p:tag name="KSO_WM_DIAGRAM_VIRTUALLY_FRAME" val="{&quot;height&quot;:525.05,&quot;left&quot;:-0.05,&quot;top&quot;:5.55,&quot;width&quot;:618}"/>
</p:tagLst>
</file>

<file path=ppt/tags/tag76.xml><?xml version="1.0" encoding="utf-8"?>
<p:tagLst xmlns:p="http://schemas.openxmlformats.org/presentationml/2006/main">
  <p:tag name="KSO_WM_DIAGRAM_VIRTUALLY_FRAME" val="{&quot;height&quot;:525.05,&quot;left&quot;:-0.05,&quot;top&quot;:5.55,&quot;width&quot;:618}"/>
</p:tagLst>
</file>

<file path=ppt/tags/tag77.xml><?xml version="1.0" encoding="utf-8"?>
<p:tagLst xmlns:p="http://schemas.openxmlformats.org/presentationml/2006/main">
  <p:tag name="KSO_WM_DIAGRAM_VIRTUALLY_FRAME" val="{&quot;height&quot;:525.05,&quot;left&quot;:-0.05,&quot;top&quot;:5.55,&quot;width&quot;:618}"/>
</p:tagLst>
</file>

<file path=ppt/tags/tag78.xml><?xml version="1.0" encoding="utf-8"?>
<p:tagLst xmlns:p="http://schemas.openxmlformats.org/presentationml/2006/main">
  <p:tag name="KSO_WM_DIAGRAM_VIRTUALLY_FRAME" val="{&quot;height&quot;:525.05,&quot;left&quot;:-0.05,&quot;top&quot;:5.55,&quot;width&quot;:618}"/>
</p:tagLst>
</file>

<file path=ppt/tags/tag79.xml><?xml version="1.0" encoding="utf-8"?>
<p:tagLst xmlns:p="http://schemas.openxmlformats.org/presentationml/2006/main">
  <p:tag name="KSO_WM_DIAGRAM_VIRTUALLY_FRAME" val="{&quot;height&quot;:525.05,&quot;left&quot;:-0.05,&quot;top&quot;:5.55,&quot;width&quot;:618}"/>
</p:tagLst>
</file>

<file path=ppt/tags/tag80.xml><?xml version="1.0" encoding="utf-8"?>
<p:tagLst xmlns:p="http://schemas.openxmlformats.org/presentationml/2006/main">
  <p:tag name="KSO_WM_DIAGRAM_VIRTUALLY_FRAME" val="{&quot;height&quot;:525.05,&quot;left&quot;:-0.05,&quot;top&quot;:5.55,&quot;width&quot;:618}"/>
</p:tagLst>
</file>

<file path=ppt/tags/tag81.xml><?xml version="1.0" encoding="utf-8"?>
<p:tagLst xmlns:p="http://schemas.openxmlformats.org/presentationml/2006/main">
  <p:tag name="KSO_WM_DIAGRAM_VIRTUALLY_FRAME" val="{&quot;height&quot;:525.05,&quot;left&quot;:-0.05,&quot;top&quot;:5.55,&quot;width&quot;:618}"/>
</p:tagLst>
</file>

<file path=ppt/tags/tag8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3.xml><?xml version="1.0" encoding="utf-8"?>
<p:tagLst xmlns:p="http://schemas.openxmlformats.org/presentationml/2006/main">
  <p:tag name="KSO_WM_DIAGRAM_VIRTUALLY_FRAME" val="{&quot;height&quot;:525.05,&quot;left&quot;:-0.05,&quot;top&quot;:5.55,&quot;width&quot;:618}"/>
</p:tagLst>
</file>

<file path=ppt/tags/tag84.xml><?xml version="1.0" encoding="utf-8"?>
<p:tagLst xmlns:p="http://schemas.openxmlformats.org/presentationml/2006/main">
  <p:tag name="KSO_WM_DIAGRAM_VIRTUALLY_FRAME" val="{&quot;height&quot;:525.05,&quot;left&quot;:-0.05,&quot;top&quot;:5.55,&quot;width&quot;:618}"/>
</p:tagLst>
</file>

<file path=ppt/tags/tag85.xml><?xml version="1.0" encoding="utf-8"?>
<p:tagLst xmlns:p="http://schemas.openxmlformats.org/presentationml/2006/main">
  <p:tag name="KSO_WM_DIAGRAM_VIRTUALLY_FRAME" val="{&quot;height&quot;:525.05,&quot;left&quot;:-0.05,&quot;top&quot;:5.55,&quot;width&quot;:618}"/>
</p:tagLst>
</file>

<file path=ppt/tags/tag86.xml><?xml version="1.0" encoding="utf-8"?>
<p:tagLst xmlns:p="http://schemas.openxmlformats.org/presentationml/2006/main">
  <p:tag name="KSO_WM_DIAGRAM_VIRTUALLY_FRAME" val="{&quot;height&quot;:525.05,&quot;left&quot;:-0.05,&quot;top&quot;:5.55,&quot;width&quot;:618}"/>
</p:tagLst>
</file>

<file path=ppt/tags/tag87.xml><?xml version="1.0" encoding="utf-8"?>
<p:tagLst xmlns:p="http://schemas.openxmlformats.org/presentationml/2006/main">
  <p:tag name="KSO_WM_DIAGRAM_VIRTUALLY_FRAME" val="{&quot;height&quot;:525.05,&quot;left&quot;:-0.05,&quot;top&quot;:5.55,&quot;width&quot;:618}"/>
</p:tagLst>
</file>

<file path=ppt/tags/tag88.xml><?xml version="1.0" encoding="utf-8"?>
<p:tagLst xmlns:p="http://schemas.openxmlformats.org/presentationml/2006/main">
  <p:tag name="KSO_WM_DIAGRAM_VIRTUALLY_FRAME" val="{&quot;height&quot;:525.05,&quot;left&quot;:-0.05,&quot;top&quot;:5.55,&quot;width&quot;:618}"/>
</p:tagLst>
</file>

<file path=ppt/tags/tag89.xml><?xml version="1.0" encoding="utf-8"?>
<p:tagLst xmlns:p="http://schemas.openxmlformats.org/presentationml/2006/main">
  <p:tag name="KSO_WM_DIAGRAM_VIRTUALLY_FRAME" val="{&quot;height&quot;:525.05,&quot;left&quot;:-0.05,&quot;top&quot;:5.55,&quot;width&quot;:618}"/>
</p:tagLst>
</file>

<file path=ppt/tags/tag90.xml><?xml version="1.0" encoding="utf-8"?>
<p:tagLst xmlns:p="http://schemas.openxmlformats.org/presentationml/2006/main">
  <p:tag name="KSO_WM_DIAGRAM_VIRTUALLY_FRAME" val="{&quot;height&quot;:525.05,&quot;left&quot;:-0.05,&quot;top&quot;:5.55,&quot;width&quot;:618}"/>
</p:tagLst>
</file>

<file path=ppt/tags/tag91.xml><?xml version="1.0" encoding="utf-8"?>
<p:tagLst xmlns:p="http://schemas.openxmlformats.org/presentationml/2006/main">
  <p:tag name="KSO_WM_DIAGRAM_VIRTUALLY_FRAME" val="{&quot;height&quot;:525.05,&quot;left&quot;:-0.05,&quot;top&quot;:5.55,&quot;width&quot;:618}"/>
</p:tagLst>
</file>

<file path=ppt/tags/tag92.xml><?xml version="1.0" encoding="utf-8"?>
<p:tagLst xmlns:p="http://schemas.openxmlformats.org/presentationml/2006/main">
  <p:tag name="KSO_WM_DIAGRAM_VIRTUALLY_FRAME" val="{&quot;height&quot;:525.05,&quot;left&quot;:-0.05,&quot;top&quot;:5.55,&quot;width&quot;:618}"/>
</p:tagLst>
</file>

<file path=ppt/tags/tag93.xml><?xml version="1.0" encoding="utf-8"?>
<p:tagLst xmlns:p="http://schemas.openxmlformats.org/presentationml/2006/main">
  <p:tag name="KSO_WM_DIAGRAM_VIRTUALLY_FRAME" val="{&quot;height&quot;:525.05,&quot;left&quot;:-0.05,&quot;top&quot;:5.55,&quot;width&quot;:618}"/>
</p:tagLst>
</file>

<file path=ppt/tags/tag94.xml><?xml version="1.0" encoding="utf-8"?>
<p:tagLst xmlns:p="http://schemas.openxmlformats.org/presentationml/2006/main">
  <p:tag name="KSO_WM_DIAGRAM_VIRTUALLY_FRAME" val="{&quot;height&quot;:525.05,&quot;left&quot;:-0.05,&quot;top&quot;:5.55,&quot;width&quot;:618}"/>
</p:tagLst>
</file>

<file path=ppt/tags/tag95.xml><?xml version="1.0" encoding="utf-8"?>
<p:tagLst xmlns:p="http://schemas.openxmlformats.org/presentationml/2006/main">
  <p:tag name="KSO_WM_DIAGRAM_VIRTUALLY_FRAME" val="{&quot;height&quot;:525.05,&quot;left&quot;:-0.05,&quot;top&quot;:5.55,&quot;width&quot;:618}"/>
</p:tagLst>
</file>

<file path=ppt/tags/tag96.xml><?xml version="1.0" encoding="utf-8"?>
<p:tagLst xmlns:p="http://schemas.openxmlformats.org/presentationml/2006/main">
  <p:tag name="KSO_WM_DIAGRAM_VIRTUALLY_FRAME" val="{&quot;height&quot;:525.05,&quot;left&quot;:-0.05,&quot;top&quot;:5.55,&quot;width&quot;:618}"/>
</p:tagLst>
</file>

<file path=ppt/tags/tag97.xml><?xml version="1.0" encoding="utf-8"?>
<p:tagLst xmlns:p="http://schemas.openxmlformats.org/presentationml/2006/main">
  <p:tag name="KSO_WM_DIAGRAM_VIRTUALLY_FRAME" val="{&quot;height&quot;:525.05,&quot;left&quot;:-0.05,&quot;top&quot;:5.55,&quot;width&quot;:618}"/>
</p:tagLst>
</file>

<file path=ppt/tags/tag98.xml><?xml version="1.0" encoding="utf-8"?>
<p:tagLst xmlns:p="http://schemas.openxmlformats.org/presentationml/2006/main">
  <p:tag name="KSO_WM_DIAGRAM_VIRTUALLY_FRAME" val="{&quot;height&quot;:525.05,&quot;left&quot;:-0.05,&quot;top&quot;:5.55,&quot;width&quot;:618}"/>
</p:tagLst>
</file>

<file path=ppt/tags/tag99.xml><?xml version="1.0" encoding="utf-8"?>
<p:tagLst xmlns:p="http://schemas.openxmlformats.org/presentationml/2006/main">
  <p:tag name="KSO_WM_DIAGRAM_VIRTUALLY_FRAME" val="{&quot;height&quot;:525.05,&quot;left&quot;:-0.05,&quot;top&quot;:5.55,&quot;width&quot;:618}"/>
</p:tagLst>
</file>

<file path=ppt/tags/tag10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1.xml><?xml version="1.0" encoding="utf-8"?>
<p:tagLst xmlns:p="http://schemas.openxmlformats.org/presentationml/2006/main">
  <p:tag name="KSO_WM_DIAGRAM_VIRTUALLY_FRAME" val="{&quot;height&quot;:525.05,&quot;left&quot;:-0.05,&quot;top&quot;:5.55,&quot;width&quot;:618}"/>
</p:tagLst>
</file>

<file path=ppt/tags/tag102.xml><?xml version="1.0" encoding="utf-8"?>
<p:tagLst xmlns:p="http://schemas.openxmlformats.org/presentationml/2006/main">
  <p:tag name="KSO_WM_DIAGRAM_VIRTUALLY_FRAME" val="{&quot;height&quot;:525.05,&quot;left&quot;:-0.05,&quot;top&quot;:5.55,&quot;width&quot;:618}"/>
</p:tagLst>
</file>

<file path=ppt/tags/tag103.xml><?xml version="1.0" encoding="utf-8"?>
<p:tagLst xmlns:p="http://schemas.openxmlformats.org/presentationml/2006/main">
  <p:tag name="KSO_WM_DIAGRAM_VIRTUALLY_FRAME" val="{&quot;height&quot;:525.05,&quot;left&quot;:-0.05,&quot;top&quot;:5.55,&quot;width&quot;:618}"/>
</p:tagLst>
</file>

<file path=ppt/tags/tag104.xml><?xml version="1.0" encoding="utf-8"?>
<p:tagLst xmlns:p="http://schemas.openxmlformats.org/presentationml/2006/main">
  <p:tag name="KSO_WM_DIAGRAM_VIRTUALLY_FRAME" val="{&quot;height&quot;:525.05,&quot;left&quot;:-0.05,&quot;top&quot;:5.55,&quot;width&quot;:618}"/>
</p:tagLst>
</file>

<file path=ppt/tags/tag105.xml><?xml version="1.0" encoding="utf-8"?>
<p:tagLst xmlns:p="http://schemas.openxmlformats.org/presentationml/2006/main">
  <p:tag name="KSO_WM_DIAGRAM_VIRTUALLY_FRAME" val="{&quot;height&quot;:525.05,&quot;left&quot;:-0.05,&quot;top&quot;:5.55,&quot;width&quot;:618}"/>
</p:tagLst>
</file>

<file path=ppt/tags/tag106.xml><?xml version="1.0" encoding="utf-8"?>
<p:tagLst xmlns:p="http://schemas.openxmlformats.org/presentationml/2006/main">
  <p:tag name="KSO_WM_DIAGRAM_VIRTUALLY_FRAME" val="{&quot;height&quot;:525.05,&quot;left&quot;:-0.05,&quot;top&quot;:5.55,&quot;width&quot;:618}"/>
</p:tagLst>
</file>

<file path=ppt/tags/tag107.xml><?xml version="1.0" encoding="utf-8"?>
<p:tagLst xmlns:p="http://schemas.openxmlformats.org/presentationml/2006/main">
  <p:tag name="KSO_WM_DIAGRAM_VIRTUALLY_FRAME" val="{&quot;height&quot;:525.05,&quot;left&quot;:-0.05,&quot;top&quot;:5.55,&quot;width&quot;:618}"/>
</p:tagLst>
</file>

<file path=ppt/tags/tag108.xml><?xml version="1.0" encoding="utf-8"?>
<p:tagLst xmlns:p="http://schemas.openxmlformats.org/presentationml/2006/main">
  <p:tag name="KSO_WM_DIAGRAM_VIRTUALLY_FRAME" val="{&quot;height&quot;:525.05,&quot;left&quot;:-0.05,&quot;top&quot;:5.55,&quot;width&quot;:618}"/>
</p:tagLst>
</file>

<file path=ppt/tags/tag109.xml><?xml version="1.0" encoding="utf-8"?>
<p:tagLst xmlns:p="http://schemas.openxmlformats.org/presentationml/2006/main">
  <p:tag name="KSO_WM_DIAGRAM_VIRTUALLY_FRAME" val="{&quot;height&quot;:525.05,&quot;left&quot;:-0.05,&quot;top&quot;:5.55,&quot;width&quot;:618}"/>
</p:tagLst>
</file>

<file path=ppt/tags/tag110.xml><?xml version="1.0" encoding="utf-8"?>
<p:tagLst xmlns:p="http://schemas.openxmlformats.org/presentationml/2006/main">
  <p:tag name="KSO_WM_DIAGRAM_VIRTUALLY_FRAME" val="{&quot;height&quot;:525.05,&quot;left&quot;:-0.05,&quot;top&quot;:5.55,&quot;width&quot;:618}"/>
</p:tagLst>
</file>

<file path=ppt/tags/tag111.xml><?xml version="1.0" encoding="utf-8"?>
<p:tagLst xmlns:p="http://schemas.openxmlformats.org/presentationml/2006/main">
  <p:tag name="KSO_WM_DIAGRAM_VIRTUALLY_FRAME" val="{&quot;height&quot;:525.05,&quot;left&quot;:-0.05,&quot;top&quot;:5.55,&quot;width&quot;:618}"/>
</p:tagLst>
</file>

<file path=ppt/tags/tag112.xml><?xml version="1.0" encoding="utf-8"?>
<p:tagLst xmlns:p="http://schemas.openxmlformats.org/presentationml/2006/main">
  <p:tag name="KSO_WM_DIAGRAM_VIRTUALLY_FRAME" val="{&quot;height&quot;:525.05,&quot;left&quot;:-0.05,&quot;top&quot;:5.55,&quot;width&quot;:618}"/>
</p:tagLst>
</file>

<file path=ppt/tags/tag113.xml><?xml version="1.0" encoding="utf-8"?>
<p:tagLst xmlns:p="http://schemas.openxmlformats.org/presentationml/2006/main">
  <p:tag name="KSO_WM_DIAGRAM_VIRTUALLY_FRAME" val="{&quot;height&quot;:525.05,&quot;left&quot;:-0.05,&quot;top&quot;:5.55,&quot;width&quot;:618}"/>
</p:tagLst>
</file>

<file path=ppt/tags/tag114.xml><?xml version="1.0" encoding="utf-8"?>
<p:tagLst xmlns:p="http://schemas.openxmlformats.org/presentationml/2006/main">
  <p:tag name="KSO_WM_DIAGRAM_VIRTUALLY_FRAME" val="{&quot;height&quot;:525.05,&quot;left&quot;:-0.05,&quot;top&quot;:5.55,&quot;width&quot;:618}"/>
</p:tagLst>
</file>

<file path=ppt/tags/tag115.xml><?xml version="1.0" encoding="utf-8"?>
<p:tagLst xmlns:p="http://schemas.openxmlformats.org/presentationml/2006/main">
  <p:tag name="KSO_WM_DIAGRAM_VIRTUALLY_FRAME" val="{&quot;height&quot;:525.05,&quot;left&quot;:-0.05,&quot;top&quot;:5.55,&quot;width&quot;:618}"/>
</p:tagLst>
</file>

<file path=ppt/tags/tag116.xml><?xml version="1.0" encoding="utf-8"?>
<p:tagLst xmlns:p="http://schemas.openxmlformats.org/presentationml/2006/main">
  <p:tag name="KSO_WM_DIAGRAM_VIRTUALLY_FRAME" val="{&quot;height&quot;:525.05,&quot;left&quot;:-0.05,&quot;top&quot;:5.55,&quot;width&quot;:618}"/>
</p:tagLst>
</file>

<file path=ppt/tags/tag117.xml><?xml version="1.0" encoding="utf-8"?>
<p:tagLst xmlns:p="http://schemas.openxmlformats.org/presentationml/2006/main">
  <p:tag name="KSO_WM_DIAGRAM_VIRTUALLY_FRAME" val="{&quot;height&quot;:525.05,&quot;left&quot;:-0.05,&quot;top&quot;:5.55,&quot;width&quot;:618}"/>
</p:tagLst>
</file>

<file path=ppt/tags/tag11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9.xml><?xml version="1.0" encoding="utf-8"?>
<p:tagLst xmlns:p="http://schemas.openxmlformats.org/presentationml/2006/main">
  <p:tag name="KSO_WM_DIAGRAM_VIRTUALLY_FRAME" val="{&quot;height&quot;:525.05,&quot;left&quot;:-0.05,&quot;top&quot;:5.55,&quot;width&quot;:618}"/>
</p:tagLst>
</file>

<file path=ppt/tags/tag120.xml><?xml version="1.0" encoding="utf-8"?>
<p:tagLst xmlns:p="http://schemas.openxmlformats.org/presentationml/2006/main">
  <p:tag name="KSO_WM_DIAGRAM_VIRTUALLY_FRAME" val="{&quot;height&quot;:525.05,&quot;left&quot;:-0.05,&quot;top&quot;:5.55,&quot;width&quot;:618}"/>
</p:tagLst>
</file>

<file path=ppt/tags/tag121.xml><?xml version="1.0" encoding="utf-8"?>
<p:tagLst xmlns:p="http://schemas.openxmlformats.org/presentationml/2006/main">
  <p:tag name="KSO_WM_DIAGRAM_VIRTUALLY_FRAME" val="{&quot;height&quot;:525.05,&quot;left&quot;:-0.05,&quot;top&quot;:5.55,&quot;width&quot;:618}"/>
</p:tagLst>
</file>

<file path=ppt/tags/tag122.xml><?xml version="1.0" encoding="utf-8"?>
<p:tagLst xmlns:p="http://schemas.openxmlformats.org/presentationml/2006/main">
  <p:tag name="KSO_WM_DIAGRAM_VIRTUALLY_FRAME" val="{&quot;height&quot;:525.05,&quot;left&quot;:-0.05,&quot;top&quot;:5.55,&quot;width&quot;:618}"/>
</p:tagLst>
</file>

<file path=ppt/tags/tag123.xml><?xml version="1.0" encoding="utf-8"?>
<p:tagLst xmlns:p="http://schemas.openxmlformats.org/presentationml/2006/main">
  <p:tag name="KSO_WM_DIAGRAM_VIRTUALLY_FRAME" val="{&quot;height&quot;:525.05,&quot;left&quot;:-0.05,&quot;top&quot;:5.55,&quot;width&quot;:618}"/>
</p:tagLst>
</file>

<file path=ppt/tags/tag124.xml><?xml version="1.0" encoding="utf-8"?>
<p:tagLst xmlns:p="http://schemas.openxmlformats.org/presentationml/2006/main">
  <p:tag name="KSO_WM_DIAGRAM_VIRTUALLY_FRAME" val="{&quot;height&quot;:525.05,&quot;left&quot;:-0.05,&quot;top&quot;:5.55,&quot;width&quot;:618}"/>
</p:tagLst>
</file>

<file path=ppt/tags/tag125.xml><?xml version="1.0" encoding="utf-8"?>
<p:tagLst xmlns:p="http://schemas.openxmlformats.org/presentationml/2006/main">
  <p:tag name="KSO_WM_DIAGRAM_VIRTUALLY_FRAME" val="{&quot;height&quot;:525.05,&quot;left&quot;:-0.05,&quot;top&quot;:5.55,&quot;width&quot;:618}"/>
</p:tagLst>
</file>

<file path=ppt/tags/tag126.xml><?xml version="1.0" encoding="utf-8"?>
<p:tagLst xmlns:p="http://schemas.openxmlformats.org/presentationml/2006/main">
  <p:tag name="KSO_WM_DIAGRAM_VIRTUALLY_FRAME" val="{&quot;height&quot;:525.05,&quot;left&quot;:-0.05,&quot;top&quot;:5.55,&quot;width&quot;:618}"/>
</p:tagLst>
</file>

<file path=ppt/tags/tag127.xml><?xml version="1.0" encoding="utf-8"?>
<p:tagLst xmlns:p="http://schemas.openxmlformats.org/presentationml/2006/main">
  <p:tag name="KSO_WM_DIAGRAM_VIRTUALLY_FRAME" val="{&quot;height&quot;:525.05,&quot;left&quot;:-0.05,&quot;top&quot;:5.55,&quot;width&quot;:618}"/>
</p:tagLst>
</file>

<file path=ppt/tags/tag128.xml><?xml version="1.0" encoding="utf-8"?>
<p:tagLst xmlns:p="http://schemas.openxmlformats.org/presentationml/2006/main">
  <p:tag name="KSO_WM_DIAGRAM_VIRTUALLY_FRAME" val="{&quot;height&quot;:525.05,&quot;left&quot;:-0.05,&quot;top&quot;:5.55,&quot;width&quot;:618}"/>
</p:tagLst>
</file>

<file path=ppt/tags/tag129.xml><?xml version="1.0" encoding="utf-8"?>
<p:tagLst xmlns:p="http://schemas.openxmlformats.org/presentationml/2006/main">
  <p:tag name="KSO_WM_DIAGRAM_VIRTUALLY_FRAME" val="{&quot;height&quot;:525.05,&quot;left&quot;:-0.05,&quot;top&quot;:5.55,&quot;width&quot;:618}"/>
</p:tagLst>
</file>

<file path=ppt/tags/tag130.xml><?xml version="1.0" encoding="utf-8"?>
<p:tagLst xmlns:p="http://schemas.openxmlformats.org/presentationml/2006/main">
  <p:tag name="KSO_WM_DIAGRAM_VIRTUALLY_FRAME" val="{&quot;height&quot;:525.05,&quot;left&quot;:-0.05,&quot;top&quot;:5.55,&quot;width&quot;:618}"/>
</p:tagLst>
</file>

<file path=ppt/tags/tag131.xml><?xml version="1.0" encoding="utf-8"?>
<p:tagLst xmlns:p="http://schemas.openxmlformats.org/presentationml/2006/main">
  <p:tag name="KSO_WM_DIAGRAM_VIRTUALLY_FRAME" val="{&quot;height&quot;:525.05,&quot;left&quot;:-0.05,&quot;top&quot;:5.55,&quot;width&quot;:618}"/>
</p:tagLst>
</file>

<file path=ppt/tags/tag132.xml><?xml version="1.0" encoding="utf-8"?>
<p:tagLst xmlns:p="http://schemas.openxmlformats.org/presentationml/2006/main">
  <p:tag name="KSO_WM_DIAGRAM_VIRTUALLY_FRAME" val="{&quot;height&quot;:525.05,&quot;left&quot;:-0.05,&quot;top&quot;:5.55,&quot;width&quot;:618}"/>
</p:tagLst>
</file>

<file path=ppt/tags/tag133.xml><?xml version="1.0" encoding="utf-8"?>
<p:tagLst xmlns:p="http://schemas.openxmlformats.org/presentationml/2006/main">
  <p:tag name="KSO_WM_DIAGRAM_VIRTUALLY_FRAME" val="{&quot;height&quot;:525.05,&quot;left&quot;:-0.05,&quot;top&quot;:5.55,&quot;width&quot;:618}"/>
</p:tagLst>
</file>

<file path=ppt/tags/tag134.xml><?xml version="1.0" encoding="utf-8"?>
<p:tagLst xmlns:p="http://schemas.openxmlformats.org/presentationml/2006/main">
  <p:tag name="KSO_WM_DIAGRAM_VIRTUALLY_FRAME" val="{&quot;height&quot;:525.05,&quot;left&quot;:-0.05,&quot;top&quot;:5.55,&quot;width&quot;:618}"/>
</p:tagLst>
</file>

<file path=ppt/tags/tag135.xml><?xml version="1.0" encoding="utf-8"?>
<p:tagLst xmlns:p="http://schemas.openxmlformats.org/presentationml/2006/main">
  <p:tag name="KSO_WM_DIAGRAM_VIRTUALLY_FRAME" val="{&quot;height&quot;:525.05,&quot;left&quot;:-0.05,&quot;top&quot;:5.55,&quot;width&quot;:618}"/>
</p:tagLst>
</file>

<file path=ppt/tags/tag13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F360BE8B-6686-4F3D-AEAF-501FE73E4058-1">
      <extobjdata type="F360BE8B-6686-4F3D-AEAF-501FE73E4058" data="ewoJIkZpbGVDb250ZW50IiA6ICJVRXNEQkJRQUFBQUlBTkpRMTFvckVvTk13QUVBQVBJREFBQU1BQUFBWkc5amRXMWxiblF1ZUcxc2haUE5UdHd3RklYM2xmb09rZmNaUFBrWndTZ0JUVE5Ba1lZZmtRSnJZMTluckVsczVEZ1VWUFVOV0hiWFZaK2diOURIcVhpTTJnRk5tSkJSczRpVTg1MGMyL2RlSndjUFZlbmRnNjZGa2lrYWp6RHlRRkxGaEN4UzFCanU3NktEL1k4ZmtybWlUUVhTZU9kNWltNkVSSjVWamh2QlV2U04zQkpPTVEzOTJ3akhmc1JaNE8vaUtQUWpDZ1FZNDV5eThEdnlydGVyQkNNODJrTTIxck9QaTg2VTVLSjRGVm94VjJWanJOdTdUbEdNeDJpbkIwOUp2WElNYjVLck8wWU1YSkFDemtnRnpuQTBXK1NIdmQrWDZ1dXhGc3poTDVkWEEvU3lLVUZ2eCs3Y1VBb0oyeTF1QzU4MGtOV3c1VndYczhhb0JYbFVqUm0yVk5YL0hRdEZWOWxMa2Q3amswSXFEWFBnbVRTNWVTeTNsV1B0TzFMU2JQRWNsa0NORnBTVW1WWjF2WTdyeXAvczlQdVk1TWFPa2lqcmpkcThhTjRGTVVzN0NWR3ZjaHMwZWhQZXkwcG0xSWo3dHRFbmtzRkRieTlPcjUzV0RVNHl2eE90TW9vN0xhY2FRTjRJWnBhT0JmRUU5K0ZuRU1XeUxjczRpdDR1VVJMRGxhNGNZVkN2T3BMWnRodGdjL3RxUTNFUSszamlCNkdIOTZaaFBNVzQ1MVh0cUQzLytQWDM2ZmZ6bjU4ZFBiWDNrSXZCcURHZTRzazBuTHd6RDJTMXJXbHZyLzM0QjFCTEF3UVVBQUFBQ0FEU1VOZGFGV3JXc25KQUFBQzlTZ0FBRUFBQUFHMWxaR2xoTDJsdFlXZGxNUzV3Ym1mdHV3azRsZTNiTjdvSWlReWxKTE1HRlNwREtCa3FvanlHelBPWXpGT1paNUdrSHFra1UzZ2tzOFhTc3N6VElua2tKTU15c3hKaVdSYVpMY04zM2ozLy9lNTNmL3Y5dnYzdVkrOTlITy9leCs2NDAycTVoK3M2aDkvNSs1M1hkY2ZjMFZKalllSm1RcUZRTExkdnFlaWlVTFRzOEhjL0l3TjgwOWx6cndEK09lQjV5OFFMaGVJOGpmeWx1YTE3YWhHRkVrVGRWcm11Ny8rV1BPcmd4V09Ta2tQY1AzYjRNZDNQbTdjTnNndWVqNDBPS0YxcGNMZFhjcHYvdEthQmsxZTR2di93R0RuNjZicTNaQUxxdnVPcDhPb1NSdFVFbGZmS055NXI4L05RSzhLb0ZUSHdIUHNrRGVFVURlR25yWlBxMmJycXU5U0dQV3FjNGhrVUNqUHhhYkpVT0Q3bWNNeWpENE5GcnlqakRYdmRNM1F3bUJGLytYNS9lVVBKWkgzRkRDTlhINThFNFlNb2xMaWUrTFVqVFBRdHRxVmNOTFFvMUpkTHlkdEhqOW1XSmoxdGVXZjdpaEVtWisyZXJLRzZKQkJ5R0Q1V25UcDhnQlp1dGFnY0RnTmd1NEg4SEVOT2F1UkJMdlkvZVEyKzhLQmpSS0VtWWxFMEtGVHRJVUVVS2x6Mjl5V3EvLy9KLzVkT3RoU09QNENjdWZHL08vT2pyY1R2MDlUK3Z6amFZLzFOLzJHbzJaeUg0RjBVL0svbk53MWhqdjk0ZmpFdHRyOVBpL3ZQM2ZOaVVSU2N4Ly9vdnorN3laUUxibkw5UHpuZU45dmRaMUFUVS9Ec2hiMHo4VzFzOGh5b3JpZ1V6UVFQSGlWNGlCWVYvQXo1SE1keWtJNTFZZ3J1YzFHL2t2TjZ0Um1tMVZhaVpmTCtlbldiM2E4T1N2UHdZNnQ5RXpNM3cxR2hKNWI4emVHSVVibVJyNjgrNkdvNDYyMGFvL0pkNi9LVEZ0dW5MYmFBUnR5eHF0eXMwZHdIR2VaV0ErZldxZkJmcFExMTFMWWpIZU5FRkJQaENEai9kUHp0ZTVMSHA1WURFdHJ2b2RIb2ZGTzBTR3FIQ0grY2kyUnlaY3FCMjhpbHZqWFZkWFVHMk1IZXpjMnFDeGN1OUxwWE9QQ25hcjF1YkZkRGh0Qm1weHQxNDNwaFllSFEwTkMzVkZtUHNvcUszQWRWUlNvbmhHYXRjRWRlOWM1NmU0ZUVvRld6TXJPeVRzSWtjTU51UG5KcCtmakdwc2crYTVSL01pTjdvN2F0WlBKWi9qalIrRGJIZS9kdXJnWmFlSXpWZGxNYTlvcE4wVG42SXRsdGR1OVVUaEJUTHBtaTMzREhQbVpsWlQzeXJNVTdJQ0EvS3lzcktPNW8zeDV0WXp1RW95VW16elJjNVVTbXEweGhRc0pSbUlsVFVKQVppVVJTeiszaGptdFZQM1ZZWFRnZURGSmRWYVVEaU5zd1R1anJTM2hROWRabExpa3FaZisvakkwNWFYZEhudDlJTXRsYjZKMHB1c0N3OEZ5eWhyTTh2eWlNTFUwTERISTJRVDEvbkVMNjlVdDNNOWd5WDM4dWRTaHFVWUtScmJIcklZcG0yODYyZENCTmh3dHMwV0s3cEJXT1VXU2ZYREtHODZyTU8yUDdVYWdZRkUydG93Nk94bERLNW5wVGFBUWVQekErVEpwUllBaFBqR3NwQ3o4bTR2d3RkM0h4ODVKL1ViZmpqMmtmcnJoV1Awc2wvampLdHZqTEl5aUE5OUFibkxSTlJFRXhrV3VvY0JYNHIrbnlJNXJIZDJtVEhpTlA1dGQ5eGo0dlM0TTZURU83Y1c3ejBaTThtMVRzN3NHSm1XdUlmOWp5UXhpTG16WmZwNTNONzBhOWdSQTFabGVNbXRXVFBUZFNrWkhMSDNMSS9HSWtPNDNZR1ZvNkRDcUNmdTVFMEJ6M2s3eTkvUmplcEZ0TUczaCtYZitoRDhQWXRTbTlyMTJCYnBqeWszTko1ZWdkOTZFUkRnMC9sbHF4M21zbzVna2hnMDFESHZZTEl4a2ZaRTZPOUlxVDVTbUZtaytHM1B0UEdhMjdNVSswZ21XWnB5V2lzajM4azNKdjI0N3RjdXFVVkhuVUxDNGRKOUtJc2FXSWg5TXZKb21FWk9ROEpIcm1FVDEvNXBTd2Ftbno0ZENhZm54dmZ3VmU1bFd0ZHg5YVd6WTN3OXdXZHFiWFFUMkw1bWFjMkYvajBmRTAxNDdtQk5jcCs2Ty9pS3VTcmpVejdIMEhsM3VWMVdqaytXQWlndFA1bldHdVllRWF3bGtRUDNhU3M0WkR0WlMzOHdPUUtoQ3R5UnJUK05ZNFcrcnpyU0RVczJmQ0I2M3h4ajcxUnhmaE41QStjSUJqdFk3dUZVMHppNGFqR1lUNDR3cU54UW9zUzF4OGZBeXlkVzlYbVd1MTJUMnczLzhKUXMxYkRuMGo4eTluWEVGc0xJc1J6MHV0WEF1aUFIL3NJVnpKUkpVcFdyVmgzS2lFMEdNdC9sY09qZkVKT2tacm1wWi9rZzFyQXNsMjlObk5CUFhUUjVub1Q4Zjc3UTB5R0xVZEpGZ2JEM0N4UmdOOStEeXpYS0F2TWpRd2NLZk9rdkQ1ODFQZC9ONDBkdmFGT1BhRGJNUER3ODR5cVNLY3p5Q2tMMXlqUytWK3AycEg1NklOQk9OeGN5WkQ1RU81dE9mRkpTVSs5Ky9mUDNQdERoVWxwZ2pHK0VzMy96VlRWSVJJd2xOblhJcU1qSXgrdnY3ck5ydjYvQ2pHUFRwbTE2Q2h1QmJiejNhU3BpWW05NlVQd0FSbnZiZFNoMmlvWHBBSGNtbUdwY2E5UTBNcHZuNSswdnh4QmlXRTBTdERFdTlTck4rRkZ2WGptNXE3dTE4T2tjdmQzZDNySjJ1WUp5UitseGhqRmNOOWg4UXF4MnNEc2pvNk5LY2VWT1hUTk8zeThuZUw4OGNkZmRieVdqMzdkWWU5d2RralpkWFZjN1J0WmZYczRCTEFyYWtISmxuZHQxN3BpM0gydVZmc2JkSGVGbTdJZjhob3BTYitKeUFVUzdTeVQ0MkZkS3BtV2xxYTB5WHUvRzVIamJRekVUckhHNzhMUVdnNVExcENjZ0p3UUxJSExrL0g3dTZ1TjVCV1NRU3cwc3NPK25LTDNqMGVrcDdOOVhmR1l0WGNMTFBEQVR4QXhCNVVqYVFKbG1LeFdYanJpVkFsdExacTB1b3MxMEVHZ0xtK2xwYW90ZlgxUG1mY3l1Ynl6TjhtbDQ0UEhSQVRCak0ydm1wNy8ydXoxc1hkSDU0UlNpWExKcWhuWDhVeDlkZ0hIT3huVktrVDVvK3J5VmlrdUYwVlhVRUxmSnlibTB0VFBMYmVJWDU4TzJ6WUNNQ21veU5XUzF0Yk9sbGpaWlZrZEE4N1dIWFZpblpqQ2JDUEZudUlIYkFid2dxQUE4dy82THAyTzg1clhKNjV2L2JsclZQcFAvemhsL0Z0S21qRFA2ck1GN1RPZEpyTU1GcVhzZ3VHMDR1N0NSWGtKUXRtNkZaU1ZIb0RGRnIvZmpLeFN1ZHlLYUkxVms0TjlVeUk4OWtod1hDQjh3TUgyWXQzSzFBMlV0ZFlHZmJGdHQ2OS9VQ1RDNzlEMStIY2xNVEoyVFE5Tzh3K3RsdWY4NlRiOFQxaUNWZVpMNHN1QjFnYnY1OEF3OXIyL3hyNXA3YkVxRFRGQnI3dzlzRHR5YmUrbFJWVTBaVGF1ZU43SGsreUdkdHZYWVdNeFpvb05IZHVwQ2t5OXUydGJGMXQzNUVKK1VNNk0wZUNPL1NPTFVLeWRaWU5FZG12ay9kaE5veVo5eG1qaUxSU3hsTFdPL1JGQnlhdnhGMGxyK3ZzSE9GdlRySExJU2N1b3NSa25PRjJNdHl4dmFUVlhtZWN0NDlQZGsrUEhpUUx1cWlvOGx4bTFoYlRseFFwL0dNM1UvUmpkTW1oWWhyR0JZSWhtWmMxR2twYjhmaU5TdC92OVRlVUxyTjlCR3QzZG5aNmg0WVdwNmJ5ckZKRGJ1ekQySUd0MlI1WTRWMDRMcVJsWkxpRWhWbUJ5ZE8wMURhRGR6dDlpWjJ2aEVjYThQWVZHcms5bjZjZVFPUUE5b3NrdG85L1VUMXVqbjFISU9XUHVwUFcxZ3lOakl5cTYrc05LNGI3N0NSamVJZU9TeDk0dlZKeU94ZHlEL0tndUxqWTI5djdQWXpYUnc0Qm9kOVBsRUYvK2dzcUJsd2JxNm9NMkFLdVBIYnNtRHYva3p6VW9TTzdkZWdvbmJOSDlDOGtqZ1p5L3E3ZVc1MmJBMkd0azZXQmRla3BIVG4vVkR0dmYvODhlK3dzN2NjaXdTTkYyWXhhOTl5a1JlRWVjbGV1NkJUMmdhUCtnQklnSnVnaTU0Z3poU29ISlc3T1cwNU9RY0dIN3h3bHRWeHVKTzRFVksvRTlxcEZjVjVXM0ljUFVOZGt2UGhpTFV0bVVuZ1Z3M2FMMWluanBPMXQ4OGtsLzJuZGlmSTRUNzFXVUNYVzRuY0F1c2hrTkZoeFpJZ2I5V1kvRkpickM2TGk2QU4zeGJueStweG40WkpralUvU1BDT0VUWEh3Wm52QThIZnppb29LR0lDcGxaWGZEdHM3WjBrQXBkVEFJZHFQU3J0TGJId0NBaTZYZVR2ZjNwVGtGWXVZdWR0eGNpZlVpdXhMVFVWSnVBUzZvcDVCK1JRN1M2cDFGRFZTUlp2WTVMRHNTL2pCUlBLWEw5Yk5mMjlZbUcwc2xxT2UvUTQrNEswWE5kMVVNWmdLbEJjRXh1VGszWkN0bGR0VUtoVVl6cmdZUFgvZklTbjFTdDhmOVRyOFlqbjBZdndJOUtVSFhuZ0VzVTBpdVFEbTRrelBBNDdJWXFlS2NzTjRIbmFUZlNISmUxMWxwSGxaVCsvMGFVK2VrOGc4Z3BGUDJnLzFzVXZDUnMvWWs4dWg5K0NMSG1mWitZYnlIYStzY2hyajROL2xMa2doSUxmSFNYYWZuVWpDZzZ5ejl0S3hqeHcrSG53KzRDL1M4emhEOXlTTjJBVmF1c1dJTDFocnc4dGlYMHhmdUF5dG9hQU1jemFXaVZDZEhrN1UvN1U0Y0hkemR6UmtnVVIzTzU0ZUUveHpINDFZWGtCaWEraFQ3b2N6UlFiK241ZnBNSmNoY3BnbHUrSzN5NjRJTFBDc1hrZWgyRlU0R0REaDAwN3ZHQUhjeDBsa1B5SmdUWmFxdmJ4YS9PMGp3aTlvM3pUYlNRSVlQdnQwUmw1ZXBmZlhTQS90emQ3eUxwMDh2Um9hTVlFVWNkU0lhSzBpQStvT1BDdHBKdjFiUUg4dEc5YlNnK09XUW5tNTRCeDMweC9oSExyaExVRG0zbnpVNjZWOTFOeXNQQjJlZE9iYWlPeTI5NUEwTzIvNEZQdXpGaGhTMTFuZUUvYjBrWG1ucTJqQ0Zka2JYeVhKekRVWllXNDM1ZVNWbjI1cXBzSDNmMkhVQ2xDZ1ZHbnhUQzBkSWFCK1YvNC9mcFRTVThwT04xQUtRNUpXVTFyVDk0VlBJZXhGMGxBS0NnSll2byt5M2tkYUhma3dpcWV0aHpRYnA3aUljemxlNWdYU3RkY290Ujl6Qzh5ei9TaUNtTmt6bXpmcTduS0oyd2xZcVhBc3NDVGZHclI3UldGb0ErV29JTC9VMHBId0tZVHJTSEx5UStaQVFVTG9JVlJuT0lBOFFpRFpTVUxWZUQ4OGJHWmhhVmt3NkZvQTl4TG5HdUZoak9qZ2Z3VGtEN0pJNlNYY05MU2hCTUxzMlRObVBsN2VzNmtkYzBEMDh2VS8weit4WnZrSVpVRkxTOHM3TUxBQUlJVWx1bGtnNURpS0UwVkQ2Lzh3UjFyb1Q5V1RFRnpTM0N5QXNKRDhmUHo4SWhsZHdCcHJjT0t1My9MZ3JqQmFpRUY0K055UEh5cHBXak9wZHplTFdta203ajI1L2QxS2JqRkNSWlAxSG4yMXRQYXArTnZaUFU1VEQ2NEFJejk5K0FDaDlKdWxBNzVSenNnMExBWW1Dd2k5cGcyelZCUVZGUVgrbnAwc1BmL3IzTEhtbEhMMU0wUWEvMDFEUTBQSEpwUmx3ZUxXNGE2QWd5Z2xBWWpESnBXamM5cFZLY0xLbDJodXdTVXR6QVNWTDB5SGVoNWJhYm13MGl3dTJ3cXJUNXlSY0F0NXV1Z3lQWG9zUElOSEdzaDRZMjVqUXdubG96ejFYZkkrLzgyOGh5aHhXWkI4UUVFWFhSbDVHOXR2Y2pDRTM2cm5Pejh6eU5uWWZwMkZMbngvUU9mbTZkOVVJM3gvNWh1YWphcnVSelNOekhpYWNCVVdVRHorcVArWnBvcHYrNjJudHYrZFFqcU14QnFjSnZCL1J2c3h1OWpBMS91Ri90ZXpvM0RpOEgwayszOE5FZnJ2VHBaTTF2aVA1M2NhS2Rsd210Si84cDRZVGdiNG12My8yQlQvcGVUNC94dFAvcityaGZEL3lHaVB4NnIrUHROQm5PdDNzR2NBMXRtaERZTVdXVUdQWm1sWlN5YjdreDNTQ2RTRjVjeGhhNWtGOHJML2MxTEE4NkRWa1JuTXozUVN0cHB4ZlU3TjlGSFhtRmRkYnJ0bmlXcldTNmpib0JpQTZyNmlqTlZSLy90VzVZVkV2VitVc0QxcXBOOWFsck9ndlp0VWx3di9jdUNYNkNEcVNqb3BrSk40WU42aHdhaHJhWlBOZmZud21KNVRxYk5nK2kvNU4xUExvR1dCL1I2SmEwMW9zM3U5bmJHM0hLYm83NkI5VkJCd0orckxyNGt4eGJxYm05OU5YeThiMndYdlpveDU3Zjhac0U2VkN0czlFeDhqSEI5alc1b0VRN0xkMjZYc0tWYUZZV3V1TWxwT0tGK1EyYkNuNytoWmt5V3RMdGRPUzVTMDdsUldkRTFlS1c1ZHQxVDRNYWE0SWgrYUU3UmFwN2kzN29iOU81MGs5WUZ4WExSOVpaTXQzUVdVVGRHb2V4RDlFOEVVY1hFV2JXdHRENTMwWU00cGVjN2pHWHU1YWl3ZnY4ZG81dHcwQUZPZUF6THc3NkJLcGEyMXpGbytCeTBjYkQ1MHdJb1ZNZVZDT1NGZ2pmb2lpQlRFcnpSWkY3alF0VmM3TENhNWRVM3M4VlcrYzJHOXQ4VzJVaDlGVDQ1ZHlBMVk0Rm4zdlhKL2ZKRTMxRGo4TDRvd0N0Vk8wcUg1SHZRNFBPRDU2c0N5VUs4OHkvajZ5NkNnaHNWTnBkYlY0RGlxZUplaTFWQmQ0SE55eHVUNGdHUkFBY25rNC9yOTVBVURWNmlNR0d6STMyWHZkVGhNYm9iUUtOaG4rTXYveTZzL2c4VzY3dk1yTGRjOURRelpHRzlVWG5PaUJoemdKQzd2dlowcGRWMTNFa29SbjlZMFg2czJHVmF0KytTWDRjLzdyOHUrMUtkUHlvZjJCMG1UVjNYMitJUFhaN0VkSjRJV3V2Nk8yN1kwNmU5U1NqdTc5S095b3RHV09INHF2VG5ML3QzS2FLL2l4NTV5NWozRnVWV2R2cEhsV21GNURiaGRFcm1lMmxnWGtqUlRtYjRvczA3dVdSOVQvTUdiazlZcU9YcG1kbE9wc0g3OWFWZllpbUx6OEpkcW82NVZFNHQrU3NGRXdBNG12Nmc1T3VUcDBrdzlOZmluVEJMNXlvTGJoZzlZY3JVdWREeWtFenMrRTZpZE1Ua1Urcm8xbEsxamVUUERvZUhpNXZKRmhTNWIwMmVMbTJHZmR4UXJzcDJhTnZqdjlpWk81Wnl2bnFtc2lHdXBxeE5ZdmlZZmUzTmJ2cUdNdXFaUHdENmhURXFPaXVaOEFMQWM0N1E5d21ESnVVQitrREpUZjk4amtXT2RwZXNoOS84b3pRU2RxaDdIMFNBaTdaOWNDei8xZUlzRzZiU0g2dW84Zk1oT1kyM1pKaEJDaStLZktZMEs3WDEzZlNVYTVTa0E2aVhEMkYvNkdpcnBtRFM3ZjZscjFVamk3aVUrM0lvbkZ4SFZxSmZGUUh0eDZBODJ0dXZZNGxXSFFBRlVzRUR2dFlrV0prV2ZNQXJ0U2hELzhITnA5SldJUmRURUZYWkJ6QkYrWGZxOWdRZ3ZVNkZnS3kvODNiZ3AwV0Irb24xcXJtcy9vMHppbDd2OUxwRnBNczBscWF0am5ZSGtzdkVPTDM3czg2VWtOd3F6MTZXTE5pYUhCREdMVGRvRDQ1TXhZMzVPcElrcnNhb240VEI2MFRwNWYzMDVhWkkrVGhydDBlcDQ2WnUvZkQyMkFlaVJ5Z2tKN0Y4c1ZzMTNPMFJVeU1aSWYrYlVyY28zOTRaQzN6MlhJS2M0MUszM2hNcHFpeDhJZGMrbHI4N3JXdXY2NnJILzRqNGFXbWEzSVhQNk5TbnUyRXU4ckJZUEZiU2xReGYzUUx4UXI0bzZSdEtINm1jS3lPLzZ5L3NxY2ZKdTdkUXpSRDRFWUJuMkFBaUJReVJCVnpMWnV4WHdjL3lJN2ZwUmZrNzJwbGIrMzMxSzRQSUwwcjd6d056MFJiSlZUdHlmR2NCUGJuSk9MQ2V0YlMyV1RwKzdsYlZBTGlKc3BMZktsN0R0N2RZUHBUbk5YQ0Z6UGRvdkJnak4yVjkyb3lXaUdjUkxiZzlJSTkzY25tNXI4U2ZCdEhHMjFBK29seHJDQ1IzMkNlMVRyK0ZuMXd4OHFOK1VaT01NbkZ3eUJpMVNaNmtOQ2x0V1Z0WVpaNG9jRmNNd0ZQZnhaQTFWVU9WQXQwU09NSUVvaEorZjdTUzlqbkVSU1pSMUtzZ3NwQzFhMlBkZ2oreGJBK1AySzBhNkVLRGg0Um80ZnJjSVA5Ty9uNmlQREF1OVpTT2ovWGZTV3IyaW5aWDJLQjI3UWZ1aFZlcGlrTGNWdWoyazlhUzg5U0I0L0d2Ukhld1puOXNMVGpVOXN6K0JlVG80T0ZUWDF1clhqQm8yalBzSm5aaWJIVnR6MnNNUjdtRk5FdFJQRzRnY05TZzB1UDFBbTR4M2V4OTJsUGUzbmpJakVBaHlWNi8ydExYRlhMaHd3ZnYrL1V6Z3FpQjVLaktDRlV0QVFwbWljM0E0YVhSSlNhRmxpU2puczNOcFdtRjZQT3lLNDU0Y3QvK1JleGN1WHZRQmhvdkZTbG1ZbXlOakFFa0gwdnBwaTYxNnRxNnBpWWtPMmxDdnp0SUliZGl6dFZWOUt2L08yYlBKR21QNTkyS3F0VEtDanNvVSt0NHp4RDdXem1BTXF0TW1rdlJjSkFyZjJLYmJ2OHFiN05Eam9SR1RvNlY3YzZOeUVNOUVXVjcyQ3RuWk1sQlRVNnV1cXRvVXZ2WnhjaW5mYXRGd1ZTQ3UxVUNNRTFkZVBzMjBBd04rVUJVOHd4dlJ3UWtpdmNOZUR4U3Y4eVZ1T1huNVhpSXhFNFF4b3JhRGdtQWlaMlpMVE1QTkx5QXRaeUR1eU9SNlppdUY0MnhMODF4bEN1MGtOenQ2WERkR29wc3ptYy9Qek15QWFPN3U3bjc1UEM3T0p6UzBHQ2c1MEhZajZrdjFiSDB4VG90S1I1blVCUVZ3WkRIbnFaZTNncjFxcVV3L2NvTk5XUm5PamhlRWpDdEtMcjlkVjJaYUNXaHF2cnZHSnNaTlM1ZitsaEpQa3FjeTczK0N0LzRMZEFPWUxXUjdRMGRBTWZqcjFGUjJZTjJZTEI5WFpCUDlMOGRMdWlkZTNxa3k3Ky92Zi9PNE9mTlYyL3VDdmdMVnJPNDBMOHd1QXpnT3ZEWTBQazZZNmNxdzhMOE03dXZvaUdXSXhLZmxNTndHKzNURHJSRGg0ZW41VjArUG5vV0Z4V3hmb1JIU2FmLzA2Vk5hbzYybUtOR0wveUFEQkVwdmE1ekFhR2tjek96K2ZlS04yNWd3RlRITzN4SytxMnMwd1BUcndOaFkvL1IwampNdUJXa24wbTdrTitHVkMxWm5RZ3JZS0g1alh1bDk4K3crck11WEtqUUtRNm9vUGxqbjlQVERtaWY5V1pYRXJzbjdDRVVtVHRiblRpejV6eGNzYW10cnJ4S2I5KytNNzFIRGtEWmo3bUs1MXN2eWpMd20xMHZjU0xQY3g4Y2dxL3NXNU0zVUE1TlJkOWxmcTV6bTRLeXhockNTdloyR3ZZcjY0TTEzcWxtWllDeVFZK0EwRVBqZWN1UVVudXJSWW9pOVBySXZzQVB6ekxDUUVMS3pVQVROQ1hNOTI1bHhzcS9QZ3dmdjl0YjNkak4ydS9ZMmxTQUd2S21hd3ZIRkdjcnkvQVRQeTk3UzBoQWZrZmhyVXc4MnRjN0g5TlViaDhYTk1MRmlRMlVwTHpxb2lzZVdmZk5xS1g3cmFZUmFaZVdzRkxzbW9mTnpLV2ZuUzhXZ0VBdksxNXAzQlhpZ3VSdis2ZEVnYlJXSU1FS0psVTlJQ1BxZkRxL0tDV0o2UVM1THhzSG50b3g3S2hiTjRNMmEwWDZRZzgrZlAxOVptbFRiMlp6SkFQY1pRWjZLY2VvSngrc0FROEtaR2x4STlCb2VHUnVyWm8wRDl4Wm5UY0psbVhjOHBXbG12WWY0TGhxL09NaXdiNVVhZ2dqQ256OXZVY1liQ0dHN00yRUYzWTZPSUVzUHNPRk1OZHZzZEdGS2tOT0ppWW5WbFpWZisvb1Noc2psTG5JdjMwT2dCOVl0eUJrTVVhVTlwQnM4VnJmbHM0U20rVzR2bldRYVduUk05NHhXcCs3bENTZm5pYS9VM1dqK2cvVFhwajVCK2NyS1phVlQxK1R0Tm5SN2V5WkMrRjZtMjJZc0xoOVpYNnZmWWZ2ZFd6VVNsMDNWeEEyN3RVemVKNWg4VmVXMnd3Nyt2UlpDeFVyYkZCVVZPZDY5cTN6MTZsV2tIMTFxdkMzc0QySVhDY1AyeEl0Ymk4UklwSWNVSDg4eE9qWW1rdGllYjFuaTR1YldJWDM3eDNLQXBqQUh3Y0VtTE13S2dzSEl5QWpTQ2pFdGtFaEloTEd4ZEFoRWtZU25vbzJSTTZOazN6N0hTMGhmOUYvdEhNaHpBSjBDZlpFQ0FzblV5b3F3c0ZBOHQxcjliYmFzOFB3VkJRVUR4UXdDSHYvd244Ynp5dWF5QXpMb1RLazByUnBUanBxRlZ0Ky9MdWtvTzZMZm5OMVlYeithb3pQOGlKa2M0S3lUNDlOYnE5MWJIN0tscHpFc014YzBuOTh3UEQxb0w1VHg1OHovc2hmZ1pVaEp4SzdhNitQdDVxeW53K3hvbWZlYXF5bm1PU0VCRy9VSXRRem1EL0pvYnNBMjhNUzF1dE9wZ3F0clJuM1Rqb29tUEEzZDIvSGJXV29WZ0hFYWdkZkJ4U2ZQUmV3d3VUWmtkZi9keDN2a1djdlZreEt2Mm1vMkE4VzVmczdQYTRDbi9hVFpJQ0tldGs0aVNUeSt0K3RYRjdwak9qdzhYTkRuL0hsbUdhQjJialVRY1hpdWRvWit2ajVpRmpLRmdyVG9SdDJOQ2dzTHQxWUpWcU41QjBuNng0T1Z3QWFzckt3clhXRzdlZ0pLb2IxTFM2WHdqWHIycTlETnFXUElvQUpYNXhKOGZYM0xxcXNMTklTei9tbUFwTDE5NnhnU1lnRVJCcGJlMmxvdEJDd0VZbDVXWDErTVJwK1hmZHVyK3BmS2FDSW1ZRXZrQ3cvVDlHYlRXd095a3NmK3p4TUIxTzJnc0lLTEszbmlweFc2L013OFV3UDIrQzVVNTNGbjVJNDRMSGF0MSsyZTY3cHIwcDRaNWRoa25QTXhpcW93VlJlclBpT3pkOTJ6UGdvSUJzUXNKQldwQWJLNDJLakUwc25OVFJPcWFyR0p0V2w0a29hdytxbkQ3azNaM25JaHVkTk4zalVXYWVucGN6MjUybHZibTlqT3prN2dGZ1lpQ1dVNFhMYlM3b1l5U0pJZWdER1hwaWV0azhXVGQ4SGVyVlVBa2pCMVUvUWJWalkySDAvUENhWmZrTGJtRjJhZVgrV09OV2Y1Rk0wbWdGaFJPbFd6eFZZQzZpWmk3ejF5dzQ1c1hjQ3lLZzhQajBpQ09sUjE3cmhXcVBxbVptWjZrTC9DOFM5UFNYT3p5SzRzVDB4Y3Myb0k5Vm5XaFVTb0pDalFCM1U1S0JnTWh6RHUxZmxFeElwNE4wc2ZqMjlya0h1dVNqNHoxN0RNMUIrc0VzSS9NN3ErdmpDNStLMytia2JOblpBRGxPNzFjdmEwc3lFZVE3WGF4K3RuSHVZdXZWNlhDUTV6cFhzc2JlRXR4eGZiT25sMW1jL1Z6YTNxekgxbWRzUEdXMXM1amFVN3cxL2k4WVBja2ExMU1EZW81a2lTUlVidWcwdzl5a1FQSmM3RndVR3RwcVptYUhDd2UyZ29CYVFhODRXMUZxUmxUbG9GY3lFbGZHY25aRFZRQWViTXg4dWJaMWxTdzVxRVowM0FFd3VRT0JrY1RBYVpCM0VpSXlOVFZsTlRDSjVCYm9qQTUwYXBTOFZ4RVRQMG03WDFkZVEyUy81SVVUMG1hR2hraENzdGxWaXRXNytIRjVTdlNwVHVHc0FZMU9UaWt5K2g3YzllZnVZZ2wrYUw5V2RJNVpnUFpZMVdyb2hiOVA2T043bEdQbE9RTDJ6OGhFN3AyWnJKZ1FXbHkvdWNGNWZ2dG41d0tXdkl5RzM0TzRUbTQweW8vUFE0OFVUZ0FtVnU1bXgwOEJydXo2azd2OVJDTUUxT0h1bSs3ZFFoZ1prQXpZMVZJcUgyVVppajBwRGV5TEJKQ2U0UUY2Y2d5TUVIVlc4TkRRMUJqUnJrNjhOUDNJY1BoNitrdm45L2xTaDBPUTIzWTB6amVsTHdYeTM1NE9DaUVxdUd1WlVWL1NwekxXU1ZlblMwRHhBRm1YdDUrWnJtWG96eGZFbmJPOWYzQ0I4R2FvQlVLUGNLNEJXNVdWa25qL0ZDK2x6aWp4dTk5UlNZVkZwYTJtL1VnN2dFNkFFZWFlRS9BRGVEY0FUek5EajUzaGFPUjVidUNDVHVXRldrY2lkZXRCcDUwUU01QndsY2VPZnNUeWpjN3J0UEFpZ1dHSFkyb3phenpESFNxbm1tNkk3QlYxT0hIcWcxM1k3ZXViY0xlbWJ6eGlrMXl4VUV6bWMzajMxcG9tbmNhakZHNjVjUXZKWXRUaDJPdVlwOVp0cWpXNm10akhtRFp3cXVlVDd4SlFQb0VTRERxRHVCN3lUWDA0aFdDR1U0L0dnL2xnMzlhYkpuei8vTFlvcEs4WHlwUVBCYlZmNzhaL1JLWkJXRnQ0bHE4aVlJZDJuNW1vWUxkU1drNDY1bDNBd3h2dDZObnlGVnJwcEFPdmZQZW9GVGlsZlYyOVRSN3NkT1ErWGZLcFJuM3hXMGtidlczZzg2NDBaK2FNYXFLa1BOL2RleS84aElMOURCd2lWRzJaQmJZVWNmY1lvQjNTOHZMMGRnQjJvOTBUTVBDQitFb2FPRFEydnNhOGhiUCtFaWhJZk56dWFEdENkZFBpNWZ2cHFLd1luUFY4OVQxTEplQm9YZ1RIMnlMZ0VzUWRwN0J3VE1NaTBFVU14NkZjb2FLb2psL1cxOS9mdGpJUFdyVGlXbzV3TlBucHRUQnpTOTBMc1NxQUNVNEtyZWZTTWd4aUlKOEdGWVFpN3RPZElLaGtwdWp3MXdVUGRnMWdITWNWZjZ2WWpicVRuRGQyR0VqTFZ0OWtTM3pVOVBmOUkwR1p2MU5vOTlkVXFXOW14R0Y3TGtheXhXZlhmSVFiS3kvbk1aSlQxM3d6M0lLWjIwZFN6emkvRjBVQTI3SnBlL1NmcnltS2xQTUZRQ3FRdW1DZmNCaXFRQUNKQkc4TzFxS1o1c2FSMjZZeFVwcTJ5K2w3anpoOG5WRVpQSVF3YnNPb1R4dE9kRTVBZnVvN05zOC9XL2ZmNzhsQ1RtbEhVYllkN0FlbkorcEdzSUwvZ0I3VjVvRzJMS2Q4WVZ3R0ZiNnA4N2Z1TXkreUNIUCtZTzFxa0l2VmcrVzRGV0xvZ0p2SkVoekhzQ1pCWHBZd0JDK2g3VjdRZC9BRld2cnEvMzViaHZNb0JCMmN5NE4ydVNIUUR4WWU2Z2FaREtBdm1Qa01LeWFZVGQrOVlVTTV6STZLcTVDNmFxNWs3VnpmZDJzR0F2VFBndzRkanMyOVhWWmVGZlcxdnJUVEh3Skg2QVBNbHZqc1RaNEV3NytBck5MNGpDUmR3SFpxMmt6WFVvNjNxbU9UY090TjhWa3RQNWZpK2dNOGhGbXQxd1NnRkVZYXVhYU9QK3lJZXAvVU5NSndyZmxGLzBML3pNdW1iQW1CNjBlRzRvM1QyMVl6b3RvcU9nN3p6akY5TmlzMjlwQ1JMa0RYQ045RjNqT3hpUkJ5U1NUWmhEbElkdy9IMTYvVkpqN3l3TkRYMGJHMEo2bTkzSU94c1FWdWZWT2MyZnVJaHpCV08xaHlraGZNc1JZZnl4cXM0eXFRaVYzdDJ0aDlUdm5mVSt0U050YXcrVHo5ZFh6ODNORGR6YnJZT0N1YUNoNXE3SkQ3UWtRZjBtNFA4UU1PUGhDZzlwcm9ObHBhV1pXcmxaMmhtS3N6dlVkWGQxaW1vVzBWa0M3SHM0NXBGazhwK0FtUDBFd3VvYTJXem5WL3RGQkVlQTBLZEtmWFRPS3JwNHM3RHYyK1ptRllJZWNRSkt6a0I3UU40VWI3WTZ4OHg3MmJZeU1kU09qbHJzYkpGS2hvYUhlK0NxbW1tVkUwc1dEZnRtQlovTVlDNXBjb1d2bEdpOTVoUjA3VDdya29PaEx5K2FxSU0vZWkydXpkSnVQdW9rMFVQbVI2VkdBcjR4clJzV1RxVi8xY3QvN1VJcVo1ZDBHNXEzdmhncVdsUmtNUjZocGs4TmxPZjNLd3dhNmlsYnpjV0liRTdRM2RHSklMWTlUd081QzRkVzd1aXF5ZmcrRjBMRitySkVWQ2ZJY3F5dmFhdW1xRDl3R05DS3I5dnN2SDE5YzlnRUZILysvUG0zejFOY2lqQ1BqWjRZSnhDemthOEVPOGxaWjBiRjBPMjhzTjNsakdMUGlxaStDT3dyVTcxT0NDVElNZVlEd0drN1BoNmZYN2VWbGpwejVzeld5bXo4N2xKYzJNL2xtUzUzcGw5YXVaTTNURTY4M01oUnp0YWM5L0h5bW54K3VvMiswc1FtUG9LL1BRTDFNTnVXYjlyVlVJMTBVZkEyNkRPRVVjSXRBUmRTT25MZ29OcFdzQWJJdUpYRnlobGJXVFgwSER5MEVPTFJjOTNzZlBoN0Q2YkppVzhEZUM4V0xJYmpJSHYvYTJzOVM3UDlqY1ppT2U0VlFibG9CV08wQjhjOSttTkVKZ0VsZjlZMWI5ZGhVMGVJZnIvbmJuejhNMmt2ZjlVSDNhUDVra0lMc2lQMVU4MmRzNVgyZWFibzZVNjlWNm5oN1NsL1FuSllrQitOVWtEVlFRMEFKZXg0bWJmNitSdkR2OHhtMUZOM2xyOS8vOTVaQjJLNGUyNnU0R25MTzVCenBQZEJQajdaVUtCRGRyY0hOYmw5b1hEaXJTZFNic3lQblRsODRKaHJVRjA2cWZXK2wxZFdjN015d29vRlRpYW9nL2FHSEFyck9kNnJLTkQ0UWZDYU5UR3FzQU45QjNOeEZwRlpZOFBrY3NYZ2piOEFPKzJ4cytuKzU2OE45QVFCYndhWVhWdGJXOWxhZGFrTFhGVVBDZ3J5bTdiQ1RMSXc3RE9xTkNYZW8ya0tkWFcwNmIwU0haV3FXMVRWbUY1SlZ2dVdkczJHY01qMU9TYmhrZ1A5RSt1T3B6N3FaWWRvOFUwWE4rN2krSG9XbXVVanBNVjk0NUJjY1pWSnVIWEsyOGRuU3BnTWdLNmZyWHVmai9WTWZBejhhc1RXQmp4VHJOb29KOVZQOHNuV1BRZkNSVFpyQm9qSDU2a1BRZG93TzFCNFNIUkFtWVh5VlNrb25xeWhYOWlITUF2MTdPL2xzNzQxN2kvTGtXWG01bWcya0FCUXkvVHFMQWtrUW9sQllaLzVSTmxRU21oRENjelNuaGwzc3gxOGI3YjhVVzdyMCtUOUJQWHN2NDhhUDd4M1BieFI5NENNamZGcS9kR0NmalBGQlBVcWNadSt2alZ1VVJYbXFBalFCY2grbDZDZ3d0Q0dzRnpmRTMvM2p6R3lEakkvWDJmcjFHUy9oTDdHdUs2R29mMDdQY210bUdhMjVNYTV5N0kzUEtrZ09KdmFMeEVEV0lvNG00U0xQcFQ3azVnUEhXVEhybDI5eU5NdG1hd3g4ak9aUkhLUnZTR2NvTzdrNWFVSGsrcFBsZldBQ2VtTGNRSlJOc2MzZlBqd1hYajhRLzNaOHFhOFZmcDh3My9iOTRiRlp0bVc1a0VJQW9ZQS96cDkrQUFRTmo0Qmdacm5HTUNmaHUxZnozaFlYVFdaeXhlVDBhVVB2TDNmdDdmL2tkM2poRERTb0hVdDVOZEFJeXpDTWZaNThBdjQxbThVSU10ZENBc1ZBQW9vVUxtRTludEhtYUtxSHIvYjkrd3BKSTQ0OEpJWGNtWVczeDdQdDB3dVhWWCs0Zm9SRHlGSkdyR256ekxvODVQamt4V0tsejVrakc1YVd5c3Y2SnRMcTBLNVNoUmFDN25UbkNoZ3NIMlQ1eFpKNEhwTGQrN3lmUjFNUlpoNDdSYzVkODlienA3dmlpYktEWld0aFpwVU9lV3pyVHU2cmNYdmdKTDlJNDlDSnM5MnBNcitWaDlGeWVVMzhqVi85cEZXRVhMVjA2TkhPR1g3c0VRMy95ZWNVQ3dEUnV2cDJCcUVZcnBSQ1dWb1I3am9kc3RXZTltdzI5UnlBTEttZWZCK2FHZ3hrRXBRak5VWVBiUWhEc3hXNFRIdTdPT3pxaVgxMGZNeWhON0xGU091TC9aWWtTTk15RDZHRVBFSVV1cWpmVG1qWmpmbzN0RFQwREtma2RlTzlQWmJpVUk3T2kwekRDVDZ5NlQ2ZUowY3dGUzV5aFMyMlgyZjFydXNwRVFBSmdkUmlRZ2tOclpSZGxYcTkvS1huRkFiRjVoSG5SbUtyRm5ZOXNjeXNmYzh4cXE2dVJEYzZBUDhmYjU2aG1OQzZKUzFqREhUK09jOGI1MmtMZy9iWDY3Vk1IdlpxK2I1SWNmNkRuQ09Bc1BDTFhMRitNcDZ3NTVGMlBaU05DTDl5QXNMb0ZPcnRHS1NOVDdWcWFFTi83Q3FEMFlhVEtKZnBKTC9ORlA3bUhPeElvZGV0TWpOeEpmNXdPVFNRTWVWYm1mY3dzR1haS2k2dDArTnRBci9zM0hKeGNVRklWSGdwNnRHUWRxdGs2WEE2S2xpRU5ndUlMMUJmaGhVRFB2Z2V6dlArNDlIUEl4WURFZFNvb25Kejc0c2g4N2xGZWIrdWt6M0hiUmhUNkZSeVFxVXBvcUNIR20xZ1JlMWdEV3lENUdocEdiOVJTQlZQWS90SnpYY09UdVNiSHgySUZld2dEMURwbFEzNmVnUGZJYjExY3FqWld2akU2V1IxQXpwbXc5Nmd4ekRXTFhTank1VVNMaGNXVzVsNUQrVHJGRmdpcDViSlJHMmhzZDNjL3dvWTA0ZUhsMnJUaTkrQ0lkL1VCSVFFQ2pVelQrYjJPNGt6blUydmcyWUU3Sk5Eb0JwYTJkOUhEdzd5ZVJKT3B2Y1lTL055NHJENGFhYzBXTU5ZUmR2KzZuV0Q4d255b1RkOUN5WXM0Nk42eHRSMFZTMDkzbzVNSmZUbjV0bGZnSHB4UFE1RzRCRWpicEJUTlc1U3Njb2RwS1dqdE1RSTBLb3QrYUllY1FVRlFIc0habXNqeHpmMFdjMys1eWwzVHc4U0lsV29mZjdCc3FMS25CUlFBTGhlOW5EUW1sYU5kTUh6VVlRT1NuQytRd3hNc0RXOTZWS2wzSkd6a3JpWHB6Y3VsT0RGUEhHMlFMMUlOT09HK0owR2xJZUhTcUwvam8yVS9sMFZPc2pJTGJRNkh5UVQ4ZmxJNzIwNlZMdFhiK0xrckEybXVJeTFMell2QU8ranc0dXRLWWNkcTNNWVFuQ1RXZGFZelU5aTFtcGZ4cXo5UGYxSmZ5clBRUjRDYmxNZUNrdGYvZ01NQ2F2djZjZXpIbkxRV2lQOTc0WW9QTDdLSVhmVkF0dnZNSE1hU2VUZWhkd1VTQnNPek5Zc1FTRWwyNysrMys2dFRYUzV3QnBVeFdOWDZYcURzaU45SkY4RXRSUHl6WTFNVDBCbEVFWEZUbDZlR2dQRHc5L3RzZTYzN3BibWQvRU5EU2h2VEdTeFVTeXhxMks0ZWYyRmhYNWRRZFUwaHcydUxwT2MvR0wwUTJaOC9hdld3LzU0bE00QzFrd2Q2ejFFczI4b2s4ZG8ydWlIbGdRSFZpNXF5bUQ1MGJEMHdGNEVoS095b1lCdDNtQXZjVVByallzSERYeGEzbmNaenJURHlpYWN6eERROWg5bk5oWkFoNFNSVHhVS1pWc2NOc3NQSTlBQWttLzBENVc4S1FkQmo0cE9QRGp6dGtqSTF5aGhSYVhJYUZkTkFBTlFFemxRMXpOejJzZy9URzVxN3lDRVpvc09nYTd4QnR5YzBOTlNqM09za1VUekFzdXBvN0pwd2R5VDVqZlUvUkFmN283OFBOUW9RSW0rVEs2WDNDRC8xSGl0QXluU2xGVjJ3MWI4UUVUcnFUeUV1c1htRW1HNk5icEIxZGs5YWFCaldscGFTRmJoYUh5QW9vN1N5Yi9CQkZJSXBHS0dWcHVQTm94amxYempGbXhScXRYN2pXSFNKczJuamdCUlZobFZhVmlsMkhRMVJDdzRoVmlmdGxUVXBXZHlwNFdUd1JKTHh6SVAySlZtOCtMM1pQU0hCSlhEdnBlTnB1T25ranBzeExpNWM2SmVtTHQwRFl4SDBXTWtMKzhjb25yUkZQYStkeW9KeVpoQXZONVRpWE02KzMrVFBqMWxvVk1oZGxvNnBGSFVTNHNFV0hsaWdkMGxFMnltQ1k4QlpuSGxlOEsrZmo0OUoxMzlZWEJndnhVelJLNkRTUyszMXJjYzFsMzRQVjMvS0NtRy9FaWMyRTU2Mk9mRFJaK3BUbjVoL2V1UWRnd0dSSE1NbTMyTXJwbVJpKzFHcklQSmk3THUyNk1RNHc3NDFLQVBybnNaL010eGdwRjRWRkNveXhzUFV4TG5vNk1pb2YycThtclJERXlzK01QY2VDN0QrSzFRaFZ4N01URnc2enNuQi9TczRSUGJQQXpqTGRUeTJQbS9uTE9NbjRuRjhrd1NqQS9NaEtHU2M0MkxFUnF3QUp2ejJ6WjJ2cjY2S1hCeE1SRU9TV2xCcW1TeC9RbUxzSlllMXhIaDZhYnEydGxWS042OXJlMDJkWUdOWTdEaTd5TTdNYVhkYlFkMXFiYytYNysyZ3orY1F5eitvNE5TeGlLTCtoVGVRMlJISXREVHpobUtiaWF6aURiMnowN1BJVVV0WitJNDY4Y2MzMGViZTBXYVpINy9pcUhBWDBjM3p5S3k3SmJJbmlVS0hoM2hrL2VGM09IbGZWOENCT2Vlc1NnbVRoc0kyVXVKZUVpZ0UwSmJDTGlRMTNwb2xiTkdDOTh1c2ZzbkphUlVaT1owZi94SHQ5RmRINlJLZG9aNUlDWm1SbkMrcUZvbTBlYm03RklGNXc4YjBPTHNORW9UdWxhdC80aEdzVWRXbGRURjlJVGg3dWJhRThjOXdFWHVWS1RrK1J6aXNaUHpQRHM4aVVtVWFhWDN3L0lFTzk5UWljMjRKYi8yRXVKN1NsUDgvdDJocGtON3hhSkV5VUtQOHg3bnFFdE5OS3ZWTmo0TnJmWnlaOUtaWnJJQzNtY2V2bkRZRkdxaHNhV3FPZlFOM0svMnZUYzNHZHBEN3BJODRaeHYvYkVZVHBEU0lhNTFjQUZyOUx5OHVrY3NyQzROYktXOTZKcGgvbDkyTkhQaHV3TUdXOGp0UjhRNXhhY3RIME1yYzFvM0RvRThKT21RdTZGN3NMeGJWZnBLeldseVQydnJZZUhDMUlOMjIya1VZWXZobDhSOFQ2aTd4dnNyeHg4SEdjaXplNnJnRGZsR0FZQndyci9pV2Z1eCtnVUdjblR3ZG9PYmp4OXJYYUc0eHpETXlHWko1eFBxU2RwdXFWcENDT3JNU0NKNnVvVXBMbFpMQ3d0cTVQdnVDMkpwU2FKYk5jZ2pJU2JCV2VLdm9ydlVUMGFkVFhzSC9OSm9iK1dYaHkzeHJ2UU5INGk3aDllN0NoamRjR3pINTdQNDlvdVlUbitGdURpQXUyc0ZlbnVRTlZBaEJhMnVLMnoyVEN2TEpTem1malY0T0YrRjk2aS9Cd2c0NlJuTGJaK09Tdmx3b2ttYnR1Zm1DN3dsQTlSMWlrSEx3SWxHQzk2dWZTNnFlTUFmaWRhN2QwajVZaTZpcDRiSCtXYnBFVjBOSzJKWGs5Ykp4ZnFFOXZ2dVlHVXpmN2hKbEdCN0xteXNFQTJLem80T01oZHZ2d1ZoR0ZuWnllUTNkRXZpVm5kZjljMVFOMzJLYWQ3Y3hSb1JUdlRBOUtBWTZHNHBibjV6L241TDJnclRIazVzbDRHWUZ1eHFOdkw0YkJCS1JJc3g0a1hWWjBZT05jelZPYTJFREh4cXdOLzlEcGFrQzBqclBKYUdlMElrMkNxNWVBMFA4YlpUZFF4b3BrR3pXbDdpYnRxYm1sNDJNeHZnWGgzZnh6UFBLK3o5dWM2eXk2Zlc3ak1hRTc5OUtHeVhaSDFLZ3BPVVh1K0orVkNCTVVBNDVUZjUxeVZRa3VLdE4zaEFlVVpkREZTNkYyM295TlVWWUFrT1RtNWI3bmFHV1VOQ0dQT3gyS2wwdDYrelRNc2hBcFZPT3JlZFRDczhkM0phOVpDZ3owWklmaGh5Uy83OSsvZm1sSGF5MWZhMjlhRFREVzFzT2hEWHFwQVNyaURRK3ZSYWhzZCtnNEFtSWMvdHJaTWQwTDNPaDhRWkl3ZXNyRGdtaFM0QkYwRDdVUmRjdzcwOHhwbjlyaks5RG5qVHJWcHRsaWdEUzJNTVljRVpUUytGdlR1ajhTbkZZQzZXOVlVK0hQaWZxUzBMS2U4dTd0N0wybDFwSGEvakpPdTUrT1B1UVZhY1NLWUxPZDlPWFh1cHZFZlEwNktUeDhhR1Z2UUxpSDBnSEtFK3RqclhtR2grUUlkVlZwZFBTZGMra0huR002MEE1MXhQeWlJOU9iRW50VWVLY3dKekxjcWp1akFXdHd3MmVPTlZ1NkJmZTJQSU00NCtuSkdLZXVqaWIrUXphVTdyV0hiMFhDN3NxcXFmUGNLMGhiYmdQRjJYdTVQNi9NcUZjTjlIUjJ4UE04SnJqTFMvSEVKN1ZObHdOM1R0OGhuZ0JjMHRNOHNYL0EwN2x1RldtMktmbU9tZDNJa1hRRW90VWdjc3N1M3Vsb1hPK2pOZkhud0k4TE8vUHJWTVRGUGloNExKclpYRFNVQmVRVlJtUGQ3RzZGb2FvZnEyaVlYYTdSN3RUdnBxeDhNdmY4MUpyTklob1pRRkxURVJYeitWR2Y5akhPcTA0NlJQZG5CTkNQYWllOE0rczBuNXlmQVNsY3o5all6a04zRWtzbjYrZnE2d09BOEwzdDNxSzhsdDA4OThKUHIxeExtV0ExVVFMcTNCTklzb3B5dVhPbDJ2UFNnUTYzLzBaSDVQR1l4SHFpM2xwNVBiRUQwMDY4dkxaVXlSRDRFK1dDQU5reUFXaEI0TEVGOXFuTStGcDhadHhOcWhhQzB2THkzOGkrWUprKzlnelJOaTIyM1R6cnZRUVpnSWU0UC9vTG9CRlVxbS95MXJTMEdPSFBxbmJPMXZiNE40MGJZd2Q3WjJYeXdLN0xwc2JCUUZGbElQdHZiMy84R2FrdmgxSXNGVmxsY3J0VndjYmZqejQwTjQ5YldWcEJCdWpDYVlWT2ljMVQvdjFZdFFSK29aaEduNjRBaERnME1mSVdMUlJLZWtpYVgzcTcvRWhyK1V1Q1VoT3VpcXI1NlJGVTAvb3J0SXNEaklPUkJVMSs0ZUJIazM4Z1EzNnozMEdxOEJHY2pvQ2JTY20yZld2RHVUUE4xYTVUOFhhd05qSWJudzlkZVc0cHhnblpGM2pONjhBRHB2bFNqZE00ZVdmQU9sWXJFTitKdVVpZ1Vrc0RlUmpTaVVPUGpPVUM4UWtKRGtYSU1DakpENHMzRHVtN0tUZUk5bWV4V0liL1IwaElGZXY2Zjl5VE1vOXQxODM4d3NZcCs3T3JxV3QxY2RnalpXTHdPYkJ4NVE2QjZ0Rmd5K1Ura0d6VFhKd3FFYk9wQjFWV0NCOStDcXlLTjJhc3RzTWRtc0NVVUdWTXpzL2hUZm1ONDF0U0tpZ3JFZ3pOZEdjaWQrUGo0WmdINUZVd29Dd3ZPZm41R2ZjNnJKbHRLWDZRMHBMYXJxYzZLRVIzODJHbXRKMHdDeElabmMrYkQ3aFUrOSs4amIwOGhpMnpKR2tnckcrd1NzcHREWDJ6ZGs5UW5HZHQ2VjdhcFJhNW82RytCMUs2SUs0SVlWNmk0VFA5MHU1MHJocEZWZ3VucEhIQ0hlYzB2UFA0aDBHZVhqUExTTlptVmIxc3N4dGUza09XanZWV3J2V3lRREtBeTcyRk5nTENTNStjZFlXQ3JnYVBvRVNlUUkyYVNJMXZ5eGl3ZkNTVldVQktJaGg1bFF2RXhLamZxTExXUk5WTkExdFk0QVdSaEdPUnVZWi96T2Y0NFJOZWtwcWJDdzNYUWh0U2M0MElKNnZubUYxekE2QWlIMnI2bktaZWhHS0tMTTYzRHhocGtWL3plUEl1c2MwMjJ4aUdMVXAxZFhTQXZ6YzhHSVN0WWZuNEcrZnJwYUJFRmMyTnQwckw0eGZGRFhOak9NODdGaDBpTGdhRDhRWUFhaWVxSUpDRHBEOHc1dElHeVZUaXdhT25DN1hLSmUrdlgxRE10YmUwK3N1L29rVUdaKzhtcnNnRnp0MnZDS1RHZ242MWRMSTJ0SGhxVldGYlplR1YxMzBLNlQzQTJSSitMYVY2ZmMzRk9Vem9UdXJ5SlNjL001ajZnTHhEc3dKMHRIQXdHVjEyOXBYazl2YzBPYVhKVVZPVDYxcERsbE11QjBiNTkrN05MYWE5MmVhWHF3d2RrMDdGV2JoWW9lU1JxZnB2M29sWDlUNlFIYkllRGdhTFI1eUVHVlJUN2hBOGZRQ2g4VU5Cd3gzbFBTRFRBZFRpQXI0cWtkbFN6dnVMaDRmazg5UUI1MitjU3N0QjhvWElsVU1FbzlRTU9sdzEzUUxUQit0dzVrK3NDNmVWWEx3Zk5GQjJvaUZEMmQ2TVNQWCtHVHFlRm5YUld3Z3VRc0xiTkVXN0ppN2FsZVZBdmpuRXBoZTBDQ2NycGRud2ZXTWMvV0xxMnRUWGtzNkVnSjZjTERJVFBnTFJhYlpZcFZjdDBUcHJkV0FaWVBYMnExZ0RUTjJUaExSSi9EZG5ZUUNSbWdpNjFFSWdHcTRQdU11S3hvVG14Y2NtOTBBUHdDaWIwRTlHSmszRktLd3VqVjhsa01qRDhVR3p4WTJtRDJoQnF2M1MwdWFYbDNQZnZOd0FyNXRhcHlHb3doS1dNckt5RjVoTnBQMTUrL3JtSmlXc2Q5ajE5TDF6ZDNHWVJOWWRqYTdGZDZwUTc4TTFLeW9QejJVMkl5VXJobU1uSnU4Z203cDdabnlEcTNMUC8xczVRaFBxSHZKOTNtUmNBR1ZrcGhjS0h2QjFSUXRBNzhmSXJQR09zUHVUM0loY1l1YTkvUTBNaXhHci9KK3ZXRzZRZ1cyVTF0eHh0WnBRT24wTjJtQ2FWajlmeStIWk1DdjJsWUVYOFYydU9jSkNYaEVHSnk4ZU5SQktRUm4zTnhYNGIzS0RySE1oVFpCbk5UckliNkVSQlh3SENkVkhkcEZWa3NVSTRWZTdxVmIyS1lZTlNZd1FxLzlXdEEwSXlkc0FWajFGcFlCUmovaTJVMkhHaExKQWVpS2FlL2pRenZNM3d6eFlHQ0VMMzJsREZEQ014VHE5bUxqZjdSc1BDYlBNTHVZRjF5S3JwYkp6UzdsZWtnaVB0RWkrdkhoYUhnNXhQMnV4MEU5UnZndUxtaGhwRXAvYlBxMGJJNmgxQUx5UTArT2dlZHZDcUFzWHRSaWFFSk53SWFVU3ZEWHNncll3eWtPU0dyZ2NWazRkTG1YOXJhbEJMNXZHeHVPN2hPN3FrT3laUVMyNmRHcEVlZnRFRmtYd2o4eStJdUxvUXFpR3lCSXQwNzBvSUp4T3ZoWWtRaVVsRVlpSldUbmFJRXNrUnVpbTJjbFRhUnQ5ZllDMG85UXZpRkJlWDlxaURRWHRGeXdzWllidjVrWkg3S21pTFdFcUFYQlpqNTZGSUFKQ1NHdlJLQ0xpS2lwa2J3NTgrUFNZVlNxR1AweHQ3US9DVmVSSnRUNTZHakxNdzJQQzhyQytTOEFDN2MxdTNoT0RGTi9DK2h0bllSQWlRWlJXc2kvVFZmMDhIN2lFbjlHbnl2aEhPVFR0RzV1VUxoU3FFeTAxUHErYnJxNTg1YzhaWkp0WGRtV1NQbloxMndPVCsrR2RWR3FhRldIYTA1anBCWnhTRllqSkM5Z0w0K1RuTEZ5Mi81N3ZxVDE2emsrZVBRMXBVNDZGVXpkK3ZDMW5HcWlvRG1yLzZVZkQxOUdqK1FrWEE2U0tHcVlyeDBKNlNodDBDcUNMQU1xNXkyTjJzby9Rc2RJU2NGSFRkY01uVzFRRmg3eTl2Q05YUllDTmYzOWxaRUVPcjlQSlc1WUhtOHZKeWhESDlzSkhodGgycUdneHpxMy8yei9hTzZZT2xyQy83QmZBNXhlVmFoWnlNWXNHakl5T1ZLZkcrTmVodXh4OWJINHhaSXVqWlNNdVkrdnJpdERTK25WMHFwVGpMRlZpRWNIeVZuNFM0OVVzUURaZ212b1g1Mlc1bm9TSzFJSnhwMzNDRkI5TE1mNjlGUEplT3RzWWNGd2FQRjRiNEE3NldWMVJZWUpVckJjSU5SSWM1bkNGdXQ3YXFkOWNxR3M0bHRpTjdqZHdkN1lFSlNTbWJha2FjdjRLZ25oaW53VDlkTzlBRlNKbTRlMWNaMGpUMUpTMSt2WkhwRzBRcnhNbE8zTjZTRW5nTWVYY0ppcTVSb1czZmtxK3J5MVpwVTg5VzNEeVpYSFU2SjNKWmJVQWlKSDJSdk4wVVpYM2lwU2NGNlhLMTI3WGFTa0NROWJPWTRNNVZOOCtuWUFlTCt2djdWOW92TmxTMnRMdWF6b0tCajIxRXpCd1p5ZWpvdTVPdmI3NXNKQndQMlArdHhvK0NyTjVBd1g1OGI4alRtR2Z3Y0Z3ckROUEgyL3M5c3BzTnRFdkFwUWpjVFVNc3dqWDd1ekFwT1hBbjJhZWZuSU1pQ2d1SFZuV3A0ZmR1Z0o1K3huUm9iY3FqV1FZY1BMclNMeVBRRE9UUUxOMXNpL0E1VlZSVXRNQ3dFTmtnVUdmcEY1WG44eGk3dTE4bkt2K29ZLy9zTnptRDNWL3RGLzJtalN0cmE3MnZOeFZnd0xobVk0TTVrc1Y5emdYNkluN1BlWUtkV1RuL3hwOXhjdUVmQkpxVTFZMlFMU2hNUHFHaG9ibWUyQ1pDZWdUWk5GTFpwdm5aRTRVMVJYcVRtUzVRMG9SdEx5K3ZMR094SFBnTUhPTW9FNzBSODZIUWNUZUJRVmREbktsbXc4NWFhbXBhejFnWHdEbk1lN3IyaVRObktXc2xaRnl4SVlLSXlSclZUWFhtRjJwUU5obUo2dG52WEdVS0liU1FjaWVjQlZ3QzZpM2hZWC8va1FPczYyaDlrZUpQcHk0WHRDcldFRnMrTTdJYXF5TElMM290a21QOWZZK1RyTmQ3dEpLMTFZaE16OTNjbnZzbEhUUExJb250eFZzMW9LUjlmUG9VUWhqaXBNa0RyOHcxdy92T3ZtNi9KN3ZQSG0zb0phVm5HbzJIQjBMUjZlc3pnTEdqMGVpcXpPQXE4d3NmK09URkJ0aE9ablFCY2E2Kys2YjlIcnE0ZUc1N2U2U2o0QW92cXdYUjVhUVJrQ3B3M09ncEU1bVo1dHIyaDlRUE9kRXdRVzg1Tk15Uk51MzhNemZOTXpyMFlSanhpMEFwUjBkOVFsVEVYZzhlVE1OeTdqRXhuS011RHcybEhJNTVSQjB4OWxMSFpEeENQN1BONEVsZEdNNHBLOC8vMjAxSW1wa2QzelVKSU1OandjSHF2TDY2ZytMa0ErRkhydGNLS2ZlTkNpR2ErZmpCRkVWOTFjT09jbk5lanREVG5YbFE1ZEdrck45NmxXcXhLQi9STG1HbTJRd1BnSVFadlhIYjBNVmFPOGZYbFZtUU9DanB3T0owc1A2TUw1b3pyNmg2Sk1XanFDc0t0Mk9HVDJ5Zk1nOEs4d3dqM24wVUprdGU3eG5ncUZvbFlRSTRYUEVTekFZeTBVMWxYaGdYbk01QmdHOWtiN25kcjg2UEd2aEIyY2daTjBwY2lPcTg0c0RJd2JVQVRFclNZaDFyY2FkemhnUlBJTS9iNTNMR3lxODc3RWU5Q2YzZGt0dWhYWUVsQnc0WmM1YTJzYzNWU2JrTjlOY09hd1R0eUpjRWZDSGRiMmdkRzNZS0V6QklvbWZlbmtqYXpidjlPRUw3VFl6S2lRK3lvYjFMQ3p3UzdJcStuczhqRjM5R21yVFdVM1ppbUxqd215d1JTam9FWG5uN2pUTnpkZWt5R2w2V09qT2NZa25rdHpsSDg0ZzdBMVR1MnVMRnZPZDV5K1hrckRVT3hUaVRqRDZuak5KRnFqM0ZTOXg3cElJU2tDTEZ2endxUTVGNU5sOVZYNGlzay9jL2VNTE5LSmJtdVVkSERmaDU2WXNPL1hKUkx0NmEvS2hQVU42Yk5pZjZoOS9WM09oaTFjMkI0N3d6b3pJREk1ZmFpMFJDWnEyaXRzdDg1TVM0NUZmazMyMVowbFhnOWpxREZMQnJiTFduSUNqVHFDblMvTmh4RSsySUxoUDJMMEhuZFF4VzJCVDZUeHgxWHJlSTd2SlJEWkZKbjF5V3ZKanhsUjdaRHZ6R3NySXJZc2N2WFdURFNaT3paMDBBMTJCU2twRTd3YlNuV0pCdmI2cW5qRkVQU3krZ0xDcG1oU3ExRnprdk9YVmNYYXVtUHBjaWhXcW1aa29FZTd4VHhZRGJYS2hPTTh0ZlJleWRCUlpmSFJKY2ZLZHlWSmpZa05HeWZzN0g5TG8wMmxTKzRQSEpnbXNaQmhPcU94Zm11Slk1TFltVFN0SFVNZWJ4SFEydmNVV0I1U3VDakNnL0FPTkw5ckYvUGhHNUkyRG1JMS80TmJYUDQ4VEdETFZKdVhlcGFVL0pKWFZ4clllMnA2Z3piOWs3L2EzYVlxQkQ3S1VrV1kxSEx2ZnQrNmEvbUxWekhCV25ERHZvc3hqMUJuUmlCU1pPQzEyem5xVmpmbVZDMzY2Yzdrc1IvUmhKWmU2LzlNWDVjU1VpZEJxUHlZL0pCMXM2OExGbnZQTzQ2Vi9qUk8rd1dKZnFXN1FZZEpqMTBmS2Zwa20rb1RxWjUrYmtaeVRJeTRkOXRGYWlHdi9nYU5nNzNkZzFVeG9WRTNETE0yYXJKdEZ5VWF3SnAraDNwajB4bEcxcE9aT0I5ZzhIVTcySGxGc01Ub0VaTVFFWm5BNnJhMnpwQlBrK0NqYTlPRmRCdWt0MFRsN1RVN0l3aitSL29jZjVTTVNNckVmclZ4TUtzZXl1OXJCRHIwSk5pYjE5ZjExVlNmbVVXaXdyRGY4enBFbFVPRWV0ZDN0bktWdDRmcmUrODZuTnNtRklWODk3Q2ZUWFZFUGpxTlEvcHZNRDQ1d1pZcGpZaUpQQkpUZkk5VTB5SStPbjV4cXdXNDFmdkw0cyt1TEpEbEdmQTY3bWFUR0gwZTBYdTVvaWp2bktEN1Y2OWFhQ3FPTVhyeUtuNjQwVm1CVGZlYy9NSzJ3Wnkrayt1K1BZYTZteUIxVjNkdUxPK29jby9ZRmRrNkNRSHQ1VVk2SGpmS1BkODBnN0FhZE52dmJDWTNXamRpYk02bWRNWUYyWGhMMEZSZm5HNnhJbm5EeFdqbHVMV1ZxSFFCMlk1ajFYL2NsMnFDNnBiK1h3YmsxQXhQNlFrNWdpa0ZtT2JFNmQ0c3V1eTYrMXQ4WmQ5cGJMMjd1RzRyUXpkNDlNTzhrd052UlhyRTFMOEhOc1JZVDVqUWZOWWZrd1B4MmJHblg5WFlWSzV3MCt4Ykd3WU5ldWtMdkcvK2dOK0dKR1dqR1hGbzRiOUIxYUZhTTZzRFArMnh0QXI1SnlVZUVDLytuWGhCWi9KTjMzdUtMUWtuTFNXR05FVmo1YWdGTnc0OW8rRktZMjFEamN1cjhtOFZsUXpkdnBLbytSNGFtVmJ3dkRlaFpkZndSWjFWY0lIQlo4NXo0VUlpdTVUUTFZV3pwQ2ZTVHd6NXNoUzNWR2JGVVZiRmZpTXNpV0lYRmRlL0xEWWg4b1BndEszNFB1SlN2dGxTNzViemQzOW8vbEJhUktSWGpNbDdsTkJ5QmJpVFk5UFRMR3ZDeTZsQ2w5WG0rYjlTanJhZ0hQdSthVXg3Sm1LbzJVdm5tRnJxWC9xcG5MbkZsOFRkM201M3gzNEc3eTRXTUxyWFVXL1BYclQ0TnE1QzJINmdJWFhQei9iZGNjQjBGdmpkTXFwNnhDTEowNnR2c2twRTYvZm4xT1luM05ZZVdrVXRkRnNxWEN1dlNpeGRSRm1jM3JwYUxCQTlTeHhyeWVneDcvMjNlUytJTkswaWQ1MDUwYmxENTdCUnNLL09KWGFLM2IwcWtuek96Vjd5aTJCb2d0ejRRNVRUOWtiTWpVOFZqOGpaMUw4cFVWNjBGT0JJNlZiOFhrSzRxRkY4a0t2MWJOQ1EzSUMwVEJIc2ZlSGRoM2tYbmQ5NHJFeTk3MmxwQm1MK01uV3EvOVRmN3REWmx2bDJ4US9wWWFwK2diOXlOZWdqL3lEWHRzd3o1dkYrdUpUb2VSLzkrK3FhVlNmTU02NHI4QlVFc0RCQlFBQUFBSUFOSlExMW9VU3hyVzBtZ0FBRWh6QUFBUUFBQUFiV1ZrYVdFdmFXMWhaMlV5TG5CdVo5UzhDVFNVYlJnL1BHMG9RM2FTTEtNa3laYUVMR0dHa2pWR0NOa2orNzVrS2V2WTIrejdlS01JMmZkOVN5cm05V2FiRUJLU0xVVFovdGVqOXozblc4NTN6dmYvenZlZDgvL2U4elQxenN4elAvZDlyYi9mZFYvM1JHaHBxTkFjWXorR1FxRm9ybC9EM2tTaERyTERId29xQ25pSG9aQ3ZFLzQ2Nm56TndBMkZZam1EL0Rsdy9lYnBaUlNLRzNVZHE2RHJuZlo5MU5adFVqL2owbkxPa1loVFpXekZOYmM4OE90UkVVbEpUdEtaOWhpKzNMcUNXckdGdGRpVzcxVGxQK3Jmekl3OXNTb1pVcGI0dkJyRi9iY3ROWTlsTkszWHJ6dlRUWHRiVFhsN3EvSjd3VTdqalJNL2ZqQXNlSjZzZEZEQzQyMVNLREFZRE5GSHBqZDRhVXRFbmZIalBlYXVycTdOWHpPWkszZjIxdS8wT1pBN3ZXVTZuU1d4eFlOS2VmMEtkSWRSS0p6MkY0M2Mvam03VS9MMDlQUU9EN290RDdhSmlMREhtQnF3Y0hROWxFdlhvRDk4d0c4OGZNWkh6QktGWnNWaXNlWDEzRlNmYTR2c0o2aUNVUG16R1ByTHlBUHpidUx4WTB5NGgreTBKOUFua1M4SjRyUVhhY3EwbUk1TVVLRHgrT3pHeVJVWW5aVFFuelArdVJvTmR4Z3FHMW5UWGVBZ1ZpalJYUGFoZzg5a2IwbmVmakVoM2pxQWZPcGI1SnloMVhINTY2VkE1S01MU2wrT1ByN0FRa3RoTmNTTlBHdnlGU044UnpXYWMxRXM0a1A0ZEJJTmNnZHRwUTE4Vjl1Y1RaeEFJUENMb3RtUldiaVdtZzdhY1ZFaEM0dWJ0Y2Q3REJ5SER3a1pVV2ZlUkNCZkVtamVmNW9xUmRmLytkNW5iQlRJdUtyb1lBcTQvVXlZUWpCOHh0Q1dwUUNmUlpqMUlSTnBGL24vODIwSFVmeVJCM0hhRXA1NzJQSU0rSFFXZHdqVlJrRWl0OExkY1Q4K1pZbWthOXh5UDQwdFA3bzJLSWZDK01waXhBWGRWbzVUUmk4UDlsQ0VHNUJsdjdJUmJGWmY0NEpuWTN4VmUwTFk3ajdHYmxEVzZSSXFHVytMRTZnaWlZTDIya2thZWZZZTNFUVZpejd1a2F2WDNTOExNa3BrbEdxYTdycUkxZE01WEthZ0lkS1U1UXVGemJrTGJLdy9FMlZkZlgweWhIQVkzcjJzRmhMcFhBMm1rNSt2cU0xa2srSzV0RGZKVjZzZHhQMW9MOHpKL2prMzVxRkNzRTJiWUMyaG1PaUJpVmZsaVZkdEVVSC9xaWlhN3hPblFkSDlhNjNPeHF4Rjg2MHVISkt4d2R4VURMSVNtQkZCV1BwdFRGSGRaTW1Va0xpNmtrUXFUaWhSaWUrcEF0L1RoN1lwUDNMbnBjRjhsN2JFak5UNEdIMU94aWkvRnFTT25XcmUyRkhoRW02akpQMEVZZnEyd1cwQzhVRzJLVzhzeGQ1TXUvTEhxL0t6UkluWi85VS9WNlBRVnVrUTNXV2hueEE2NFV4b01YMUFzZ21CYThVN0d0eXBkL1h6MW02d0VEdG1KQUNad3VtUm9KSVhvYzBpYUtZbzNEL3pIbkI5WDF3a0doWVNiNzdrenV6bFRkZG9FMEVQaDJJNjdROHJjTmVwWTRmb0ZISUc1N05ISGFlK2ZxVzRmUG15VFJWNWR0MzN1S0VrTVZoN09FV2hQQjFVVjZubS9mcXJZSDQrNW1sM2xxNkFXV0FnRjVkOFFIdWVacWF6dHplaG9VRldWNENaNmRpUnBOeWo2djFaODlMdXh1SDV1eTlXTHFkclRHenROcml3VDYzb1U4UW81enpzNzlleExETmdDenVBMCs1enJKcndHV3VZUXUvZHdKSWpGSUpuYWVndVhuTTNWcEZPVjg3V3V2cjhwa0tEU1JlSlJDOFhzRTA0emlWbjZ1UjB2TUtRNXZuTm84UDJMQzkxajRIZStzdnZYOVJzdmFpTy9aeWt4c2NXMThXR3B1QlA3QUdod2ZWQ1Y2QzZ1cnA1ZmYyU2REcHQ1NVFveEtvWkg5ZlAvRkVQNlIyRVpYOVRmcEQzSkw1blRIOVB2M05GaituSW5EdjdsU3RYaGtaSE8xcGFEc2o1YlQ2QUIzNysvQmwxLy83OUYzb0ZvQU1ZOFZwZS8wYXRhcXVPVVZzY2oyUGpFdS9UYnBCa2poWS9DQ1Bic0hCeVoydkRScHg5YzNmbmlvYW1wb3VQVDhUOHZGMjU0WVcxTGYraFNsbXZoR1AwRGhuTDViL20zSC9maXFLUTE2WnpLRnIyRHVmSDR4OXI1R2tMSmJyNCtVVWpqK3hKRk41Y0g3eXowcThwbjIxU3pKdlpDOWJBRnJhU1pSMG00cFJBS0pvWFFSOVNvSHR6NERrbEpTWFlYcm9HNWRKNFU5ZkVCRTlqd0U1azRON1d1QlllUDBCMk52YWFRRE5qUm95K1MvT01tSU9vUUdEVHJpZkN3OE0zZjB4VEIveWVPN3U5MXErNUg2NVhwbFNlOVZqTitybzZIUWxWVktEbFkxYmdvem80V3h0TEp0K0dpVWNyODFiYTB6bWNrNVhoamdvdUpVamNMcmY2VzF3ZGJLaytjSTh6VTg2L1ZiaHBPeWd6Y1BmRTBsaEQyKzZ1M0xGUVJTTFBvVTNSc3VkR1FuczJpanQ3d2FvMGJWZmxNbFg0bnJZTUQ1OHdHdXl3RkRQd3pVeDdybGd1NVk2aVRsV0pzTGs0dmVyRGNlclVST0tkZ01kVnZabnlPWG9GUENEWWVGVlpuL0d5VHMrSTRvN3dSRzZxUnhwNUpYVjE1L1BlNXZiYmd2WHdSMkxzbkFubnlpWVNZcXB4dzVKbkVtd2FjQ2RGaGp3VXk4OFFXYWZzSmFJTUM4TTJsc2FuWmpJRE96WGxkMDdmVFdDSzZtQzl3b2ZUdG15bU8vT3U0MlNmamJoaUZUblV5Z0Q4UDdnRkZUdFYvNmFFbnRSakNpRkVMQ1dYSjEwRHBqRXhPM3VOZG50N2M0WFgwOHZyY2JjbGcvKzJ6NFcvd3N4QTNRYzI2UlhEMm5oKzc4akJrdHlsUXgzSTFNRVV0MFVKRXZBWEtVRVVmUWhzeWZYWWZLTHduZVZmcTNjNU9EbGJ4ZFVOM08zd2s3bC9meGh4bEU3SHBHdEFGajBoSHRhV0xiajVjYzVkaElQMmxxOGZkcTEyMzhza1Vqdkd4ampIbWdMakVJdVluYVdxcTZ0N003T0tNc25EWFpYSlRaSStuLytFazRPanVWUndxRExHc3k2bXArY0dtTm5BVDU0UkRPTDQ3ZUxxb0ZGRVFVMjd2ODgzK3YwS01peWs2QmRmY3JoY3ZOanBodDJRY3FLLzFDYWlWYWhuRlVvQ0xmdnQvR1llSEJ4OExUamZzZ1BhRUxXaGN6aGFFbkM5d3JDaks0NXJwVWU0NlhOL251YlE4TENQbHBUdXU2RnJyZ2tHM3ZrTzNtSFhOcmM2ekxYRHNzcktMb0k1cEdWbXRua1llMmQwWlNtVUgwSFc4QUFzVloyeHc1d2VrTUhXMXBha3RQUVR2UHd0V1NGZSsyVGIzQWt0eGtWbCtrdVhRS3dsVFUzQ2c0WXVISlE1SktwS2g3T2VuN0JyWXZ2M203SHhNeDBEejN2eDhSNjh3dk1mUCsvbytOeURQMFlaYldCbVlSSjFmZk51c3BxeW5yRC94bUs2NEkwUDhOeGZjSjlFMmdzZGJZSDQxM1YxaUFXa3A1LzY0aXBWOCs3K3AyZjllUGRVd1dNblY0ODVodHFtaEptWEVISnllRUZvWU45ZzVXdStEWGU1ZU9rYmlyNk02RVRNNGw3a0M5endUZXl4QWlsQ09MTVVTNzZQSzMxU3FtWWFRZWJibGxYdmY5UTdZOFdxK3Z6bTQzN1RDSnV5bGVJa203WUlsaGcvdVRoNFhNMC9kV1pzZlI2eWxYZ2UyN0phYmV0UUJ0SHBDaU1oTUtac1hRR3dxck9jVHdqOFBxQ2xrL3grTFhwNFpuRE5HaU5hRUZPbzRvRTVkOE93YU9jKzc0alhKYk9pMWtjeW5mVVplcEVVdElxb1JKSmVYQ3daL2VQWGRrUEppZm1oZFpIekJNSnJYWDZtTDI3WGZLME1NS3Bqdnh1bzZVbUtFMUVla2phd1pNdXk0ZnVzdG1Ec3VBL0wvcmMrMXRKZlJva1hSWjBlSVRLY3lzcWZsNGFSU29kZitkR0dtYjJ5MHNjUXAxZW1EcExDR0ZsdCs4WEJ5c0hUSHFzK1gvUzQwaDRhUGZOQjJ1ZWQrNEFQajlMMm5YN3h2MjZlKzZ2ZkZzSTdHSk5zM1BLUEZXeTUxS2IyUTV1MmwvbkgxUHN0VndwMEJUeWM2R3dZTXY1bUw3V0pKdkIvamxkOS9zV3R6Mk9uWmMwSThxSTlpWHZFbVZpZ2lNZjdSSG5lRWF4ci9XWWhtNHUzMEQ1Q1duYnJFMWVQRlRWN3d6MWlEN0p4ZWpEclNjZnF0ckx1MWg2elRtQlpqbVE0WURNOGNyTEg4UVoyUHNyNExQYWtodnQxQWw0cm1OdTdUMzNsNWlYeGpOK1NMcjA4aXo1MHBLOW1VUlNrTU9vZ1ZPTlMyNnFNWkN6dkxUbWE0eG5SdHh2V2F6SnE0d3d1Y0U3TVROUVcxZjlxN0gydFVONHlSRlFvUDBBMHBwb29EdVorTU9QejJ1SDIyR1NRc250OW01dlEyTVNVajlwR1ozMFhPZ2kxbjk5L3lYQjBSUmdMN2RhTWltSFhYQkZMdS9ZSnAydVU1VUFPc3pLQTNPUE1RZG00MUZzL25tOUlSWHhva1dGelMyTnREeU5va0JDNjRvMG1WOEpEdnl0R3BETEFBdUpBbzRmZUZTaE1iQ0doQTBDeWpYaVFsVUVwM29LVS83SkFydEtISlpSaDBFT1VQVWFFRGIwb0cyN0Y1ZlV4OUEzQjVoTHl4UFpYRHgvRHdsdzQvcVIvdVBhelBtZTBrNzdWRUJWWHIxaXdSQTRQNzBpTUJWbUNJdmhBN2FnUXZOcVRHd2NGR1AyL2QvbGxFa3lPUTNBS1M5WElLNzJVQmFsK2ZLbXRWSERZSDFQTCtjUnZHemVleVN3VXdrMGx3aGxIbW5OMzl2SUtOeWtPNzdZVXUyZ0RVa1dpb29nTHEyZVhDOHdLK1V3akw1aGs0KzdVMlprZjNGbGFlSHF5NUs2SFcwaE1sNFY0cXJyUm5UdFRpNHUwVXl0SlZsMFJsUTg0QTNnL3Aza1ExeTg1MVhnTmVwRG0xL3ZzSlZ5OHZMeUs1M21vZ3BMeFVyZWsrTVVkQTExMERPNGVpWU1GcGFhZWhGQXk5Zk1ueTlUS3BuYkZWYjFMT1dHRWpMTWp6OSt5QUl4N2JXTWZPbC9MUmhzTzRNU213dkFQUklIL2ZlMndaV0xWbHlqOUFjZTY1V3dYT2l0UlUxUFQ4dkVqODhpQ0JOL1Q2K1pkMTdIQzRVZnFJS2lBa2dXcFJ4MVpxNnFxSk9YbHV5RFR1eHNqeVZPdFg4MnZadDFxVUVjYmo5Yzd3SXlyY1hSeWNuRnpDNGJwd0pJZ1FrakdQcDFkWVNEMTlMWGhIUFcvaDluSWRzUkVVSG5kSUR3WmhlU0JqQ1lscGZCU055alg5Zy91MkZoc2Vsc1VpcnZScThLbFdkKzcyUmdISUEwQzllcXFtNUdSVVJiSkptdlVzYTMwMWRCT3UremlxejFHMGp5QlpkVUNzZHpJdWhma3lndkNueUFtUU1ZRzZDRXBLUW1SRVBXa2hyc3JOS1phTlhlaXk1T0RFaFlBLzhFald6bzZqaGdXc2xBRXR3VHZDRE9hRW14a2tWQ1JoTE9MQndzQnBPVXVIWFB6WmNqVWxBVUhCd2NrVkNUKzNEd2p2a2prY25TSlNGRHpNbWFGeVFQVTIveTVjSEozZTFYVHlNU2tNeXphZ0UyTUlIRUlMSVVpeGV1eGh6RXJVTDZVM0d4OXdjbk5UVGFJNU5lZTM0UUZ3akxQeTdMUWkxbS9sNkVuRXdJN21qL1cxVjFKUzArZjJCZ1A3RnBxMm92dDZla1pFbnBxc0hXYStMNFpZck9WMzNpWHFVaXp1elR1cFc0ckpPYVNxcXB3WFlFaktJRFNBTHl1bHZiZm52cDVRVkc1NEdQcjlQUVpRRThyNi9PMzB0TFNzb2J0WFZIOEpCWnpNRURNaEZBMGlGR3ZJQlFRVDQ2dVFIZG9UeEEzZ2hFQldCZjFCbERyODRXOFk3OUN2M3ZybmNpS3pIRllXWXp5b2J0MzcyNytYai9mNkw4VkZoVkZEYXBFVXh5cUx0cDZscWVPdFlzR1I3elJIdE1Ba0ZGU1Z2WUlxa1lyV2Yva2M1TmlHRnIyWG1CWmdNVFNWaVN4ZVZVR0hhNEVOOEprUG1mdWJaOUY1TFFOdUttNm9TSCtTS2YrMFdjMlcwQjhIRVI3U3AzOS9XbTZYRXpKbFdqcW92bTNMc3loaWp3U3VqTFcrQUVmanE3SCtCdTl2YjByWFZ5Qm43bjJOaW1SK1VEU05raUxtaytoY3ppTE1KVExTNHJDaGd4QjNBL3k4L3M4VGluUW1VcHlFTWVYY3NnTGdOZ3gvOEYxWU4xNHZFVmVYcWVzaWZ2UlF5VDFTVWtFMS9vMmNMTEhVQWdKQzd0NGVvYko3MjNyaEVXRGY2NTR5M2hKZVdORzdEY0dwQTlJMXFiYTZMVEhoQklHU3VoR1dSS3NKc0RCTW1heUIrY1JUajh6TStPOXNYZ3FOallXZ2ZHK0RiR1F4eXpGVGdCQU54N2tPaHk5clB2UnBublpuNnR4YWZ4OGVNRDkrMUVGQmVmOTluWlBqVGNGZG9HeTROR0xpNHQ5U3h1aXlXcVdWSk9HQU9SNWFnY2lPRGVVTUNQb3lWYXVIVElldno3V1FmWXdydkhiSGgxTkY5enc5L0FJUmJBWklGMjJHT1VoTWxtcFJCOHJsUGkwOE9URVRtaFBVdFJBRkJEL0xUbUE2L08xcnFOUFFISHdPT01QZ2xLeXNyZ2MwZ01yZzJVWlRjOTRJSlhxL1Y4YU4rV3c1Y1lJN3V2QXNxRzRiM1BZazhPbUpFdnRMTVRaeldRNGMwQ0NvTkNiTDdPMCtMbFQzd09KVStnWEJ5RWFEMW9scWxZZlVTbzNCeElHMTNBS1Q2MnFrSkNRYzBCQUxLek92VzZVc3V1RkxYdWlIUGVJdVc5NWNuemdNamFWWjJUMGhFTlIycUMwS1ZrQ1FpdkViaHZ4MXRIUlUyQ3Myb1Y2Y0pXVWxRVXJaajlRNHp2VUwyN0cxdG5BUWl0S0M1Z0lpR0czWlJBWUxyQTFDS21nR2JCZ2NKWnlzb043blhHMGNzNlF4VkZoaTk0Qk5QRTk2M3Q2MzArWEFZTzlxeFVKRng1eENSenZuMk9hV21HcmRFQVdRcktCSlJDQmJNQnk0TklYUk13aTlmM2IxenpmSEFsaWs1VU9GbUxKQUFuQlhHRmN1Q0Jxd2IrbG51djlzNlR2L2dwYkxsdjlncDNFY3B0SnJMMFgxOU51S2FiUU5LN1NoSGpsMVNweVBBOWlZT0xxZjkxOFNhbWdGRUpET25LUkRmMUZuMjZnZ3h2endBTGdtR281azNmNWMxUHQrV2xMc1JaMzZYamo4MFJtcGNIMSsvMG1VeFFQSXcxUFZUckFVc1BRbUlPSXMxOUtXRGlZZm10Rkp3UTk2TUdsOXBSbW5LaHplOHB4bGNXQWwxZ1ZqSkM4aU52bWNqS3lFaktQM1BGc2tvUXhDY1FCbUc1ZHNSaW05akVhdXNad2lJSkV6aFVhQ3lFTVhDL0h6T29zVDJwaWhVUEJXNE5GN2VsSXRSYURSMGxoRVJyRzZaZXIzWWI5WlQrK21pdkRZZy9laHZ4b1ZFNWN1aEhUWklvM3d4aFNJS25PTURFaDJFT0tGbU9vaWZBZ1o1Y3lUUk56MVhOMlZuUWtCR05LREJHcC9UNkpEeVg2K1dFd251bi9WUzhxKzE1VmFCQUlKdXdJa2pkL3cwMzBhUDUvb3p6eUFuV0RtWkdlbm5SUFBVOUhMVS9ueFVSSFluc01mRzMySEZFcUNFQU5qSkowWDBGSis5bWdOQzJNTmFLWVQrU251L3pBREJrcVF5anRMQlBPYlBBb01ucjQvMlROSnByZFpDckVEbGtleVEwN3FBVjU1bjh6eHh4bHV5ZHVoVWlaeXpkL3FFS0RUUWk1L3loSTYzOXFwVGxOUHcvUWtYNXJNMDBQejNQaTVsZmZqV1FPeGM0TDBqdWNyUVQ0SUV2S0QrZ2RIU3pkTXAyNFNseG9oM2tmRHpsMDhCQ0tYcGF5VG9NdzlzTEErQ1NFOWk3UHU0Smx2ZnlleVg5S05wY0ZwZVVVdFprQWlqc0J4NXR6andUYWJIcWdrNXZxaTdvOTQxakdINk81TE1UQmZmTWwwOTl6NHFYRGdtcjlJYllwd0k1VGNyc1gyaXRSbjMwNCtaNGVoZkFJcnh4ZEQ2Y2tsLzB6ZVlJSktGaFVnd0dKTzR2L21Gby85dm5ObHNWRklZSDRZMitueFNJN01HcjloMUhEOXc0ZzZMRlU4TlBvYVBhd1BYSFVNV2NRc01wQjc0eU56eXV0b3dKb0hxd1RKWmpHU1phR3o2bTVFZmNxSXBGWUJybFJSVVhseGVBOEpFWmdsQmt6M1hvMHZhdDlnS1FnSnJ0TDArRHhFN1ZDZ2oyK3k1SWtvYVRaWHV0VHgra2Q1SkRpMlBKVVVQRzhORXcvLzZNQUxTM3Q4a1FiSlpCaFNMZHZ1ZWtQSDBBMXUzQkE4dkhPUU5DWVl4VjF2M2gyZnRvN1pXd2dvbmFVdkNHanVIcXdiY3FmR2hFUXBhSHg4YTRQSDJpWmNENTA0a3c0aFlLUGlzQzhwZFBEY20wdkJpdFhWMkNNNktJTDJiRGtHTkRhYVZLK1dRb2ZQUGRZNkVGUFQwOHRvVVNyUGdqeXpYRlpvcHh4ajN1bVRWUDQzSTNEYzIxTHRxTG5oY3h3V3NTcWg4aGRvZzM0UVErMk1BUlpxUEh4M2o2SGJudEUvbFlidXgvMGdEVmsyYkpIM2FjbkhmcXVkb1pZbzZldEtMTjlNWXllV0JWNmdSMTcrSFBBU2hFUzJCdnJRMFB6cW40M0JoWnJEZFpqak5Gc1dDZEdzQ1paRVdISmQvbmJ2NTZWc0hCa0twVHZJSlhDREJ6clh2WG5sa2NLMkRMbmFBcjZBNFRqYUplb3Y5NGIram5vT1NjTkNpaGl5WnBITmxVMHNYRmRvcXpZY2pUZWI0UU81MDJZWGREbkU4VGVqVzdma2YrOUl5blloMXVUbUhQcHVjSklzdGEzVG4rRUk3Y3ovMlA0VTNUR1gxakRXK3EzUVpjU052V0N0S21SMWVwWkVubnRuNllkcTlzaVQyUW9NQ01jdFM4T2cvbnR6VVpJdkhPWE5oN0MwRHZpQ0ZzbjQzYU43TXZzYjExYnMydU1vM1BJN0NvcTVjamdMQzdJRjJCVm5EeDVtUFRWb0hKTElZU0JYczI2VUo2QjVuU1VZalRiVk1VM3gwYysyUkJTTkRiYnVpekduQ3o3Nkx5czMzRDdudnlxcnBTK3NXcXdrWWx2bmovWFJUZks5N3R4YldqbE5MYWN2YmVicW5aVHZOWGdMSmJzTklZYjJRQUFlcWgzOWJQUFdNT1B5ZFdmWjkvRzM4K2dIUFNZa1B6d05pNlJLNFJnMHF2VDZsL3RvUnZ6UVhxQ1M1emtlK09IazI0SXhVb2pIYXY0VitidnF0K1VxRytMRWt3R1g1MDVtakJIVDJxN3drMThUM2RLczhSKzQ2NDRCNkdJYW56RGpJMENiQUVjQ2R6SjNUaXhwMDFsaVl0ektYdGVHcHhFT2wxNXY0Z0o2VGhKSXcvd255dFhXYTMxWkdjd3RzNUNQempZcGl4a1BOR2Q5dkNaRVVGSVYvbjVyU0pvbjRlWDBZZHFpeUJCSkFmTGR2aFBOYzVzeWJrYnF6U1lkSUczZ2JVOUF2dGk2d3grelVONEJJUlRTNUJGdStDakNBZXRhTHFHdGlBTHZFN3Z6REFmaVc3Y1FDcVRwbjh5K28xd2dza0huVytqSVhkTEk3djV4R3dJcjFzMDBkaDVUVzJtcE53STE1cG93TG5Bd0kyRUtNRkZiRWZlT2NaSndtUXlaaURmNndvd2MzQnhXWGg1c1FMTlRsYWpTTW50a0dzazhrT2srT1hIV1ZkWEI0d0FCWlFlS0ZjV2Y2UTlpY0NwYVVRZHZaa3g0d1BFWW5aakMrQWh2RklGY1V2WXlIaStQVVYvNGF6MGUvL2hwdUxsSFd4bEg0N3hMSko0d3ZQenIrWDE4eWYyZ0FPcVZCakdGOUxWRnZXVXNKUUpQQXlMY0dER0taVG90d1BWK0xZdWpheGRJMitwd2dZN2J3VnNtdW5Za2UrTGl4aXFnd0MzL3JsM0NVRWlrenh5ellMSDJDZGQ3TW5LZWYwS09hU3JBdkZCUzF2QU1NOWY4Y0tXcDgxOE9VZ1NrMHBXeTZveXZEQlVtZjVHeGh1akN2Nzl4cm9NL045N2IxY1dZSnlscEFoYXFSSWxxSFB0aG5zNjZpcmYweFlJQ2hEa1ZKOHovRDIzMXBEd1lia3BQLyt0WGp3M0Zhd2JrRGhsVCtubldpRW0zTU5jMjQxYTExYXVlOFJDZW93TlVJajVlVHRnK3podGtXUTFBSGkzQWhraWJJcnlyQStDdVpBbGZ1L0lBV0xLR3YvMHlWU0dzK2N5TzhZd0VBYk5Xb0VBNXZkNzdTaFNEd1JsL3oxWG51WW84RzdMa29GVEh2VFM0TUwxVXZjWWlyTmVuc0J5ZEwraThXMjlsdU1HaitFMWE0L0g3YWVDWjgxUG9DbjRtWTVSQmFHZWRoOEduaE5tSnZQTGlKNDBKWHZKa2xBMHRPS05JTnVuVHhsbkU2eTZOZVdRZ2dMYVhPUUZXNGlQcy9NRENNTVdnWUYzd2c3Umk3Tzh2eGJ4NFR1VkUxZEdLWHVWYXdIYmc1VDMxak1mQkF4MEIyU29EcDRRQi9nRzBpMGJ4bVpyWFpWT2p6MTFWaEU3ZngxQUQvdkx1MklucEp5anBrQ2x3Yk5Cd0UxZ3NybTJyZUxxSjhSUVZ3Zlg3OHJIMnN4UmFkNDlzbmg4MDdCaksyeFdndDVDRTkzbS9jL2ZWTnVQc09WeXV2alFvbm5FRUZpaXRNN0hRMzVKa3dxTklRdzhaYnZOSStDajNHWDV5bnl2K1U1TzExMlAwRmUvTWNJQzBjcm5uNFc5djEwV1N0QnpHajdPUEhub0VkVUpTQ0o5VVIzRXRLQk80THZ2NlJZWDZjcVUyOVhMTFFrdXpLU2lSOVdsWTZzVU1SKysvU1NjLyt0U0FUWGY0bWJPSHV1NkJMYWE3akt0N2xsRHJwNW5MVnIvMVpRcURHbWtiMThrU01UWldNRkNhb3Q0NDFXNzcyVzB2dnJOR2tkUFErZmk5dTNXNklJQVJYYmtDcGU1a0J4OVEyUDE4YU11WEliWUliQ2tQcDJYVEtuY0VSSnExV3dha3ZhblZ5UkpwZE11NUZjM3hTVWp6cFgyZUt1ZVVjSVkycE1tSTEyd1EzMWNxeXBxMkhrbDkrVHFJbXB5SmVTT0NaOE0rNDkwVSt6V01TK1RLcjYrRWJNUWFSMm4xdlNQcVhSL0ovQ1QyZi9kOHRyQXZ5V1J4WGRFQzVkTk9lVzEzMFRqdkpSY2hSbXVzNlN2eVJwNXpoeVVPd0YzTkE1OUZLZVpXdGxVT0JXRG16cmQ2b1FteG9iWnBwUlM4enFhaWE5VThML2pIVGhOSHl6WjRUNWtWU3VEdGN0bnl5RXRiYmdBc3dCb0RTUlBqZS9wa0xTOGZRVzNvWk9yOXFYZEVnWUhUckJhQXhaZ3l4OTZleWUyNUlBMHZaMHVmWVZtYjVUc3F0QUx5U3VLTkgwRW9VZ2dIakloQktGQU5mV3R2ZEdMUWJOUGFZSlFnTC8zZDBZc1JOaE1SZGphOVNqU3o4aGs0VU9lQUtqL1U2L0lHYlkzRjJGcjloaWwzSWdpczlJWEhsKzUzQTA0K0dFUTl5TUZrTHVaT0h2MngzczhtYjBJWXJicWVMaEpORENYQ0IvU3crT1pvbkRmRnhZbWxwZnBHcGZnaXp4UHU5czVnMjN3Yyt1KzFUVTFMUXNMRnhCcXRlQTVQWExhdlBEcGE1c2graTZlV0ZLbEEzQUhjWGFhY3NNTEFQQWxZOHYrWGxYQmRoK3JTcEpySWg2bmI1RFV6cWdiZGVTbE9yam1LL3ZGVmNvQWQ5RndnWkZ3SjBiN1UvdFFMRVRLRlcrLzRoODI1V0doVkVjZ1JCYk5FL2U1eGVmdGJZNWJ0MjZKY2FBZWxTbTNibEJ6S1JuMU9SdXo1cENvZGdLNDRNb2hFVzYwTXpxSXlCcUZoRTlkQXY5Z0V6OXgrSUJ5em1NT1RaNTgyMk11aCtSekxsN0U5aUhWZ2NGNTFBTjdpU2p6RXVDU2NtVTNGQS9IQVBVaGsyOGo1WUd0amFYcTJsckY0c0UySUJGVFY2elZ3Mm1LdjdIVGN1M1gySHlpUE5QZitRcGh5d09ReXR6RDlrMnEvWUlUNTdQRGNaNmFnaWtwRXVrYTJiYnNIRjFJUE4zZGxhTUlQc0RSbFh4UzNHKzh5MXRHdVlxTUt4dHVCMElLK2lYTnIzOVp3VkkrVVk1ekd2am50MEdaeGFTZ0RoYnliMWREVm91OEx2SDlqNlNvRll6NUExdnZlN2JpZjJGdnkzYTRycGxITGxpS1BiUXkySWlOTzYvRTJPQWdRSGRITllrd3hxbk5mYjQrYTVob05kYUdWKzFZZU40ZWcrTWhycmZXTm1Kdno1NmJLc0l5eTRzTzhFcVBXWXp0dEg2OFR0T1dkRjh0S2paNVhvamVnZlhTZHNTRHpHT0V5alkzUS82bjFVUGhHeFg4d0Y0OEoweTFpQmNZcWxUbjZ4MitMdHpWbzhaKytuMjJ4ODgwdWNMUW5rMytPNTBEVjN6aENTelpMSG5nQVc3cVF2dkcxeU14ZVkyMzJwbHBibmNFUk5nMHVFUUQ4R1NvYW5jYmNxc1RTa2hXcnJPcHN3clF3S1lxZWFhL2RucG00OWIrTVViLzUyVDlPOWU3UXhHcC8vVUM5RVpWUmd3czZIOWRZZlg0S0ZoMkhBTDF4QWE5UVZBYVQ3Q05XNGp3ait0R1NUbE9EQzd5cVY1R3F6OS9EVzNSazc3cS9GTFJ3R3Izb0dmOTN2Wkd6QzZZSVl6cmV1MTlNeEw2eWV5REQzbEZpV3RwaTA4TUNxVUVjUnJsQWJvUGVJSm5Dd2tVUVhnUEw4SGJaNmRFeVlLMVM2OHNQbStkSU0xSEJsQnBUd1ZjdzVKdGswVlpTU3lSdUd5TW8rbXNqRjhtais5dFRxYnZrNmtva21mcTVWMU12ZU4xNzlHbnM1Nm94Y0x3VXJVekpIeEQxZXNoVnBLMTJTa2F6Sk5KUTFIcmlxQjJQR1Y2MWZqeUxzekg5S2dyNWtsdS83a2c3Z2RMVzhzeXgyT25taXNkSUlXaUh2VjBuWS9FQkVyWVhmL0ZyM2Zvakc4cWdFaXE1anM4dkJ3aXdBSUVlNExNMk1TTVFvSTdMY1VlbS9GU0JZV2E4ZjcyeHU1RFRhcm1PT3FtcFMzbi9YMElNUGNGejVNUVEyT24zamdEQ29mTU9GK0xGQnMzdGdBc0FOWGQySGt1RUNKbVNkZHdDa2pSYVorTWNEQnc2N0lJd1Brb2dBdHZabFovekdCc0FMUTdWa1dWbFYzOFUwR0U1SDVZWVRsRjh5RmhBQ0ZQMTRIWHY3ZG1WS0Q3dkxoSU85NFVxSkt0aFJUNnVHOEw2dUtSRFNVckE2VEdLWkU2Nnk0TlF5N0xDSHVPVCtpaFdRWXd2bGRndXRkS0hVNFc2bEhEUkdkbVpoQkV4bTdudlIyYTlJSDljRXVEUW5iR1RBZEZ6TEtpL1VGa214MGhyMktIQ1ZtbUJnTmxQeXZzZlZ6Q2FJZ0xYZExzMlBLYmNja2VyWS8rUU8xcnZvNmloVmEzTDdLSkVNWm9nWmVrMkNYZnk0Z2F3UElRcTZLQS84OE9GeDUzQ1paOUdHNGhNdlJFWWUwbmtDaVM2anZxazVNekxsOExDeFN4cVhIQVlNdkZqQXppQ1VRWXpjYTJKM3JRMi80RjRUWk5BcUVTWVhrMjU2SVM0bzdmdnpmRVRWeG9ZL2xESVc4alg3VDM0U1oybWZkeEU1K0xXTktSZEY3UGgveGZrbHZkQjhIMUNCTTljYTlhSUxPYUh1bmx3SW5mK3QvZm9kM3grOGpFU2FRRlJJZkF3U04yNVBiL3N5YUdmNWJaenhydEQ1d1IvSWM2Ui8xSDQwa3BYLzc5Uk1DemtER01HaG54SUt6dy81c1dpei9NMmorU2FDcWQvbUduUnNTdXpxcVNCK043RktDUElTK0dPeVM0dFQ2emQ4UngySUZBZU5JSktVZWh0WkN4NXpCVkdCcmo2d0FzM3ZkSVdhMUt3c0pYT3ZLNVNNeEdoeEFEeGxBRm5pYk0vNm1WdXpIQS9pcFZlUFNzWE9LSnNoS2IyeGdpSHRUZ2UrVDZuUzhuTUFRYlk0UW5aNTArK0dCV0ltSXgxU3lZTUhBQVNDOTc4c2QwTVR1dHZLSEZsOWxCeGdMWVorTEF3a05lNUIvRDQ3UDVqK211ZHgwdVhtNStEMnlkbXdyMVdTR3FuV2pJcm0ydVpmTnA3WllMZW5JbGlOdmI4eW9QeHBBbG1FTDdJRGlWR1J1QUpiQmVNUnUxdlA3N3JQNUk5VlRDYURCZW5sSCtlRGpOeXQ3eWJodVBBaDQvVzB1cjNyODQybXAybHVvZ29BeWdQVDZjZnVQaFN3REtUYzhFNjBZUUptR3VaNjd1TXdGSU92WVMxTWFEMDBlTVFtakhOMFE1YUFFV0FMUkhtSk8vNEVrSllNVUM4WXA4VHhXQUZadXhBUWQ0cWFzYVJvTUN2d2QvVExCcXFYUVlxcVFaMzdEWU9EVW1UMDl5MngrNDNBWncrck1lSzhzeWc2VGNjOEs3a1VSZzVaQmNJZis2UzUrS1Z1WUYxNWFNWGMyS1Z5QU05UDdCWDhBc3BsMVBYTGx5QmREVUcwdXgvYXJFZ1UzNmU4bzU5Q01MRXFnM0F6UVk0bDl6cU5SckVYcnE1VFl3Tm5CK3N6L2REYUdLQjJDQVA0VS9MeTh2eUphdDYrdVhpb3FMRVhBRHlBbDF2UFptS3dDTFVWN2dNa0JmTmpkWGVHUGo0clJmNmo3YVorM2k2a3AwaDRFdVZEYzBkSFIzUjN3dk9obzNSeVZ2c3JtSHhjWXhPNGFtYStUMTVZeC9UcVVtM1FNYUQ1VEp0eUUyTStEMzBUdU5mZ29OSmtqakJkMWh0aGhsaUR6SUJrbDM5MUYwVzdPcHlOVzhmb043ZTREdkY1T0Rndzl0LzU0djNseW9Hbi9kMUJSblhrTFZKcExGZjh4b0VGZEY3cGliT3lmWTB3cTRSVHFkOW00YUhTbktkUENvdG1MN2QxcWNOb0t1Q2o0dUw0NWVBV21pbWlGalZ4amlTdlNCWFlaWkdTQ1lJSWYwd0lIc0tsOG10QnRtbHFVdlNEUXBScW9xTUsrVzRxYmRTSGdzZ0NVd2hkN1Z2dmwxRk9vUGtmc2d4NE5SZlF0Wi9VZ1NRYzlDT3QwY2tCYkpoanV6MXdLRUdkeUNLcHAvdTNJU3hCbG05a1lvRnFnRHNuTkFzc242ZUs5bHRiN21URWZac0NDUU1xVFpRek5UYm1LMHprdFNVcko1Ykl6enh5OFpTQzlBRThMYWVCd2RIWjE5ZkNJQXYveVM3WElCaitWMytmM3Exd1oyelIxMEJJOWdaV1dsQ3JycTZmUk05Y3lML01qMDlGTmdoWXJaM01IQUw5b0hpKys0K1B2VDlLNENpZ0VPOVVXdXplSVM4T0Jzcldha1ljUHZWMUJ2cHZ6VTdDeFZ2T3FSWDM0bWp2THNNYzR1TGc4RHQ2ZTROcnZrZDVGR21mMHRpK0JiVXNLUXBscDlGTFdaUE5QcHpwaEpwNzg5Y1RvL2YzSnk4aURFL3hkNkJhNC9JeUI1QkxnL0JEbzVDV2dTWVYvVDA4L1RmREM3TWFwNS9VUER3eTN3UktTTnhtdHBMRnV2b1B2UkFaQU44VS85LzA1VEFGaktVVmdvbXhoaEZpY0tOczlQZFJEbzM1OHRuV3hkZ1JaeGRURCtMNnMrczcvajVJRlNnN0V0Nys3Y0J3ZW9Mb29DVWpiaHpOOWxwNWFuSTVWZW9jV2ZaVmc0Q1d2aWt2TnJKcEhvMzA2TDNYejU3Rk1sZVlINEIyUWkyd1pnMEw5M0dsK2w4OWliUHl4U2w3RW1Wa1VxQk50MEVFZmpZRkw5YzUrL2YwZlB1Yk1ucXlrUDFFT0VjTjFTek41bmQ1SWNiMThXZzA5c1VJVGRTd2t6RWdvSE5OdlFJSXMwajRDbHJQdWVncFNOK29McUE5bzYvTVFWSkdsZDV1TjB4NlVydlQzMGltTlQ3OUZqcXdKL3lYbmNRUXRpdXlFT3F5WXRJZVMrdXJFeDRRSnJlSGg0NlVuYzRSQVlGRWFFdGYvWnJRT1VEYzU5Z2c2Y0FDajB6NDBORjI5dkFwZ2kwa21sTC9oV2JLcHRndTY5dFU1WU5EenkwK2hvOXdybmFxY1pUbmlTR09LenlWSzBJSnF1c1JRdkZ2aGRMV0YyQ21kM0gzVThiMHpZME50eElPbWl4c1JaWHdROEhGMzF2K09aK1ZlL3JaR0p5ZVMzYjhlbVhRMzBsaUFhd3JKZjZBcThGcndSUmxET2VRZ2l0aTQ3K2xtRnRRZGdMMkkzWUs1L21vTjZxUE5mSkxzRUJNVEs3MjRlR20vMGIxdFlLQlE4U0NFbzlPNk1ha3Bldnkzb0RDN0FSaEM1Qm5XT0ptcDdjVkFDczA2d0FrN1NmU3pQZkNkaHRyR2p3K1F3cS9HZ0dSdUZhdzBIbUw1YWYzMlZSTlRRaHFWWVRaWHlqYzBoM0lwWVNhT2FSQ3BPT2owQnI1L1gvMUt3UlE1NG5pUXRvTzhyWmVFRXZXQ0ZZSDR6OEliOWZZbzI4ZjB0WU5EMDg1dlhLZEFsY3RmbE1sV2UzM3c4aWdHNEErSnFNQUc4eHAzNmZoTGNEUWtpU0gvTVAvY3VTUWtkZXZEZFZVcEtxcVZwZDEwWTJmcnJuNU5oU3hRdC92YWlhQjZpS0g5aWoydnRkMUNDYTAyYTBXbU5aeEpleHF3SlZ0MktGakhLaCtBYWRVU29TdXpVTzluTFFIV2Zka01BTVE4TXZQUGhIVWxjZlJIb0VEQzBzZlA5UW9hYUQ3Z21jQ0VWb09aN0ZaR2pvOGE2QXN4SnVVZnhlRWdwWVczWjMyTy83UmQ4amc4azhoQS9Xa0E2UEVERUEvZER0c3ZBejRIWEE3Yjcwd3IyUThlN1JQOVptVlk3cm1SdzNreUU3UTN4VHFaOFlPZktTa2s5djJhZWpvOTJJeEE0TUZvWFY5ZWdxQ2pxdGEyZG1zd1JQTDdobHY0cmlHMkdoVWg0QXdrZ0cyOEM4Y2VPaFFhaGNiVkZFTUhlaW5BUDJOUGJGWDRhRzN0cmthbkd0K3kvTjNhc3Nubm5BVkJUWkh1dWFXZkJhWWhNRGk2YUYwc3pOakdCaU9DZFFkbTcrcmwyTVJpVlk1dVNKbFJmVnhlRlJMUFBuMUdRaFZKeVcxdzRnQzRhR1JtOUdYalNiZGthT2tVd1FRMUs4eGlXR0JTOENodThMSFhsQ2xKQm5sbEZvb2hFcEg0ZDl0VmpqSFU2d1lVVFdVNzRjYTR2YkVoVkRhZHRhYnNDV0JiWkJnWHZIQndjQkhqS0Z0ZFZvbU01TFgyNE50WmRPZ2FjMUxBd0xDZUhGK2s4b3FTa1JJclJpNHRDcXMrZkdMMVFkODlFeVZOa2pGVEdBR2MyS1E2Zm1yTHcyMXcrQUlSVDhzcVZ0ais3MkpBYjdja0JmVUhjbkZjNHhNY2E3bE8yaVNETkNJNVZqMVdmV3haRVdCa2dIVXB1RVJRMDJ1MnZkQVc2KzF6ZDNBNmhTcmYrR2w4cS9qR29nYjNvWE1oSVBOeCtvWTUyKzFMWUpNd3hrZ2hHZ0FSRFNLcVFMU0EyUUs1bjJYUTFaczNQeDZScklOR0UrdGZpWXBGUjF2c05md0RvSUtMUDQzdTdseHNEZGdTRWw0bjN1ZXYvcXBlVTQ0bFg3VFpkbmVzL3U3MnpGSmo0L0YzYjZCVnplMlh2MTgrOWU1ZGxOR09mMDFWYzJmM1ZHemdadUxjUmlPZ2F2RlVqejAzWWhzQkNRMC8zOCtmUFplVFd0WDdOMHROYmtCWWhTK2FRbXQrL3AwRzNQYm9nWW1ZdUR5cXFNRlJQc0N6V0t3QWdCQUlGVXkvOW1OYy9oL1MvYlo0cUNRMmUvY1VwbVAvemJaZFMrVWNpcTJlSjBYMjZ3NEF4WUUxYzhnSFlRcjJuckc2aVZHVVEwVm5DMWZnTzlaUWluVStnQThoR0JzczMvSDQwVlZjM1Z6bU5PL3Y2UnNMTUFwcUU2OWphbTIvUVM3U09zcHBYOXN6MFpxNlFuWm9tNVBkVzVWYzJtdlpPM2I5L0gyRVRmQkVJcjFvYVl4Y2lGb1cvb0NUeUg3TW5kMExvZ1ZtM0tLSTd5eDIyVE9ZanE1dllHRXNCQVlBdWh4dUFsenM2T1UzN2l0UVc5YVlKblhSSWxwS1V2QXF6SytRdG1rZmlHcUFhQ09lY2JtdGVPR3hCUjViQ3M2eHF6YTZpZVF6VlFjUTRqWTBuZXVYM2tEM2d6TGNYazlGaXlXaFBUMC9VOXF3Sk9OcHJoOXV4NDBnV01BS0tIejhsMXhpNDkrOGU3VkRvY090RnVkYW9ob2lFNlBHQUxmVVAxdDNXWlNqdXUvR2d6T0Y0WHNVSCtrUHFSdlU2TDVsdXZtUkMwbnpnYm5TM0phYk80RTlCdVVlUjQybCsvbjZOVC9XREpQMDRLMTYzNDlVVG5JNGI3ak9kM1J0Q1M0RUMzYWY1bi9TOW1ZUW5YazZGVDZ1bHZtUFh4RW0xeDgySVZraUhiTlBlYnQyMjVaMzluZC9zL1B6NnZpalJreGt6M1ZZVGVIeDg4Sm5VOTN4Lzl1UDU3SnlpbFhNb2VjNXVCNUpPNmJ6VWRYWjNEMEZjZUROdWIvTzQzNjhmUjBEaUl1bzZDZHBMRzF2Z1VVZ3kydnJwendWenFnejd2clNVWXlTVUEzbUdlbnRpSWh0OU1XTW1lM3pKQWdKM2ZwNDVzd0Y5QU9CcGtTdkthbmZUYitVbytXbmE4K1kyUmFibTJtN2tkcmhPR3hJdFhjQWZXQ1VLK3A0NWtLdnI2cDVXaUVPY0FRVEFmL2NHSVNIYVNPaXNjT3hrZjFQU2dvdVhWempJMHlCVktUcVVqdldIZ2J0eDR1aEZwRkYwYlk0UkVSa0FCcDdVOTJOMkYyd2xVbUY2blFEeGtBckwwZ2FFVEhUYjFaZTZpb0Q3Z0ZCN0NMVTM2NVU0cCtYYXd0TVE4TUdSSm1EbzBjckR5eTZPdlJWRFJibWFvZmtwb0gwSFF1RGdBdTlQRmF3d3NoTWNmMWdCYVdFR2NBVmdGTUxrcDArZlBzL09YdlBNSVRoU3JoVFRtWVR0cnEzcENnbVBMM2lhR1NSd29LU2p6TmdnRVVqS3lMUUR0QUR2MHRwSHZWbjVBa0R2S1lJUEFJU3hiS2JydDdyZndDblRxd1JBLzZYdWs0SjNzVjBXdzBIY25UY0lxRE1DeVpXR0Z3ek1aVWZ5SDdkM0JPckZhNjljb2o4VGg2U3YxWUYrSUFHUW5NTE1Qb085QXF5QytKWElha1B5WnpoVGl4RVNFbHFleVF4OE96M2VOYlhTY0NDcERESXFBclYydGpaS05jTFl1Q2EyR2psTWZjSEo5cmFhOXRvUTJKMXdBazNoYk15YWtwc05pSWk4WUw1Zk9nUVM5MWFBK0ZMM213S3JlbDYvUWhVWmw5Zi8wSUc4VWF2RzRoR0Q3WG5VTzU4U21iRTNLM2dpREUxTWJFTzhCQmZNMm1HUEx2bjdHOFJJZ0IvVG9kS2Y4dWxOYmx2S2NPWUFUZ0x3bHBlWFYxMWQ3UzJDY21mUkxzaTUrZktONFFuSXU3UXA3a2dsNDlvSFMzb2Q2K0xpWWlzUERaTDVrOTRaUklyY2hnTHhXc1dEMCtYNm9pZ2QzVjBtWTlsa3RhOWpydXRSQjV1SnBzdEpKVmJvazFqaEtGRE9rWGVHS0RXNkMxUjM3OTUxdFZlQ0xKNnRWVDJZejlOcERiZ1BVUlE4UFRFeHNWVFh4MTNFNnROVTNzMXpJQlNJTzdvRmVDQTBVbnpZWnplNGFNTm4zYVVSSmdLSUQ1VFQ1MWcxZlZXcnBMZkZsSHRRdVh0bTFhYkNFR25naWxIbVp6b21nbGFpWlI4ZEhsYW9NSXpYd1hmWVA1azFkK2lWYllycWRIMjNkWUt5amJHUUUxaGowS1NRL1FUOThJVGpRMGdpQU9aN3poVkJKUHg0anhtQ3kxaFhwWVBVaForQWlXRldycWdYODdYSE9jOXViMDRxT3Y2N3p4a2tHQ3pVcWJQWktOeDExNzNPR09JT1hFRGphanF2UFV2YStYdk92Vy9PL2N0M3lKRkI3dElYNmpTSmNXZS9PUkZlRmt4MGpMVE8yQTZ2L3Y3bndjcXpCWUlOMHJ4WnpMMkl1V2ZBd2g1RG9kYVBCZGFVMS8vNG9sUjdxeTNRamZXYjhLNWhZUUxIRXNyVTBaOUtPMExIdlJ2a0F2RFpZRTh4dXBmdVRFZEhkZFNFTXhXeTVlSm83NzBpY3h5d21DU0hPVnppN0MybGdwS3h2UE1PaEkrbUhiNUNFeWtzdllWMkpTOHVCUWZMUjVpd0F2MCtUeWh3NGVsVUpsRFg2OStUL1JUSmJjalI3dnJkL05lYXdWWU13eWlUdWZXMWFyeUM3aFRUZkNMaFhFR2xROCtaOGFtZlhDWUNKcDg0dWg0dWJaVmVVV1FpTVJpZkl6blRWeTB0bS9iaVBBSllZaGE4M3pVU2JDcis2VWlsSXdtOHB6NUVZcWNqeG1JM0d4dVgyanlNZjVVWlpNN2VsZFVvVDlKWWF6MHBGK1pjR0ZXOUUzTExrb2JMYlhPb2RZdFY0U3lIV091UmN1dFRaVlFxWloydUlaazZhNys2WXVMTWhyaDlwZXhKM0w1SG9oU3ZWbS9xdXJQbmJUYmF6QkVLbUVXWFhITGlKYWNFckRxUEJNOXVSaTlMUkFtTlRIUkZmL2hOSlovcDg1Q1BYV3V5a3BwTDVaTW5tZzBySEhlQkhXdG5tZnd5Y2NLQjg0cjZSUTZSMWlybkpIcGpBV0lxYjcyZzN5Y1hBamYzNGxuSGlaYjBNa09aZG92ZVkyd3VsMFNzSTZoUFJ3VlI3cnYwN0pIM1crS2NPNEdiclNjMnlyb0N4Rmg1bEl4bWpRZmpMN3UwM01JekF5RjhTQVNPa1d2N0ZxK1RzeFVWMndJcEJwaTZhM09ldnFpZVRJWitpNGZlb09hbUtOSDRZdFFBLzlId2FKcytiN1dDNC9TRkxLQUdhb08xYm1scFQzTzlXeTA2cklyb0ttdENTNnE1eUV1MjcrZFVNMmNBdzU0Q0ZzU2QyRE42MitDU255QThhYUZEM1Y2NDFnaTBZR1VBeGc1WlhzeituZDFIUXFYV3UzbnBvNzI1OUMwMkEwbTBpTTkzaUxKamhVMUpvVUxzaXBOQ3VTNFcvSngyMHVtdEhzWUd6MjZvM1dHK0pOYis0eHNnaG4vUEtRQlJCY3lLUGpUeExjZmNwUkxBTENRTVpKc1RLVHZNcklyWkVENGFidTAwQ3Q0U3lsMklUQllxTXhUQUx0TmZnUG0wYTVRd0Y0em9DVENEczFxV0RWT09Yc2F1U1FPeFpWaEw0dHV5U3YyVmVXV2dlVldtWm50cmRQUVU4SGpCbmljRmJkWmxCdkJ0d09rY1hGdzVIKzkxRDFDU0s1ZU94T2dLaEtvK0QwSWFJUHJ6TkJFc2U2K0NIWEcwZ2VrdE9lRE95TzZGdmNUMHZlS2llVVg4eHlHaFo4dTdrTjRqT3pDcXp4bkVrdFcrKy9SWWwvMTc0Z0tDdWVWUmQrUEFUWmFxZDcrbzQ2aDVpRE1JUjd2bXpqMWxzWGdXbTFkUVpCNEQzQjhRNFRURDhwL1NaNlVEYitwN3hYN3hMNjVTRUhPUUNnckE4SE1Wc1ZPb1RXMGEzWkJvZ0VGK3U5c25rQW9Dd0hLakkzcjk0b2NWdUxrS2dJZCsvYXJNZ21FTVZ1b0l5Tkh4ZWNoMWdRL1FJWkJ3b0pDWEwxOEc0VUhVY21WUks5SEhWaGgyQU82SmpZMkZpR24xYXhWMzRmcXFZZUtmZGx3R0poTjUzaUlyY3owNzNDZTJhTHpHZTZibjc0U0ZoYlVGNGkxdlBHRGJUbFo5cmlYSUFueVIvOVk5NXRIVGZ3N09EWHBBYUVUU2Z0UDJEMm81Lzk4aE96disvNVUxUk5oanZpamVnOFJUWFYrUHJSdE5lSGpHOElGZy9UOHlxQnB1TWdoSXNLZlZXd2FBQzRUSzF3NG5jMjJKTjE4aWpmbWIyNzh1MGg0L3JpMlV1QlR2RUhjbEU4MklGUTZIaE1hRHNYeEh6ZWlDZTk0YXpJMkxXRnplbURIbWJ5c1RKMjdScEtyeDJVaWthdUh4Q1RMRmcwaVQvclRyQ2ZDRURuUDZTQ0ozdWtZTzBIY0F6Y2pSQWNpb01yMVBMM0FSejJUckZXVHZIeHRTMG1hS1ZrWWE1eEcwL09VTFZ1aHVvSmZYMlo3a0tNZDR4NnJ6WFU3QW5CV3pVU2dSOUNFWUZTamhzRDBMREF4eUJaVXAwTDF4akFlSzBOYW05TTg4SW9pa1hKK2xYeC9ZMldwdEJOSDBzbHhJZlAvSy9EVlNZcjVYb08zVWdsd3kvczM1Myt1dnNnNXQ2MTk4UHVvSUFTa3BOd0lFQmplemhSMUFsZUt2UmtmUktTQTQvcEphZXpTamFELzIzU2FLKzdZWXdKT1ZCZkpsNUZ6RDJiTm5rU05BM2pJSnZZR1FlNHZpZ2RiLzZiMHplS3FFeDB1OUx0Y1Z5RFlTbW9JRmcwSEIrcDkydy9YbXgxZmlKVDZxZ3llc3Nhd2ZpT05INmM4QVZyRjVIOUlUSFhWSlJWejlxZDBqeVZpMzRwKzR0Y1lldW43VmpvTU9rSVJMcDYvSzVGS2RKUFpnMzMybjQxRXBmMDA0OG5kdS83bjlGcVFTOUFta3hzSVZ1UDBRS1VCOXZHY213OWt6aFE0bkFxL1hLd2hGVGxEY3V6UlVHWFB6NWVtODdraXIyUTQwWTA4cDZtb1JDWk03VHh1dUpDVjdPZlY5SzNJS2lHZndEdjNNQlVkbVE0d3EwdDkyUHVueUN4Mm1hZ1lMVnVRWVNma2xEdHBweVNPOXE1eEdJb2xIT1NmMGFNYzNrRDFSVjllREtMQm5aUC9Dc3c1cFVLZ3hhcnlNWjI0T3hwaG56QUE3ak82eVFJY3IxVVR2REJiZldkbGFhcHI2OHVVd3BIdzIydkNMY2U4ckhZQ0lUaUtOcjB3NHdDc2RLeXVpbmw1ZTA4MGFLOVhBcWZMelcxMDREREtSZm0vZzRJQTNQR2RDN2pZUkZsclhyeEROd2dsUFdySVUxbHBaNGxsWkQ1M2UycEViV1pEWVB3OFh1clFGRUZHcGVMRE5SanpJZ1h6YzJsYm0rZTNtVWtFd0tWTng5dXhSeDU2UEZ1UUZDWWdJWDZxcHRSTXhNbzZuNjBjS0pNZis3UTJQazk5dFJqcU1BYlN1K1RiYzd6ZlA2ZnJtdzVueW5tOTN2VGl3MitvYjdoRnlXRVFIajd0TTBKK3JISnp2SG5qNjlDa2pKSHFwcXg4ckhiNS8vdzRhYnQ3d2Q1YytoYVk0Rk4wMVJWa3dlVER0YjlWblRCUTB4RXM4aW1FT1NGTTVJRjJrNmFWNFVFazZQY0g0RkJCVnBPR1hkU2xQSTUwWm14aTBXWDU4dTNvNTZyTVc0SDlCRmlzREYrUEI2ZWEzem5iS2NFUFpjRHVnSFlEL2lCRWl2RnVhWTNXek1hN0Y5RUZCUWNGOTZ1SVlaZDdoVU41YXJmMWRKVFkwUmFsRTEvRHdDUTFOVGF1K0pHVHpXeVZXOUdnUTZyMDFJNGdVOEdpQ1ZmZTlGOWhuZ2tpaC9UMzdveE5uVklPUFV4d0MvTlVzam13cmZWbjFBZWpNVFdWNVdhSGc0eFBqSXoyeGw1TThPQ2FKY3NscWZRdWUyZnZJR0ppWjlrdGRaR09ibitsTGg4bGhtcy9Gam1CaFgwS2JJSktqK3BZMldNUFFadnVJOHMwS0x6eHZyc3I4VlppK1c4ZXF6UEMzdngycnJBaDB6TmRrZTVGenZNRFFab3IyOTR1elNEWnZhbmxJRHlzRmIybVUreUtWck1qVXQ5SlJzd3hJZDc0NE83QTJDbHIxL2k5NTdqMmxTR2NQWE93eExJdGVZNUloczI5Zi9ObjdDbTVCRFE0T3VpcGZsMGh0WUJWdlg2Vy9JR0krK2l5Z0tTNmdLZENKSnQ0cW80NHRVWXlEMW1wZUZaNmNyWFZWTGpQeDBCVmNZZ3hJTFVaNWRtT3JOTHJXeW1DanMwU2NuVWFxRW90MlpaNVJqeDRrbk94dmZhMVFiZ2d6c3NPTWVFeEswdGFPTGphd0hDWjlvMitVeGJ1ckJWVVAzYytnN0NuTm1wZit2U1AzOTF4NS9Za3ducnUrMkx0ZFE1VTBJSk1qZXlWZFBJWmkyT2Rhb3RiWVY1aVR4alI2NkFUbVlBdGNUMFJTY3YvU3huVEpRZS9YNW9VelBtaDZyUEFEQ0xRS2NUV1BRdThHQVc0N2J4bDJTNUNaMVVzVXR5clZMODU2S3BVZkw4U0M2L2ZZTVprOXdIMHJtRVpZZGkvcGtlaThQcmFRdHVSVlBSdUJuZllNa2N3bi9mRld1ZWRRNWM0WHQ2b1huMC9RWDBET2g4UVFxRlAxTjNnTnhhNFV2YjdGOEg1N1VoUTNjUjVJd0N2VmxJbFVHdy85bjk3V0Ryd0hIOXBNUjFRMmgxREdLRyt3eWdZcWJzcXQ1ckl5a3I2SjJOQVZKbmNaL2RXbVlCblBveVN6cS9PekpuK0VhWEtGaTN5dkxESjBobURqc2QvNzZtYUkvdXF3bC9hNVZWRWZ5NFJzSFUwODJWemIvZVJmaW50SU9PeXh3b2VGL3pUL1Z6eFAvRDkxMnpkMzZkRHFBNC8yR0pEZFFqMUpUYlc4L3EwTDdPZ1R5S0Z0MVgvYlhGOUVFbEVvSnR6alB3Zk1DVitwTGkybUlxdnY1V0VYSHZKUS9GOWlKVGJQWVlKM0NsQWk2Um84dTh4M0dKSGxKQXEwNHVnTzd3KzNab2xSQ1hIS1I0NGozeHJidjJIMnBkRmc2SlFrY05xTWhKdWRQUC8xQXN3bzBPd2ZqdHJ3UDZ5d1BOS2xBdmVlZkxmaC82ZUd1Q1czcGl0dzVNOGhzSjVwa1dRMVU3TEVmazlUc1g4OUlyQ3YyR0NjZExyeS9tbk9oN1lwZlI2bmZNRXRBU0w5T2RrQmtYMUtzaytjSmlXMzRXY0owdXFjd3RpQXliVTF2M3VYOHQ5RHRFekgrbnFteFFDdUhFQUI0SUtNbXpIVG5VV2ZRUlN6MjFiMlRuM2Q1ZGdVZmZybnI1UW5rbm56eS9kOTFlZVhhMjk4UzNNa0wzMFRIWmhPSzJxYnR4dGQ4WGRZTi9uaFVZWEdhUytPeWxNZFBLeUFhaE41MUR1alhhaUhsT1pkYTlBTmVnVm1Zc2tRSEhVRm1BR3FiRGJ1Y2R1RWVFbW1heXpKMXN4S2tBN3BsKytVYXQ1TG5ocDYxdklxVGxhRnRLZlN4TFZCS1dXWGFyQ1Y1c0ZCOXRWSUhMMjdKcmY2UWZ2bWpIakVUT1gxQkovZDY1bjlIdDcraFhXSjNuZWlGamN1MUJjZjZHa3FscmZLaktzSk5IcDl0RmVFNUhFS2tpSGdIT0NpZ0NKL0F6RGY1NFhoVmdhdkhiYTYzSm53b2ZuNXh6M1paWk53dHQ5S3lNSzhFZjZOdWFjL3pFbHZaNWowUzljdlBwSE9JLytzODQzMmtJSjEvemIwOHJ0enV5SFJlL1RDQ0IrSE0xRUJaMG5aSnZKRlAwYjErY0huL1hOcXA3b2diYmlHdkJpS3lNL2Y4T1R3dXJxYXdaL0t4bXJCT1BXdHNHZCtzU1JRV0ZNMlZuMUhWcmJqUm5xL3o1Wng0dUNnOU5UV3lMY3pPN1ZSMUl3VFM3MTJEZ3p5ckdSQzkrbmFvalp4ZFg0Rk9yWEw2KzJJdW53WkpwU1NIVlZWbUpHZk1lQ0lsMEpNVXM5QmVxZWtQb0t6aUlKOU1GVE15WEplekZnb2JqVGdCRm1tZWFaa3huM0FQOE0xOXNtbWNVTkNJcHQ0TlczeG52b2VQRmc2VFllV3dqaDZ5YTVnNDJad05xc0Q0NGRERXlVblNVdFJtWE9rSzUwR1ZYYys4S21yRXdlckhJdnZqQWdWK1BxRFVrVXpjcHJxMTdaR0xEaUZhd3Nicng4STVreFp2ekxKZFpyZVFjRGsvb0RtSjdWbnVLYXpLMjRleWVsRmIvT0YvT29mN0ZvTjFIeVcrazE5eCt2WjZjWkd2YmdsdTZqQ3JSbzY0M09SeEcwMk5QdmlEZnFUN1JGeUpUak50ZWNhN2JXWnl6NG0zOUxrUEp2STdocDM1bDNBd01ocjkzMGpQY0RRZnZ3MnZDdThMajI5TmRLemNEbUZtVmhqeHRuaFlWeGpaWFNtejRleTByNmd5Nklxc1BEL29DK1pNUHlTbDg3cDllM0JPYSs2QzAyM0dvc0x4K3dhODdEVWZoZXVHR0JqZHBkRktaKzEvNHdibmVFN3F6c2hOZU9lek5mcHNabmVVUDdYSFY2bmxUVEhzdE83RkpsdWFQS3k3d1FvcHVHcm5hWGVqVTZ4aHlvMEd6a3lYMk43VkRFNFBvOVh4ZE1sdldiSk0zdHBidVVPTStKemc5d09qZi9kOW50eS83YXRrVmQvVC9YWTV4eFdFSW14T3hqQm1KaGw0bHNZZm5waml4ME1hdjVIblMvTi9JL2FHNU9TbFhNYmEwenp6aHFEMCtzVkh6WWJLMzJMd1JUczFBMXE1N0hhVEZJU0ZzTXZCVlpwdjRySzM0bFg5NTlBQ1h0cDNOcXBNNzY3ZjIrYVkvL1MzTG1CaWJTaW5ubTc5QVpkdTBQamczcE40ejZGMTBtMzNiZXFPUmxNUDZ3Tm5ENU5hdDhjdU5BUEx5c2VLdGNuNSsxSzhFZmlIT1JVNGlxdXowemlnaWtLT1dkU0dVbVZFMXVEbnNOdnNscFllV1FwN2dnL084M3kzVmRLUmlWdytDKzNrc2Y3OFE4NWRmWi9NNGordHVOQ2tXNlhYRjhkaXlEb0llM2xmMExxaUc5cU9SL0tnYlBJUTFHY3EwN0Q1dnk1eUZKUFkrWWVvMnNEQzBrUmhJeW9DK3psOFFNclFRMnpTUU1yLzcyeG50cy85OVNRc1hYRDV4NFZZZEdDRkpEZ3I3YVNsdUR2U0Jid2k5WHo0T1M4cjNGcjVZcnBtNzhjSUUyZTFLeS9Iblg1dm90Q1hJQjhmY1BtV0QwMTFrakVXMjJUc0hoL3pPVmRYZUNtUy90Z1dRWlo0SUx2cXp3T3BVODFkeVFFc2IxZW4vYTQzQVRqZkY3aHRtTHUwN29VeDFVUDlyN3FNdVR6cTU5K2REMFZ5SVdFNFNlY3ZwL3NmSXpodGxyOWRVb0YxUGpHeEpZYzhBZGRmUHhsMUlaUWRFLzlyOTdhSkFvRjV5VytGL25IY05wWitRTGk2bEUwL0dVWnR6K0Y4am1TdWFrV2Q4NHZucys0dStiU0ZpYzZqL245YkNCNTJhSnJOSEJZOHlkcFNvZko2cXZjVkN4djBTV2JNWC9XQ3FIUXFyajc2aDlHTk5kazVLenQ2WlVvSEk2QjZLUjdqRkFkSit1WHRvQmV0azNRNVpDb0ZPaUFEL0x1Y3c5Z3FNYURWclA2WVVOTlNOOEZDcGhEcGNOKzM4TitXM3BHZlo5dFN0aC95Y09VamNMZE9KRjFENWRabjhONmd6NU5wamQ0U2hKRzNUOGs1SjF4VmlrMjF4YnlSSmdaOTcrSGpzNzk4a3RzZUxUVDlMUEl2c2JoOURDbjgvalJCM1dXQ3dsMTk4MHhYMjIvN3NtYjVlWTRWWkVUenFnK3ExNmlybjY2MGZKNEdNZkdyYUI2TDhvOW5TcE1JaXRmNjhHalBERk42MkVmaHUvb1gyNE5vdk5VWDRRc3hyQm96L1doSkhKOCs5VkpsZERUN0F5VWxHV1VpbjR0VHlmNGlsc2hZUUZZaC94Vm90OXVMeEc4djhrSWs1cHdUcnExalJxNlJnNDF3UXAzMjB1MG1ZcGNiUnBYcVJ0RitvV3J5S0ZtYkd4eFhmcUNMTTQxUnN0Yk8xVGhiVnA0NW01TGh2eDhEQWN0THgxVjg4eHFJVjJPK3VDMVFZbGtOUkUyZE4rY2U1K05lSis5aENnYkdzSEJxZTlSS0pOaTFvZFhVU1FicHBSY2hYN3hkbk5STEliK2NMQkNvM1VaNVRXT05qdTJQbzlzcHZPYWJ5Vk85eFVKdTlYcERWck5yTHhlTlNkMHZRb2VIYitqRklqaFdaSGxqZ2hyVjJnVitzUlRKSkhYZnc1NCtyZDE2WC8zaGMyazB5ZUJ3UWtsVW5QR2hjdlNlQzU2WGFIckJrVCs0dU05L3NRZWZwWW8rRGNRUVlEUVNiMHp6bldqVkJUQmhLNnBONVppU1BuR3RZYkQzVmhGaHBOeU9aNk9vT3lmdnZGQVJodzRDSUIxeUd1aGlnYzBOVFdCUndLNzc1OTdScVlKYndPQkFjTlhVVkc1bHRjUFF2bStvSy95SXUyZTJ2ZlA3VWxPUHhJZXpYUm9MSDArYksxK1BNWi9kUE1kNS9HQ1IzL3pPVDBiaXZYNWZwTkR3T1hhSTZ5U2VmSEU2VnlIZ0dGaEZtcEkxdTUxeGtEdVpXUms5bjhGWS92WHhaTjdhbnlIMVBzbDJ5Zis4ajltb0phbkE0d0g4cnFNbkJ3UmlEdGNOMTltZmJ4WFVuS1dGMGZSTkRodnRuOW9FaXdXay9wZWNkQWpSSkdIMWxiL1lhdjQ2aThPTU9jRno1TWY3ekZQdTU2QUM5WUNyNk9PckUrN1F5cjRIYXRPQmpSeEZlcFJ3MW9CbGNEcjArN0RVUjBIOC9OZE53bjFGTDJpczNvYmJ5TlUybDhtVEQ2UEx0UEpYcjV4LzBTN25YZjMvT05IbTJORE40ZzhlMGYzZ2taN0ZsVlNjanpPR3hiZ3AvM2trSE4xWUZrTEN4Y1F2Y1J4eVUvKy9Na0NtbitwRzZtRUp0cm9oS1FuV3NKc3lRdElIUWMrUW5ienNyVk1nMFNUMVZBb3VjempvRCtZQTh3RVpnVkU4UG5Ob3k5MWp3RXQvM2NMNWtuM2FTS0ovLzZKVjUrMm1RUnNLd3hCcjlVMU5Rb0F6U29NY1FVZkZadkd1K3dsTElUZm01YzBPMHRpZ1QvQmV3RFUrdnNaWTJOamdSaitPZVR6Nk5wcHVnaXNIcUZUK3VGVTdRekpyMWlpNVpXWFBpdUQyMGpzUnluUGlXTDFRREtGWGl2K3ZQNWptck1XdTlyTHZBMkRFbWFaR1E4YndKY1lyQjlKdEtoSnZpTjJEdHVIVFRnVHJNc2kvT1RpOXZjLzNyK25RV3BiOXlvaXI1MHVMYzBmNXp0dktwR2FQWTdzWnJtUmtjTFNzZENEblZPaVVVSzhqNmxhSjBUODVMalFiYzAyNGpCcEZTRFBVMU84c0RURFFoWTdTVlR6MUVyejBrYXgwWGxqVmg4eGdpVlN6a1B1UjBiWHlBdnVNRy94UlRQVVBybVZRMTRvM2VpWVdza3lMRFNYNFR5RUN0ZUNNZXROaEh2UG41Q3ZlMFYveGRWVTdzUFI3KzN4NUViTHk2RjFHWXhmblkrVk5YYmxYeWo3cXZRRUhhSFVYRWJvZEdNYTdsM1kwRnE1NlZhN3dMR3dsVFp5ZFBtTnlNM3FFSGZHalkwTkRxR2FoZ2FrV2FsNE1KakluM2JDZk9iOWE3dEFVQi93WUMxK3BJUHpseDhuNGh2aTdNdS8vTUNkQUJyWEZpbjFpMi82eWFFcERtM3VCSWlucWdOTi9TbFhQZXFJemRFR3cvU1c0UVNmM3pXcEh5ZG1WUmdXVGs1TUhJQXg0Rm1neVNRMVBvZ3FZSHg3RTg1c1lMdnBHcFFRTU1BUS90VFI0SjFzTGFySDEwSzJ3QU1oQ0gxWDk0a1ZzbUJNQzdtRi9WR3FIamd2dy94UDc0MW1tVWJqVW50YWgrbmRockdkY1BGdzYrLzlhYjVwblprTFRNTjY1MmxYZTFOanZZSThacjZQZk4xb3IzVDdzdlk3bmFPc1NOMmw0cmZlalB2b3ZSVFREMGt3Q1hCMWJ6Ky85dEhSVTQ2T2pzdElhV2gxcHBjL1h2VzdBaDFaN1A3RkYwNHJTc05uL3B6VEFQdEVEcEtEeTBaMllNTGFlQTQrUkVFc1FYNW9KaTBqbzdSa3cxc0d3aWFFSFloQ3lIWlFadUJ1dDNLVEZqK0VTOUU1a05leWI4UDVzZEFPODRjcjN1OEdmMDczc0g1WjlmbHpJQWFraFd3UDUyVUdLSW9sWXdWWmdudG5MTXovY2F6U0ZtUkJmcnJtMC9pNGhWaHkxczJYM0hSVUtCVG1NWlV1SHNkTmQxV0ViVnQ1ay85REZQT3JlaTY5ODVzZUcxNjNGYzBDR3RNem5HWnM5YjNTdjFZdXlORE5mNzNiN3oxd2FuVkEvTlRXbWttWjNXcmh4Q1g3OGNxbFhmVXVKL1laNWJpd2o5OFV2MXVPaW1yRWdhVDg2K01EU3gxZUwzQVUzdGUrZmNySjQxT3RSR0huQ2dpcjN3UHloZVU3b0RYN0o4Ti9rcDJRem4wUW1lcHpodjJmSFZwUkhZMVdML0RVTHJzNmZCNlVGeGNYaDN3aFVmZ084dHRISzk3Z2dzdXJ2ZkpUOG51L2pzdjViYUx3ZUlPaEdpTWg4RS90NHNGc1czYmxIUG8vWnhqZlRvc3g0UlJnYmZ2Tmk4cmNkSjh4dC8rcE1tT3prVWdWdkhlQkpZb05UVUYxK0tDa3RIUXIwa0N6dlRXK3B3eUVySGZtZG5KcVFGT2NuOXp4S25KTXQyV1FZV0dZU1hGNGVEZ2w2aXJtOFZXSlZOeHBoZ21SWThaWFFoUGVoZjB6NTJiZGVFdHZhT0NrYVJYM0NETm0ySzk3NzJpZDUvY2lyMzZaK3ZpOWp6UDFnKzJaZ2UwYkthYzhmVGFjK25NM3kwWTVGbG9QWWEvRmRHYTBMVnJWT3UycENSOUlvU1QxUU9LVHBKNENrMForSVFoQ1lONzkyQzRMd2NTZStHOXA1S0tNczArUDJnbkNjamk1dUxTRkVnLzRYZnFucTZ1cnVyNGVLWnNodlhnMjRtK24zR3VNSUorQUcwRTRCcEhKakRsV1JZRjU2QXNpNS9qTHlRNGhiV2JlRFNZL1ZRbkRGNEYzd1Rkc0tneTFtSTZrNUNLZFlLeXNySC9xZDZFOTA2MFFCa3ZGT0dnbjFuMUJvTWc1czlUM20vZEJGamRmaHZnMjBPTHhOWStHYmp4QVY5ZmNmQm4vc09KMzM0cDcwenVUSXl2VEtwZDB2di9PaVJ0S0dOMTcxcitTdkM2clp6RmFXYXpVZGVOcHUxS1gzUDlvN01yam9XeWp0Z3BaaG15VlhhWWgyMnVMeWI2VGRVSm9FbVBYMk5ka3I2d3o5aldFUktTc1NjaWViTW5XNU5WWVFuYXk3MXYwM1kvZTc0L3Z2Ky81emUrWDZ2RXM5em5uT3RkMW4vcyswMHY0N2tZanVKZWNQRzFCZlNST1dBS09JWTAvV21WbEc1L2RYNlBaYUtkNTNBck5jSUdvT0FoODNuZzV4VnFHTTU2ZWdoUVlXMm9yVk9YYWFNbG5mbEpsbVVqSHFpK1lNK1pFRDIvdk1LaUc4dnMzKzZJM2F3WGF1VDFUMlNZT0pPVlpUMmhIRndnbkp2V1cxdFp6ckxIa0FxbFVSWU1DejNwNXJTdVluU1ExTTZGM2VtTUU3YUFyTlJITDZRZmtDMXBCMk4ydE0rTXAzVGJ0c1d1UHMrVm1qWVVuYWtLcmRrQUNKQUVrSk1NeXBkdk9xTmdZK3l6Q1VoUm5LZm81ejhqRGVKckoza1k4R3lVOW1PYVlsdTdrcTI4MzJHWDdMaTludzFjT0lKb1pJY1h3Y2JzWDNodFZlRnZoa1V6Mlp1TXJoZU5neFpxckpyWlY5VWd4Yjk1WGtwbUtsY093cUx4MXRCWmE1MWdmZHd1aGdUSVpkNU1zNForU0hIZWFtNjV4ZURneDdtVGkyeGN3NW5BMEd0TzZ1UEhjNWJ5VDZ3LzhrbGZtdElVTnpJMmpYS3pRYlZJaFNBUWsrVDZCZysxRnhwTzk1aitUOFlvblNwWERZYU1yYzh2VTRvZlRHOHlBaHdBNC9IaVlHdkpCbTZ6SlBqRGhPMVNiSUdEZCtYaVpxQ2EzdDFPcVdDclFNVFRVNjNkTXpxOVgrWnJBRXo4T0RsNjgzNUdpelhNSi85MVJFdkNMaGJxK25YOXcrdlFFQUViTE81b0ZobEJPQlNlQm5Mb2tVMUltd2s0THJjd0NlSlhlYTcrY3V1aFREN0VuazJKTkJBTkFLbjNqSGJhSGJ3YlNjakpzdi82Z0lUOEhQVzRNdDgyeVQzMEZXZ2dRMzc5ZFY4RG5zdXpMcUtKRVRWSUExUURGV3l6ZDJ3WFZXYVM5aGJOdjdSZ3MrT0UwWHByUlN3Syt1TFFUZk52ajN5K1p3SGdnOVl1eXhrS2Ywd25UZzZNdTI3UHFCai8zanVpcHd0SC82dkNzZHVuWXJuWUxzMk5uRy8yS2ZRWFhKRGMrMU1oWm9OWXZMUzhLZXgwS0tTN3NtZkt2MldUMThqY1JGVDl4OXk1Nnk4eWFYZ0paeWRmWDl5TklxckJXS09LRkx0bjBQeDVkaWJCaWRsNnZKbVBSS2JwSmNLMkJ5R2xtTHgyTVBCRlZDUFVoTXhJSWQ1ZHlQcnF3c3VGTEY2dVIyR3NQVHREblkwclgxYWZjTWlsdWx4VG1HODBINlh6UU1SZDhCaFl0cGRqZlBkNWFXTUExc3NBSm9vbzJJRmtCU2d5TUZhc1JxaW9MbUJld0dJaUdVcE5veWhaZWVIVlh0MFlPUUNLUXdFMUx5VnRGb1JlTTFhQ0hrV2RnZSt5djc2S3FSbDBBeTJPT2FGRzdDanozVXZUcEN2Qyt2ZFNHRzZFdEpMMzJ5ZDNOZS83eXd1a2F1Y1g2ZktUR3hnQWpwemFrMHF6MmpvNmZUaktKU2R3ays2NEdWeXNZNzFXN0NoZzVFeFZ3Zi9HSzNBbXlzMmR1Qm93dUN6WVI2LzhrakR0QjZWQWJnaTJ0aFptYjU4S1pRRVFWbGpnK2kxQ0RRNnR1elRBWU9HdnNwMWxQS3duV2lrNGxtQU5KY1VTaUpaSjBKZ2lrc0FWdkdlZVlpK3BXNVZweW5QUGVoQWN2cUhJM2ZMTm95anFuV3dJVklxMll3Zjh2N1Bndis0RUVLZ3F6YWZjOWF4SDloSDRZMTI0dGRLVXF0SFBheWtibnFBUmcxM2hDS1hFcGQzU2xqRW5zK3BxellGLzh4WjdjTXdJRTFBTkZRSDFDV3FCOTdmMkRuclV6UjdlRjB3aEFRaXp0QU0vNGdLUllvVS91dGZmdzk0OXlSbllUMzVvSlMyZk9uNXh3Z3VFOURzNGhxekVpUTdMVHFoSWZBRTBGRUlDZGkrdHFXdmZHRC9wRmJ0emVTMHk1MSt3ZGJUM2VlUEp3UHo1dkZVd3NXb2hjYnlCQmx4Y1l1SmJxSDVmWDE1NGFYOFpuU3B0NTRzTEMzRDhUZDYrcU1NVEtSektGQmxON3ByRkZQSm4xN0JJY1F3dDFUSVlCMkFBNUJhU1NnOEErUVcxQm5FaGdjZW8vRjMvODJqc3lXNDZDVWRkK2NmQ1M4TXEwWGxBMllLTGxTZ2pJMWp6TEVpaWVraTk3NVJZTWI5cUlFZG5UWXF2TW9JeDdmZXRGaGEvY2M3ZERIaFViWnZMeWIxMk1QeVVVbk9ZeEYvRWRVSUhIdWdMbkxoVXpQVzBEZ095RG1YRGZYRzVSQVdCQXdBc0FhWmZrTU1xWldWNk9rYitVb1V1KzRjdmVQY3NBT1AyZjQ3VkhVSmVWRndUczI3UW5QcFhHVEdTNStyaTlBR2xGeGZ1eHNONUV2eFA3U2hhUWxnRko0ZVRrL0hCSnA5VEVKazlyQzhGQW50YmRic1g2YlExd2pZbzBUZUlEd05PNlM2NXRWZHJzSEttR0JKYTdkQ2dzb25hVHNKOGo5YXc1bU5RbnpRMjZVbGYzamhJMUVlNUJRYkVnSlpXRlNHZWpBQmhMODdydFdnNVZYZmhkVmRQbEt3ZWlUSkNuQXkrS0UzdVVxSjhlbm1LTHd6TGVhSjdvdjFjakdQV0pSZUxmOC9nTFd0UkthcW9JS2UrbURDVjgwRGRmSFBaclpCK2pGaHY5aFlyeHo5VjVhblUrRlNlZGdMV3ZycTZDOExSaUpqY3lubjFMYVN3SGZLY2tpRHVJckJjcU40RkFUMW9GSk95MGo2V2N2UHdHUmlRYkZia1h4djBPb0FyVWNtblIrME5RVG45bnlEMEdqNmpjUWdJV1pMNjRRSVYrOVluTkE3bkxjbGZGSFZHcXI1eTVScnJTU0Q5N1A4SkpHZEF3YnJIcmFDNExnamZXMUN3SkpTNkZseTFKU1VzL2VlVUFjbXlMSlYxUjBkVDJObE9HYnNRT0RjclJIdDNlcTBXaHlRM3o3SXkycThlTDZpTmJlVU56K2FoK3VONG9MRTk2Y3BzcC9Mckk1NitHRTNrTENXWFpmVldNckNNN09ocXBPSEtXTzErRzBsR0ZRSVVLOHVkNUsvVGliOU1OWDNtbk5vNERlc0src2t2anVmaDF2amFsK2FTZk5jQnh2OThDMGdib2cxejlueUhZL05RWGRKZm8rVGFmQW03OUhRMHkyYTY3dm9jNGxTcFpxREtKUlpmZHFhdy9MUkhXMTh1Q1ZNY2NjUWE4ZlBnZ0gwekZOdlk5TzlNdnVLRXFjV0pwQndRUFBWNk5McnJkRnpPYnB6MUZkeXFxcldyTlBKOEk1dlJITG5wL3lZQ2M1NkhxQ25EcjFoRFlYcDJSaGhlWExSOS9tTEtnQ1luZ1lwTHQ4cHZBUFJsY3NTV2NIVlArME80aXF0ajNWNEFjcDQwRXF3ZnpZeHo1SWhWeWtJeGVsYzI2V2NKSDNXQW9RR1VjNWhWRVVWSHFJc2MyZGVlYlBKQzd1NlRxTHcxZUYwWHA4b2JxOHJaZTFINVN6di9od29VTDBJNE93STBnQ2loMHFmYmtmSGdDMEVNU2VxMGdSVW5vaGI1eW9BaFhFUklIRHNESFJBV2RXcWpJU05qMGxUdnRwUFNNK21uaVY2bWMvdW1haWVCVzREYXZCdmdCRXdlL096ek0wdGZmWDh0VmRFL2xXYTVuYmN6bzZEMGdzNEYyQnBMNVhRZnZwZWpKNVdYbmx6cG0vbEtJWFJwZ2RYWW16VUtsS1JrU1FVbllhL0l3WmdGNmFwa01xelF5cGZuRSswOWdZdUVpbjRjWXUxNVVaeVhSbUhiZGpycFdlcUplZnBhZUJNNmxKdkhhQXY2UHlYVE5JY2VPam16RHR3K0xySGhzeVFCMnVZNnEwQit4ZmVialVTV0FKUkJrSHVHR2FkM2hnSW02Uy9VNEZLUnEyeFdRc0RuY0FKSU5ZRG0wY3RMYnUyMVlNYm85NUhveVVIS0E4UURlQTJ2OU9YWC8yYXZTTUNkTk9kMkN1YlcxTmNCNTdpWTgwK1dGMXI5RFBTZ0JFa3k2cDFmeEdxMGhMa1Y3K0ViaXJPdkhOQm94Tjh1Sk5zcmxZVzNjeWd3MCtOQXpMRktibGdsTE9UL1dyU21zYmt1MU9EeUNUd0lmL0ZFOU5DK2pLc0xBSXFhcnFwSFRvY1hOQ21lMXoxUDlwSnFJY0ZZVjczbE9JN2Fsdk56cWVQT2VUTDhEc2sxbXFob3RSRWRCU2hmZkNVRXhSTjcrcnNYVDVFM09ndjlZMi9QN3c4cnd4dEFlVmxEQ29GVUxxTzB0eGVNd0FOaVR5Yk9iVG90N2dNWnUrTWFvNUg0Y1JHdlZFRlo4N2pLcTJwWk5ySGtKZUJVUFd0OEtPKzBpQmszSG9GQ29oRjc3akFWRG5JNnhNVFJGOUFqUUg0Qi9uUEhuUWNvSmI4Nms4am1tdUh1TklaSk1Td0pCUzJYTHAvVlFxZmw2YzhxS0hMTjlDV05rMUFpcFFiM1NjNHByVnRTQ243aFBkTlZVWVJZSnVlSUJObTFMU0tLdGFJMUxVOU1EamRneWw0R3NZVHNONXpvZkVrSHVsL3A4MEI2STB5MG84NHAvOEFCOUYrcmlOQkdmY2hrQmJsbEZBbjEyYjB6d0MvSFpSY0JVQWMvZVg1ODhGM3d3ZS9uMzc2Mytydyt5dTY3dGNOQkdBcllBbFdTRTA0QytNWEcwVFlnTGtlTkpPVkFOYjM3YXpRTXlHd09lOUcrakNmRERXcC9PSHM3eHZ2N0tVM0JqeDZvb1FBcUduVHNXaVVhbXp5a2lCNDlGKzhzUjdBeHVISkJIc3ZlY1JSV0tMSnR6c3diOXNrQ3dtTnpsTkxHcHJxY2xjVjdvNVNRckRpN2QvWGVJZks3MmFqOCsrMFpyR2MzR1NMYlp0WENYVDVPaWdOWVI1YnBzeFVIWVREQnhESnpXYWdBOFVtZlJFMTRFWWNBUVEzdVMyRGs0UElaMHd5YldicGFhUUwxM3k1YUV2aVBlS1ZlSjhnbnhPaHBqMmFleW90c2JLR1ltcVNKYlNacWVmbjVZUHdZc0xXaHNtOXcxYzhQbS9TWkc4OG5ydHFaVC93b2Jvd3BtYkx2WU5IRDVzTTVyR1ZaNnV6RWlXNlB0UjdYeEg1OTUxNEdhQmNrS2hwQ21Oc2RuSTFmcFhhVFk1eHh6bnIycW9MdE5pc2UwMTNITnFHOGVCTEwzNlJ1bkZnZWFQbkc4bDdDZmVzajlTWWtUd2NwRmFjeHY5MHlDTFZ6bHlWRU9xbEN6Y0lBaXNqWHJsZTRnS3EyYjV3NG10blBhakxSM2FRZWVxdTFSM1YxM1g5OWY5TDg0UnZROER6V1BIcFhpWVYrS2FjS21aOXRXbzNjY3FuVGVISmg1OGRuZFRyZkozaCtVNHl4R1drVFpmbTNjOEc4MHc4YnMva01mMjB5eDlRcHJPNFBIcXNIcFFmWkZlWTNOblVSM0VnS1RDc1BFclhCdFgxYy9BclZ2eHR0a1d1cFpkVXZBUWZpcEpCaVJMRmVkWS9vdUt0S3oxV3F0VVhJNjM3Z3JMaVNvcVU1WmJyQmZyalNudXRhaWZZdWI5YmU1M05XNVlQV3J6ajZFMjgxekUvajhqNjROVTJ0SVA4dnYyV3N6cHRYU2ZTcytYaG11bTRhNFNZYUs3VnJqaFJBRkk2RllnWmVHckpVTHBYVHRINWUyK2Fma1h4emZCaWdCWE1pemxuM05hOEMxcG5aNTMxSlVxZFpNQTU3NHVHeEpWeHZucmZiU1lIdzZ6S2UxUUlpdk9DRTVPMDA3Q1lZUGVnTE5Xc2wreXVKV09hdGJlZi9Na091UzMrRmRCTWRjYW4ydEJRRTM0aUNkMVhIUVczZWg4c09PSkl4OVI1WC9zN1gvK3F1dG5vNjBPVzNkclNEOEJqMCtOeWJkSXZpQVRDSG5BbEIyS3o2WkEyZ3VMaTZDWTlYNjluWmJaaE9ocjJicTVvQUVMNXlBOVM0SVdYNVZ3bmhZajJCak9DSUJ3WWtRZXF2RlpjWExrbWRRU1MySlRxU3N2QncyUW40aTRORmtKbnlYai85N0o5MFNCaWNZdE5YNWhoaHk1YmxPVUpTa2NvOU5jRndGWTZjS3FYSUp0azdMeVliWFU0S3oyUHhPNldGK1RtbFI5alBGajNleU5ZUXV0YzdPOGdDUUJ3Zy9Oc1lCa2daZ2lsSXAzN0FTSkw5VEhmVnkyUTBDVkdTUHdEOURuWW96ZEZXTWpYZW5FcTUxdUM0bk9Xc3VVeU1JQ1FsREpQV1hhMnMvcG1wS2xGQ1puU2t1TnRpNFQyLzk2anc5amFsZTVnNEZJaW8vVlhHd1FmUStIazMvL01GeFZNYkZ1YVhLVVhQdk8rbU5TSGl1eDdmcWJDSTJjNHZvQUcvek1STytER0l0TGk3dUJSOFZQSkVpVWduOHpiR0tkYzFHUmVYV3Q0Y0pKMkUrN25vRmh0RGNNNkRIZTBjQWNkZjlHNEdZeWd4ZStaeUhZUGx2bEp6ZnJ2SzRvcnFZeG42YnRGZGx2ZWRYNmZHbncwZGcxOTlZSkdKeEdRejFXS01ldTBHdEJxeXcwaTZyekJuQnhuYmh0M1dyYVhRVjMvWmYvNUNpdkJXa3dBVnVDenlETWRhbnZwZXNHYnVGSkRFN0RCUmxkamNRbFFtdVFMKzF2MHBIZ1U3Nk5oOWpvVElWQU1LVmt2S00vVG5IK2JMTFZkUlRKM0FTMzVkQ1JTMld3c1AvbEJrUy9TNStIa3FlRDR0aDlaTm8weVhUem1hcTRYdm8zL2crNmZKUndRWmpGLzBOcVZFam5QTWRkTGhBZGJneFh6dGU5THVqMEp5TmVqLzF4WEY0VXFKMkFlQmM2WElKU2lrKzRRVjYwMWhWU1Rqcm9PUEYrUGg0SUNUZGE4MitQdUFnWUZPdUczd0dCQlBXK0JTam9USlZ3STJQQ0F1alhNS01UeFVaL3N2MGRmY1haL3g5dXp1R0k0TVBaTExMbGdPc0I2OWwzNngvLzgwdkpWVXBTQi92Y2NneDZLM1BaR2RIN1MwekVlV2RUaFk1NVFmWGd0YzBvKzkveWpyWS9EWWsyZG9lWlN1MTRtWnVuM2ozdXVvSWZ0YVRFaUQ0RFc1N1F4SVNodS9RV29DWnh3MW9vemZ2QnhaZkREdERNNW1ZOHIvTjh0Ym5uTlYwc2ZHcGdKWmM0RkpZajNnTXhPdExaaE1WYTY0ck9kYjQwQmFaZ3BNNkw1L0Z5S2E2TWRkeG5oVHg4NEFRSC85emVLemdScUloeVZIU29ZMW9FWVZoamxraldtUkR5VU9WeTlxVndqb0FOTEhUZWprNGxST2oyNjByckJmOEd6bWRLTnFhMnB6UXdzMnJSOHJGRzBCUEFGN2FidDBpeVc5ZHdiekg3U2lCN0IwUW5tUVRLeUF1R3d4MXNHMHd2S2hXZ3lNemUwV1pZVUJtazRpZWdaR0g0dFRnSkUwbWY1WUJRWHVXdFh1VFA2MGJER3dGR3ZhM255N1FtemRNaW9sTDJDcFRnUDFacUtOdlJBVDN4a05WQ0tWRHNuMWQyVXBraWM1eThwd1hRRTRDZ0hLbll0dS9FVWhXVWRpNVVoUHFYbnN2dXh6YUxmUml3TWhnSlJpZlllZk5EaXZoTk9wRXpUQnFKWHJDK3RFeHVMbSs4VVZneG1LTGIzRXZxa3hwNnNxOEhBdU1tejhTVXc4dFJYOVcrTlNiajNjQ2Z5c3hXa0RrV1EzMmVWVzgyY1doLzN3U3lLK0kzUi9vQzdYYSt5MTBpWHBYL3dFNEwybDgxcE03VlhzRHVRdXVSM25lN2xuK2dBTVF3MURyU1ZhYS8rb2hIMnBybitUeExUOWdoWkV2bjhFRHdGZG1RdmNxSmVhcldrOWNPWFdkVE16TTFFVFhTMlcxVU54SFh6bjdWc00zUmtQcnVPZGtGVGdtdit1c3NlUmZac1dCek5WNFNmKzRYSEFPNkxqOEoxOWNrbXVlUkNtSHEzQ1BNNVdNdVVLMnR6ZXZLN3RPTDhabUN1Y0ZEbHRsR3J0M3VPNHJwK3VPdlgwOXAzOFAvb0IvK2VkNzMrL0l0NXN4VWh6UkM0VDBYbnNRemRDc2JtMXR5L0d4UElDQjhjYUF6ck5tOE9lSUh3VkhlbDdmWFdzQXlmNjU0U3VhMHcvTlZBbWtvaDg3TVpPN0RmRkdOT1J6cWxybkFMZHZ1MEJUUDdoVk4xaEtBVGlocFNnRkVQVkxNdVdPTksxUTdlS05FZFRFN0FyZFQ3cnpMSUVFZDdvdVFIcy9ORGVEUE4wS2RFOENKY3NSVnVLTEtXVjhaK3RvYnJTdFRRVWFrTnBjZmI0clFQd25hcTczdmJBUFZSOHRUdXUybTlueUE5SW9sN2prd1ZyNHlnRmtiMEJYVkJWUk5PT3ZsdU1meksvQWZ3YlNmdmVUVW92dGNFYXFBZ1h4eHVqVGZIOU9oWm13R0R2dHBFLzkzVXJsZ0N5Uy9ZZ1VBeE04MzJiK0JaS21jaDlUVGtwOFVCaElLb3BDeUVUWXRZN1lieHpURzFLQTFGdzIvK1V0QTl3SUpPdEtRNzdmTDRvRW5DUTFieE1XdmFFOWZBRUIwWm1aYkVZQ0Y0SHgyNnpGRU1sYXlOMEtkQXpsdVJVSzdWd2F2UUdnUjc2dTdSRk91K1NlQjdxbExLaG9WcWtqUHNZZXZEQVlZR2hMVG1UaytlMmpJTlNrYm9GaFE2V0RGTHQ5cUdOQnMyK3NmbFJ0MExYeFYzcWRVb1NuNkNybExlVHBISEppLy95d2wzb2QreGNWN3R5eTJ1d1d5NC8rVU05dzhPZWsySWhPK0h1RjhrWHBwSVI5MlZNN1hKQUZQSEVzc0FUOXNXdHR6d3Q3TlVQWHMraWxGZk5yNHBJK1UvaVNVSmdLOTY0UmtPSTk4MTdqYklBcS90ZjlmbUt0ZFcwUG5Bdi8yMkxUMkJocGpWRGp1WVUvYllZRVJocUEvYkllSmVuWnZ4MzBnWVFFNUZVOTRpV0JJbGJqM0sxYnQ2RDlRaUI3QWZjRTRod0VvbmhHajNhN3R2YmkrK0lseTdReVFjN0s3a1p1cVVFTDUrSitEOCs0ZER2U3h6c1NRT3lTK0tJY2NwNEN3T0M4a3ZnQ2FFQ21hSFZvaGZycDJtQjFnMzJGcU9mOGhPSU45dDdFc0xhOUNNaElpSjdCRy96a3R6b3NTa29jSGlxVUJ2SmY0b3B1Qi9RYTZwb0tvTWZ3VFpzVjVjaU1reFE3UEZIejdjUEh1NTBBcXZlbjR4WFgxOWNmbXhTVHhYZWVNeWRDWkg5ZzRIYStJZitsd0tSUjh4OXZqSWdQb0JYeEJLd2xjRHkwVU43b3l0VGlJbVdPUWxCSS83eHFxUWxRYTJhd0w2SXdpVXc5S0lxaFJmS0JnV0ZXekFDUHdFaEFPK3dKQklKR1VFUnRTaDFqZklqZkNYK3FqMHkycTdGN3pDZGE2OFFLdlZTRDByYTNFdVNISkdnL1dnQ3lLYmZocEVWRjcyNitSQXQ1OWlaMjJZWjQxdlpZQ1RONEp0blByNjdTMXRUVXZEWVNBSXBhbCtsNkJneTRZWEtkeThQczFBVGZZcWpPdWxiaFJLWkwrUGkzM3luSlQxWUdXMXZrams1OW5NWkxBMGlSV1ZoVWNxLzQxQU5EUTkrakVLdnhlWDRMMXprdFJKR2x5N3V3NDQrdEdlVzdGQTNWZ3JBU0tyekpMZlVQMTZCR2hXWVl6THNiWWJBMDlEOFN6REF3YXFJdGQ0WFRzc1pOQlZKSm9JbTY5dndXUzdydTJhU3gvUjEvRHFCclFmS25JQStWVWxEb09OcGJnL3FFWlQxL3JtSTg2T1lvZzA1dDg4bHpvTmNpcHlkOUZ2Q2xnWjQ2dTVUUncxQldUYnpuZ2M3eTU3eGg5OXVKNGhVbkZJTVMzRk1xTzJwR3h1ckl6SFpBZklBb0JPcncxNDRNRUlpWDV3VlN0UVhaQ2d6UTdhS3dFOW5CUHBMSFJnTGh5Y21NNENhYnU1djI4ZVN4OS95UmlGMTZRSXFYSlo4ZlRWMjhvZjR5L29OSGVuSndWN0h5WkNJUU5oRlpNUDM2TVNqK2E4M201RVZ3V0JqNU9ZREF6QkZQZ0h0WWl1SzhaYUNaSG1oejgvSXlESUI5TmQ3dnR5M0pMUlRxdzdocUkyYmVhQkRvYXRlYWJvZTBHUUl6YmFUWmhUemlVa1g5bi8xOVppS1IrRjludHFhN0dhT2w3MnJ1QmpGTzB1bThPYmR2SDJsNmphNlZkUXJENzdOSEVKWTBjUTU5Zm01TDd1ZzRHSGdZVU1tNW95dWZWbndBcHYzYzJLQUhJM3JkOTdXcnRpaXo3Vm4xdlhTQjBNTkFCUVFEWlZaVzFub1Fxc0FRMTI0dHg1V0UxbVEvQzNpZEZMcGs0UHhYcXRSUFVCdHBFR2ovRlo3SlVKcm53NkhhcUpIeGJLcEVnUUQ1MlRQYi92TGphOVl5Mlo2dlF0SXZhZkcvcml1YlBqN2FneDRYS0NOZk9SOWorSmpyRFpWY09tL3pUbWRrcTY5Y2g2WG80encrQVBpaXNGQjUwaFJrclpud2NPaFYxMTBlZjRPNCtQaGNCOWJmd1grK2NGNUQ3UWd0elVVMUtJRmtuS0ViVVVXVjc0SFhlR2xtTWxiR1JjVmhZTjhMSElnRVdnTFlaY3NBRkh2WGNKM0hRV0JUcXYvbGYyK3dCRlhBaTBaWE5CQU15c0pwcXMwVDgwc2JSOGNORnBRRlpiU1JyYW55cU0vWFZlNTFkbHFMUVp2K3A2Yk9BZ2tLaFBJWVZaZTdUQ0hEZjBJUmdTelFOT3pRRUVpZFNob0Y5d2RpT1MwdERaSnJ0cTFGTkY0ZkhzTVU3TUo4NVRqL1ZoYWg2Z0ZJR0JOck5vQmx2VmZQUXhrYkorcnlRbldVd01BWTRENjI0aXk3ZlBveStVT0tRVHYraldDUW5XRjRDYWgrSW5BUjZzMFEyZXIyaVg0R2IvQy9YZGZtNStlaFZ1RHd4SDBORW9HNFVYYUJDb1pJMDk2TGZyUmdDTjhOQzVXVmw5UFRSa0t0VW96VlQrdDQxVUx1dkx1elB2VVp0bEFic2RPMUN5cEU2TnNVcmcrajczVGNNMkFDa0FzZUFUd29OMmQ4cXlqc3c1aXJiZVZkd0E1Y1E1Ky9VYnJ5MkJsSm5kYmRmbGY1L3YzN0lIYWhkb1cwa1NDQ0o4SmNjR2FFMWRLNnNxdHAzWk1MQzdqd21seDlyRjBmb2l0QmlsUXpqOXZEL1MwalNWUkhYSlFCVDdJV2lRV05xMHgyUlBlc2luRGF2UTNIb1FLV1p6UUNwYzRPYTR4VUJkQkdEVzJldjk4Z0F6dXRkZ2lsNlFpdnE2bDhnOGFtOG02ZmFLN0FDd2x5d2V3UVRjODJ2U1poRVJFZyt6Y0FZaFlXWHZPVzRjRFlSVTl5L2kxd1RVL2JJQmp3YnR0a0pPa3YwclVpcEdpTDExYm1ZbkVZQUNjN081SVQ1eXVlOFRwb3ZkYXJpOXpPUlFMSlhvanprZUVBNmhPNHQraGRpVWp1SG01T3VOeldBVlFnQS80TWlGaFJVUmtkalF4eGFVZGxRSUkwVkJuN0xBTHcxYTB0TDJGdVlWZkdXL21HUXNZNXVyelNxbndadXB1QkE4K1JFc1M1RUhNR2hpTXFhS2FFRnY3bTdYVi9JNnpPZ0FSVWh6OTdCc3JDb3JhYWZLa3BsbmNlaHBvZHFGSHc5WEZSaGRQRmF0U0tZK0dKUDB0YnU5RGZ4TUM5T3pzN2dTY3RhNzNZL1c3MzhldE9nbFJLbEFhZTdCTlFQRExadElCYTFhOEREUUpzTGFHbit2ZGJmNFF1cVlveW13M2ZELzN4eDhUOTNSUnk0cnlZNUkxRVRVdUZIRUJQU0VqY0dBcUxCTnlZN3ArdmMwTlFBUWNENW1NUGhrOFcrMTRvN2RBeHBWUTNlTEVrazN4dTgybDYrTnVwM1hVMWdYYXFvbElUcDNEczE2QlhUTi9WNEUrTUJOcFRiZHZQV2tob0xBTFRJaURUSnJ3MTljdU01V0FSRnlkSk9WRHFpS3NPZnZpTElQcm9Wa2NLaFpJVWV3ZUJRTStiVEZubzltM2lNenJSUStMT3ovZU1GcWJIc1IwNjZqVS9YRzhBSVltVm1IS0dpZTlhZjNuMXdTcnpRRVpkNUhHR1ZNbjFxTG1EeTUzTE8vNjVSUUlBUDViVWNTL0l6cDc1SG9HYngyVW9iTXN5YkduQTZZV3poVmU5bll4N1V4cklaM0tob3Y3UnNad2lTVHBmVXAvcXRvQkJnTGNGWHJTb2lLcFYxUGZhSGNmb0JpbTFzMi9ZNWYzRWx1ZjZVSmFDOHV3TVI2UjJ0VHdQeGdzZTl5RTczV1FqMHB6M0FpYWx2UndmOWdsN2JiUHUvYXFhbk5rd3Y4K2tma2V1dHFoTDlxZjNPUkVDajBpdzJnYWk0TnRJd1QzRDc2SHBIcFB2T2NQSDBsOWJiQ3pWTmJXWG85NUpabEVwcnNUZGlEZVE2dys4MERPZlVUNGhZTVNMaVI2VVorcW5iNDdLVERQWWpUb3dxL2NZR2x5bDQ4WmtTalU5bU9Tano2Ull1UGNrc0x4UkR0TzkyMWh0bnNZSnhFS2tNVVg3NnF3cldhV1k1MGhUZHE1M2lJdjUvTndTZlJWZi9mYlJTRmxBSW9VVVM3L1hDTjFvQlp3RnRaYWNZWXV6SHArM0pPcDNOYkhwNGJuTy81MkZpUWxJN3JQTzNFVk8xcEovZExDWVN5MGRvMXJuNmJDNXFPRGhYemJvbTNQOWFkb241UFRkbXFSQXZIUzFZK2NYRzk2dThEWUZGVWlxaERPMmZuQlphRjlkczI5c3EwdDR3bUpDYmplVzN0dDhnKzFhNWRJNHV5bDlGVG1xTExhcGJJbTRhbGI4TnU0ZzNZV21LTlhlNWg0Nm5MK3Qxa3VjZHNOTVRMRHoxL2c5K2NzK25VTTdWcHpGWVcxTlN0QjFXNFU3UXVKNDBKVHlwWEVQOCt6ZUhtTGtmQWJFVUc5ZGVZU0NSWGJuLy8zY3lMUTgxNDNhKzJtcnV5Um5QSW9aS050ckVmNWhXOENXaUZDZXVnblIzdk9oRDBRQ1A4b3cydDIrdDNUaWlqbmo5b24zUXJ2TTFMc3VDbE0vY21TNGJGYlppeHNjOWJSVDdNTU9kMHVDTVRkRHFubmlVR3MxWUp4SlBaUG5IY1lrby9hczJkeVN3dG9VSUVuVzJJSGtQRk1vNGx5bzRYTzVaYTdzMGNNaXNZb0JOU2x1YVo4Vk45V2VrazlTSm1FOWZUYTJkcmhlVzRkTWR5SVNRMXJZWnN0bzlhNE9WZnlWVU9kMDk2WjQvazAxNjRtM21RaU15dFRIdDZWUHFsdnZYVC9yTTRKejZhczV4SVF4NXUzSnoyOUxCelVqdjQvbG1Hdml3dHJ1aFcwREtpRGZabHc4SnVCeFo2MVZoMWxhc05XU2N3bFpjYVJYN0Y4OFdEVW90V3gyWXZLcFhXLzg2UU9ydUFlNWdvWGNEUFYrNzJYNmkwUmtSZHJxa0E4ejV2VTZoNC9IOERlY2lQUHFLbE1CcDhyeUk5TC9YUEZFcHNWdXBscDA1aUZUdjFnazdmZFN5eHB1TmxTSHJaM1FTc09OdWExcVNsa3BtcU9TVEtLZUthdjZnZE9mQzlkbU9sMkZ2OU16WHlOdGw2dWVYN2liOWQ1Ry9UY0NzVXNwN2czM2NIZFhZY1ZzN3ZXMzZGUXRlcXN2NTNONG5HQThBelBuQnJXYVI4MWFKOExuNVp4UW80bmoxUGlnQ1BCQ3YrbmNwNXA4UEgvb2JMdlZqRlFmRGd0c1Y1U05QVGkrVnpyWE8xRk9yU3BGc0VCejFLejhjUE5xR0ZpYXNCZENOYWhramdUaDV6ODdLaUFtRTRadW5nS0l1K1B5eVdycW1veXE2OE80Z3lOejg1MytuVXZPby8wNk1WMnJXV2tTVGFpT2RUUHhuU3dQNmVOR01JcmhzR3hOZHJueEw5RUgvMFJpZHNrZTNkUzBHa1ZhT01JTUE3ZzlYZ1BtcVhKNlRBMUMxWlVXMVRJbUhnUUMwY1FGelQwbEpQaVNJeEpURTlBWG9LbWYwd01EelZuK1BScFkvNTREblNZSkh1dnZzZUg0Znk4WmRucTBGVnVKNER2aVRXZzhPR3d6cG5vVHZMZzNudTNMSWp1Uzk2bWtiejZ5eXBtekZ2bDdhdHVrZFU3TTZ6YjczNlZxMHdWVW8reWVUN0pjeW50WDk5TWM1K211NU1qaWlXR0JUVWpWSmlLRzgyajdoNHU2Uk0rNUVRbWw0bWJGdlR6TXk5NDFmTnArcDRlblJYRCtvNjgxbXo5Y2p2Njg2NWJhUFZCWUNha1JMWFNiUGZEdkh0cjFud2x3dVg1U2RuOUdjdHpwaTNYRmtHTys5VXZVMkQzdlBwMjZWdWdTNGNSbkF5N3oyRFNQQnJ1RzhQbFZ5Ym50cjZzRDFiNkNYb2VYbnBmWHhKbi9zWmdKNk9Vc1AvZ2g3Zkp3ZE5wQzNudHpKTVlwaCtWWG1idm5zV2NjWnUvd1VadDA2ajUxK1VZZ3g4aWZaYThHbXMxRys5aWd4cE5TZkVlMTBDOUo1dnloT1c3UmYrZDczaVNYSk5lNDk1KzROdXhlM3dTT1Q3ZmFyL016b0cvUlNjNWlzNUYzd2luemJmbWFwRjB0MlQvdlpMeHYzNXp6d2xoNy9qOGViLzZrK2ZQZVNNMis3UE42dlpWVjhjSjdmaEk5c2NlNG1NMkNqUi9TOHUvQmI4bnQrVDNDU3g4VDFnYTQreGU1SjdwcnhBc2o1VHJyclVlbFIreFFlKy9pSWdMUkp5RkNRMVVzbnNJSURPUG1nYjhmdUtEOThvRFpNZzhoWVo5YUpOVk5HTEt5eVpVSmk4eUtXMTd2MDlSc2NualJVMGVxQ2lJTTVmZ2dnYXozYXdsZTczT2dOWmYvOTlnSW5mNXo1dTRiQjBaRUN1d1JDVGkwMUZGcVpTcVdJZjhEVUVzREJCUUFBQUFJQU5KUTExckViVnEvaURjQUFBNCtBQUFRQUFBQWJXVmthV0V2YVcxaFoyVXpMbkJ1WitXN1oxUlRYZFF1R2hWQkVVRlJxalJwSW9MMGppQks3NzAzTmJUUWV5K0tnb2hJazk1ZXBSa0NSRUFJTGFDaXRGQ2tCSVJJNkVTNkVDSFN3bDM0ZnQ4OVo0d3p6bmZ2bisvOE9Yc015dGhsN2JYbWZPWXpuMmRuSjhGUVgrTWlOU3MxQkFLNXFLV3BhZ3lCbkdZR1B4VG5Ub005bzlzZnk4R2Y4ejZhVnY0UUNDUGZ5YzhwTFdQZVh4QUlGMFJMVmNVMEpIOTl5c29CWjFuWTZhc2xqV2Q2S2FaQTBXMTh4NlNvTFR0TEd1bnZ0VitCTU5iU1BQZGRDRStheWsyTTlyVk85WGdRWWVueEoxS2syY1FSMDFVcmx6d2dTSXcrSmtVZjd5Q2pHYWlmT2RkTnJBZHBGS2M2V1dVNnNVQWdJZDhiUEhPWG9PSmllaEtwbXZuNStSUXRVMTRJTEV5U2RTY01qVnVmYkRnYWZrWUJxWXpiQ3ZuaElWM1ZBeFhuU05Zb0h2S1I1VldEUUlqWGFDaUxoN3FwS1U1L2NoUmxwcUU4L1Rqck5qM0VNWVBpOU9PN1hMK0t1TTVUeHBhNXRRWEFJUkNkTDYwU082amhjdzhNMlNIL2ZCV242V2dqRGo4N0JSRml5cUJWV3FmSDdNbENJSzJIRXArNXdhRHlUMFRzSUpDUDFML2MvQ3hYZ2ovb1FDQjAzTVg4bWF2dHB5RFo2Ui91VnNMM1ppWGs2U0F4NlU3ZkdFOUJYQjFWdUNHT0t1S2JNcTY2MTV4ZFp0Z2hQa2dIU3B5VjNtbUlaWXhiYm9EbktjaUhTN3dRaURERmVjamRDeXFuSWQvdXBVRCtyOWpGQ01VMWVPSXlENmQxbUNnaDd5dGNVOEV1RjV3ME9HeVo3NWFiNlpZcllrY0R3bHhIMDhFRllueWgyUDBDNUQzWGlLVGVDSzhtQkdKOWpoNFN3L2lFQXZMUE15NFE1T3YvcmJ1RXVzRkVHNFQzeHYrZHFaQXgyQjliTFF6NU9FZmVtRHdOY1JRcmM3TXVjOHN0Mnh2bU93V3BGTFRtaGNTYzFUSjUrbCtOLy8xa05mKzB5M2lld0ZUK0p4aEY2Qlc2QVJ3ZzQ5MVhTeE5QUVN3ZlpENWdocDZIT0o1YXF6OExDYUg0UDUyc21MTVRKNHZtT3lhZDFNSGZSZjFQWnozTUFldGQwbUU2ODUrSjQ5VzcvRjhGOE9jbXVtSEJRY1NPR2ZLeG9sYnpNaVNHdGhrc052R2dCWVFoNW10MldZKzlEUmorQTdqd3drTWtDQ3dQMTM5dmp2ZjRORDF3VVhBL0NNVDhxdkIvSGxuYzVCTGJiUFZ3ZzBCdUVaU0Y2Y0d1OTVDLzA2enp4TlY2NXZWWVEyS2VIYkh6OXVwa1VVSGVpL05LQ2Uxd2xweUR6S2hBZlFyRVRzYkFCSVFzZjRaQU1zY3JzOStETlg1RVJ6eDh3Z2d5cUpMR0R1aEg0UEpuUndXSUk2TzMrdUdkWVMrcnpFKzVRWkFZU25kUjV1OE5lcGtRQ0VkdncvcXNqNnRVWG44UDlDRWdQaXRCblc0R1NBeGRRZ0lnTmk5VWxUbkNDZGNnb2ZheVpTaTBsZ0l5VXlyK3VXSGRDK1d1eDMrRjVkNGJodE9BZW5KTHdSa01DYXE4WnQvNXprSjhSRndRSFpMOVBySWVYK2Q5UnlSdnBBTm1ORXBPVjcxdUFZSG9EenltWTJGTVVDOGVtNXpNcFRoL0VnQmxoaXYwTEdWdTFWVlZaODg4am5seGFYbGUzRFVSQW5IMnVmZ3N1OHhOamtyWC9vTUhKQVk3MDNlQkpMME5ZRGxqWC8zK2ZSbjVLaVJHenZmUkxVaE01akhGK1k0VDFIemovamU4MzduUFFuNFpmdmoveU1aN1dWQlhzVWtneUJkUy83ei9YNEJ4R0JtdjJ2QWQxTWJMdjNFY3Z2cmZXK2YvdTEwWGFrRWxlT3FRTjBzdm5JRlltcDBzQ21BaTd3VFlBNUo2SjZkK0ZkY2JrZXpQdWswSmNUUWJBaEVRMHN6bC9pK3F6UEpTT09COWpsUEMvMjhZcEQwcElLNWlldWwvT2VCdlJYMEJKUkdqY2ZmL05EVmJwcHlzMVdZNyt0OWlmYXQyUXNlZU9IRFkwZmN2emJVRmlJRUM2Uk9uaVJVQzY3dzc5eThSNnY1WHJQenh5UW5kL1RyM2QxMWRmMHRkU0pNQzhyTldkd1I2VXUyZi8zOVF5UCtsdS82ejliUm4zYWI1RDJ6OVQyZGhRRGVVZEdobWhzU1lxU1VDR0hHNXZmanZ3OHJEazRhdyt5L25SN21scGdoQVl2YTBZSmJGUTY0aGhGSndkMHMrOEs4a3ExV3h3dnpXbjM5MzBIT2U2QzdxWjU5bmZYanBsNE5haHZYRjlJaWxpVlNRa05CcTJaUUhnU09TZkVMY3Fab0NWNm1ya1VodlQwODkvblJWN3FGTkVoQi9RQUY4OWJnTitSajlUaldWSzBlWFArN0JsL2t0Mjl0TVAvRDQ2dkhWclpEV2tXVWF5alBMTThZRy83aHRxNzlidmVCNEtpSzY4Rk5pUGpSVVRZdlc0cll1L3hWY1EvSFF6NDBOTDUvZzRHQlpOcUFxN1pIbDZ0cTJCaUVEc3I2RjhLLzJGdXlmQ011NXlMY08zZVVTQmhNUkhCSUVtendDYi90ekZ6TFp0ZTNMWjQwUStjRmZSMVpMcUdORnlmWkhnLzVwWms5bGRkN09xVnJ6cHZmd1hxWDI5UEtpVEg3MXFrU08reWIzOWZuSVNmK3d5blpqd2ROUFZBbm52QThQNnI0SGZxK0lqaTdzZW5TMlo4VHUxclZYWEdJYjFyd3JodHZ0RFo0Ry9PbjE5ZldxM0EvczdlMjFiVlM1VmFOdVVOVUtyZTdGTGx5K2RicUk1eHQzems2MldmdmJpRUtEek0zQnlxN0tmUkloVlBHK3RiSlh5cC8zUXU2ZW52MXNTZXJWTjNUZWRxZTBRSHNVNDhOVjl5VzZUS09VcGhCQ3hOOE5vYjFMUk9iKzhuYlpOdVZjL0I5d3BXdFVWeUdCTnh3UjZkSjhLQTc3ZklrRmNwZHFKT0lVeFBwSk5XTUNhM0UwUERYb0VRTWxqblB4bkFGMDRNa1VEcmFyL0htNExmSVJRNXN5SW1yM2tGTWlHb2xCMDRWWEZUNTRQL1Z0WTNKYlBYWTFmaURHQjZWcHU2ZlNOVzZLaUxJMjNiTTRTcXBzSGc4bTc4R0VFN3FPdU1yS25oTlBtVFEzNU45ODI0bmZTZHpPcmR4M0dxM0lPc2FHUkhKK1dRM1hRSGpOR3FqV0M2d3BkQ0tGTHhKU3k1TlR2M0Z2b1ZiS25iQ1lZMWhyRzkzY0RycllqUFM4cUR0NnlUVlUvYzdoaHNiYlhJbEJaUkxKcUZCcDhJMzlGaW1xQnJYN0xiM0I0OFl2bGpabHpPR3UxSjNCb3NGYkNtNTBPOCtuYTVqazBrM3laTXVDU1NFdS91cEhDM0kybGNsU1Izc3M2bTh6NjY0ZmQ0NmZVaHk4Z1NHNWpEMHlQem9nS3BvL1pFOGd5bjZ1ci9UcGRXelJwdDE4bU01VTQvTmQ2ZjU5YUk3R1ZjN2Z1MUlpUVptLzFtOGxmNWNNYlk0Vm1UMC9la2hXL0ZrbFBJdUw1c0RYckZvbGgvNUV0aVlQS2ZlVWRWUjJXUTVvdEpCbkZaODZHOW5ud0Ftd1o1VmhlNUdWWDFxSHpaU1BsUllkZGxDN01NVmxxbGwyRHhuc2dIVjFWNVBmV21nYkkvNVh4TS9WQVJPUGZvc2hrWVdSbkhJUHBlUWNZaFc2Ty9qUkdPSWdQRzR6ZVVsSHlPZHBlZkVlb1hodko1d0hBRkVrS3EwODAzTzVRWE5ydDBzNGdxS28zTDN0UmRUMW9nRkZKMkpvWDc3M3VwUElJZUZ3V0ttRHBFSGtZMVQ2UERKMFNCdzYzRWRmenAydTRWUHMwVUdwOVVwRTF6Q0dOMlg4MlQyNDZsZmpJSndjU3IwSHczZUxFNWNudzc3VnZjOWVsTU45Y2dtNUtKVG41QjUzZXdaL29TYlUrZXZNRVBvSmN1d1dVVEg2bk00NHQ5WDV3L29abzhwOUpqY3NKcm5yWGtxcnRiZC9EWFBWcFptOXkvK0RNWjVZT0dGYmxtTE12bFFLVndxT205OVRQZmZMK0J4OVpZa1R2cG82eFAzbjVPZVYwT1pmWEprbml1RlRuWFVJZ2JLK0dnYXpXVER5a3AreDd2dTVKazlVb295NWwwZ3gyR1YyWWREaEpzSVR4WW5Xd0lUZkhXZWNOdGg2Ky9IVy9aUVpKcDNHaTQyRGVpSVJRZ1o3RG1MNjRoUjJOdDZUb3k5bUVtRHhYYzBPZVNTdVpIdkh6WFZHV3c2RTJ6MjFsK09QR2M4WDV0Y0YvM3pUTG1VT3ZlODZJMXlzdGwwV0dreFpZRjErb0xqMEpqd3h6RnU4UXIyTzBGVDNHZDNsU3o3QVA5bGpDeDN6UmlQZnpwYzJDQlFTbzVqOUMrKytaYUxveVp0bjN3b3l1MVhoekZSdGRNWDc0b1lVd3RtWGZlTGdCWWtSYjVQZEE1MHJnRXJWMHlpSndITExTTjBEd1lJaVlsSkZaWVdYaWlSRTNUcy9IY28xM3kzSzIyY3JoYXhNV1dWS3JiWnBiV3RhUExieng5bHE4QnZoaFo0c2VPYUVOZDBKWEJvT1VlUkk3bXJ3cERyOTJGSFUxU3B6ZGF1NnAzYmJ1MGpUY0djY0hLS05UKy81SXRudktQcFR2cEhPUWxnNlI3ZHpmc3RWMG8reUVQQW04TTBNZ0JzZng1Q3dpNm1aVG5MRm53TnZtY2pWSGlJbG9rNC9qbkd5QXQ3MzBybkd3am50bTRRSjBhaXFYRFJoT3B0UnROcUVjQ2VYcnFneXpVOTd2NWV1d0dvdWdtZkF1Rit3L2NjN205STF4YXpUSVJubjBsQ3U1b0hnWHBUQllXaThqNnlrbmdSakloOTlnaWJ2VzlnZ1BBdEx2bVBhNEptc1h2eko4ZHNtS1J4dGo4S3hKNm0vTVJRQTdFMmZBQmd2dEZiVmJNdVBiYWM5alMvdXdidHo1NS9kcTdFVVlrMkt1M2ZkcFZSWjZwQkc0Nnc4R3kwMjllQ0k3Q1A3V2lnMUZwUGFNZXNqeVpweFpRNzkxc0ppUzJtSFBGcWsyRnZWdkFUdkxYZ2N0aGtiU1QzVHoyek42ODJvc3QzUVdDMlcxTEpxQysvcW12ZXRteERLd3RSYlY5a2pVYmgxUjlGR05Eb3lKQ1M3MzNueEhobmZHWStvS2k0VVo2WVJ6TkFHcDVnS0x2bzFqYStXaml6UHo4OGZIVVdhamV2Yy83UVhZQkVBT3BFWHlnWnVxbDJhZHJVV0M5c0pRMitGZURDcmc4REZkNEJaWjJpRDYyeHZaK21YZ3hZRFJIVFllUXVOcEgwU1ZKeUZOcjdmdWM0YXlIVXMrRlZsYmxNMTVpaWFyY3VmQnRvY2I2b21WRHdIWE5YdlBML1Z5R2I3NGtZV1lhVjc0SW9VSW1HcEt1dWlCdFpEMTMyNmI0V05LTTNVaW81WUlRek02UW5uUlZmSVlaYW1reEprbm5DRnR1UmpQeHhDWmRuQTRKektVVmVwbitYbDVha1hYNmFOVjQ3Y2Y2M0ptOWF6QUtheTVYNTJkb1FNOHZxR1AxMExnVzF1YW1wcWJPd21FTE95c2dyMFhjRG02U21jM3FOYWJJUzlLQ1cxVXBKYnFNdVB0a2VhSSt4c2JmT0xpaHpzN0JnU3Y4THFKNzFROFIxdkhqQzd1N3VEcGw2Z1QvQnJDdDdFN3h3Y0RibStCaERmYWx6SVFYZ0JPWUwyWEE5cXNSUUNuWXlSK2hrQ2dRQXpBaGV2QjkxSTErSzZaR2xqazlnMXY3cTYydExTMHRYVmRSU2xuSVZoaVhzVDF0eGEvcms4UTdyZW92OVBmUk5YelVvUm45S3h6eDNNM3EzeFZQU1JSMmVrbHFnVTF2VjFxeFZGRDJMeCtNYjYva0dXZlVFWU9pb3lNaklvYUpkSUdBUTNNVWRrYVBLT2pZL2JWR1d5dmpDa1F0M2hxVEZKRmpKWUM1QmY5TnZiM3Q3R29ieVZvOG10alkwL2Q4SkFpbjcvRGhCbGZsY3hFbm9YKzBha0N5U3BRTC9jSGdrV0czbE1QbG9kUjFwWVdBeTdwdHhuaWJ0OGp1TGVHME5GRHVUNHFqaU5CRE5OWE1jRDZUeTlVdVBoQUZGRksxbU9aQURydW9sS1UwRW1KcWJwOXVnc2xBUGNGQ0Q0cWtHY09yaE1NQU9Hd3RFckhrVTVxSWM5ck1tV1hDNHJUS0c2eUNGcnNJM2UyVmFNajF4aGpFVVVhR1MyNmxIMGNOdC9hbng3V0sramNCYzJISVl1SENTMFJ4N3M3aEVKUmNyUll6QXBONHFBRmp2NGE4THlxZ3piZUVXWm03WVpmamxBdTNSNHNFajVlSDhWcVh4OFdHY284QnJqTkNJcEl5TlRlbnRYYVFwN1Nvb2pXYUZnWUdlbi9vTWErWkE0V0ZkWEI2dUg1VG9MWEgyaHlqMDhrOEt2MDJUclZXOE4xZzB5cUYycVh1d2JGZ2JEQlhHbm5udDJEeFRzSG4yREp4MWxySFZWVUdBZ254eHAzQ0Y2a2JobmozVEpkUlpsZnUwbDFpRWExL0htNVVhQWZJRnpuWlZnaG1CR3I2Tm9TcXdxOTJVR1UzbXJPVS9wUFRyVUg3YXU3QUxHNmpZa1hEbWY5ZnhUaWpKdVRUekZNYlVtYlBqZUd4K1FOekJrSlBtd3lWQUFVQk9MaDgrQXJSK0hEOHdBUFF2L0hJYTJoNXVteWU4UGduVVJCNVYxU29jZFJUVjU2UWNpL0xDR0E3VFZ3TGl5SnJFbWRYNzkrclg5K0dnVDZkQWV0YmZOVnpRSW1LYi83MllxeUdjMXZMcno0dXZjK3JwbnFYRnFNM2wzdDJGOHRhcXFTaXZLTXBPUFBhQ2lqLzV0cWZIeUFXblRvUzFpNzNDUG1DWGlvRjFxTE1TSW01aVkrUEhqNWRlSGJ3eGR4WE1rV1pOd09Gd1krbllWQW1BVy9DMFd6M1J5RXM4QjNwMHZ5L25GS3U5Z2J6YWN6ai8wbTFsaXNDdDA1WEpyamUvbTZuN1g4T2pnWlpHTlVLWFUwZ3RwTG0zRERwVjhiZlQ5bDNGaTZiQVY3OUpvWjFrMjdSZUhmN2JtQWNwQThRSGNmSDFvZER2SkxEbFRSaTdpM1hLZCtJcVByNjh2aU0vTzZ2am1kRHVCdUtkZWZGMzRmR2hmWlVmRm05UWgxMUZZZmUvaU5raDhlOFNlWDFCUWtMLy95SG9RVDZxbWZBRWVUQlpNdm11K3pDMUluaDMrdTlSQ2U1SXZWVk0xN2dGMElLTnZYcHp0NXJDckpORFZwUzFyaE1FaXdGZlRtMGlnc3IyOE9EZzR5a2JjYnNMcXJUUGNyRE8wUysyUk1ubDZQY2tCOHVpR2s0MFJWTWVWVjB6ekRnZksxUnJ3ZmZUOGd4VUMrZE9aU0tLcHcrRElCTE50aFpMZXB0ckdmWXowNExlaUpjUlBwdTNsSHpiU1dOdjNRanEzaVRxbGFSL1VRSXk1TTVaQkxscW1YcWx5K3ptdFMrNWtEL0FnckZvQlZaZ2pwbjc4MEZ3L1hzZkpKTHlEMWNzejAzeWVmUjhwODBhbjlEWHFYYVlUSUJqbk92and6N1cxdGQzZHNkcEtOQnB0ZTV1ME5kK1Z6S204NU5ma0tna2dpeHcvU2R2VWxQQlY2cE4wN2hGZDRLYk5qWTBwY1dxeWJKbWg1b0thKzBkUnhVTXBzVG9EMk5XZEVNVzIrdnJBaUlqRGc4MTJUazdPY21QNFhTNVIxcVRjL3FXTmpZMmRuUjB3TGhqREdHNEswTE8zRnlxZTgwSG9GbjNDbDNsZnQ0M0cvVVhuU0htVHdkbktqYkpRU3AzOHBNL3dvaGJpMXNCV3VSVmRYdlRvbEJXbDJkSWlmQ216OS82cXdISEQvQ2lQWWpRN3crKzJsVVIvOGgwaHc0YlF3bzJWZUtzL1pveFIreU5ib2U3VjJsVzRkVHhZTzRPSW5meGV4QWxFc2JBZUdSR2ZMcW5GbmdPL2FnZXRXNFREUTl0dHJUaEpMeSt2bFoydzl1bXNweWxuWTAwTS9pR0dpOFQzRW9nRUFrR2NCcjlKQXR2eFZuSjBmbjUrQk1EVndnSnZYcjkyOFFOWnRxQVd1NXdRWjJaMXVLbGdGdWJyd3kyUWRPTWhidytQRW1PNGo2d1FFbFFJS0Zzc051UHF6dmEyT0gwQ0d3ZEhJUmhpLy9jeWFUcGFXVjcrUmRlODhjdFBqbHdYSzNYNUFjUnNxc3hicG01ZnBaNzFrV1dtOGZMdzhQRHk2cDFMQzFXWEdyMFdIR2wvZ1FnUGMwWTNQMkNHT2NSWUZXMGVsb3FYOTgva0V1aDg0T1NJd25obmRpbVhuWjM4d05IaFFNOHFpaDE0NVkrZDE1NjQ0UUtzRjRwUGpRd0l6SHU2N1FpVXhQNStzM1hWYnRnZFhJT1o4Q2JzMVIrMk1kR1hQVkJ1eE43S1RyUHR2STdCNjk4WlVubjlRNjY4UGJ5SUNVS1Q3VHJwQUxSaWNKV2hnT1o1cDg1Zm9LQ1BWOXZKcTREZHZiMjlJeVB2WERyM3pteGpQVWlCTlFrMHBDanlvWlY1aDYyRFE5ZkRHdHZid1NFaDN6ZEpqMnF5RmUzVkZVQ0VUd3ludC9lMUpIVkZqdW1wcWFOMTFIVFV3VHFLdERtOXVibXB3WDFaem0yNHA2R3BhV0k5S1Byd2oyOWdJQlpBcjM1eWNSSFFnYUs4dkx5aUlxaTdXWjgvZUlteUNqcmkrQnV1UUg2enhRMUY5SUJPMUU1QXhsYTFoU21QelVDbGNYeEdSbDZjOTlGREJmUE9iaFZvM1ptT0dubzFLYXZSVXdXYlE4Y2RYOVBEbHVSaG9iSFFXUmxsZ3p4cm9ueTMxV1doaUpRYjRxdFZQWEpBTS9VN205eitGVTArM0RzNkNJWXZPZ21wN0Q5dm5xcCt3UHpHc0x0V0tLZHhNYnA2MVB2Z0tBcklrS3ZVNGlqdDZpMzMra2tmV2QxU1kwQm1vc3pkamQxb0N5MWo2NXh0b0dKSzNucEw1d0hYeXByazVlbFpBSkJUV0xpeHRzYWJyclZja2ZaY25JYUhtUWE0WTFCcnhjVTh5eXp1a3F5Z0hSNGNISWliM3A2eXJUMzh0YnU3dTdKU1lRei9mWEFFMUZSYlc1U1BqNCtmbjUrUFR3cElWdXJ6L0dGRGdaTGVocm82LzVDUWtQQndHNEdyUVBuVVc0UGhNczZtSmFoK3JoVmlpU0pGeHc0a3UvbHBUTjRSdjZJN05raDEraFNMVDVyY285cXBtQWh1Y1hZNStvU25IUTlZRGxJbmJVL2ZaWFZCMnh2dzM5WGg3Ylk5czlrYlFSai92alBVSFVVQmc3ZEhQTm1kaXZoWlh5OFZ1Z3dBZlYrMStxTEYwaHBqdUx2azZydlFDcVJMZGZHVHdWMXRmNy9DNmJQVVMvTEJkYS8rT1JhVU40ZzJ4dGZLaWVnQVdZaTJQd2JVZjN3MGZSeTV0NzI0c3FKZHRnZFdmWFFFRm1XSkhDODFaMC91b3VlRkpWOGlpS0dSQWliZXhMM0RkdklPVXBuOFovN3dzTlZRQUhRSFE0RVBOVFUxTFMwQVgwRGlrRjc1amlQRlYrMjZ6UVVBc1JuRHV5dGVSYlZ6VWorRGFzME1EUTJSeVcwdkRkNlZhMjRCeWYyMGYza1pURmxSV1RtcnVjMVNTUHVNV21IcGs0V2xwYklKajl3eWtHbFVRd010Mk9qby9KdnlQNmd0SFBYT0JYV0lmcDcxNFUrWFUxU3NORWVrOXl3QUFxeGx1dHRrVzIyT1dBNndyakRkM0F0dVV3aThMdEp1Zk5BR3RBSkxwd3pOSTFBQTZUMGdrRG1YdnkwSEFIYXZNbDhOa0s5MWRRYUNMMVd6WkdRWmlFOWQvbElQUDZnY0Znc3pNeWNIeTdOUHJLc3plZ0NkbU1NejgrTmVwNW5tZ1ZkdWJNQWNLTHFnbGlwYW9DZ1dYWUhZNVVqR2hHR2g0amY5LytIVEg3MUcyaFN6YVZBdWNoRTFZRjg4emc1ZEtUb0pQR1pYUmNuYzVsUDI1bTloSEM1YWRRQ1p1c0pnZEVHOExlcG9IL1ExNnlwblhKQWl4eUJVSEtqQUlkY1Bsa0tVcHg5YlY0MnRCNWtsUWd2VkUzNjc5OVFTQVNmMHJGWDJRTk8wUzRPQ2cxRW9sRWF4RVZpdnFhRDRnUGZocElyeVRveWZsZkRFbUt0azUzeE4zMml2Y3gzUU00OGVkZmlZanF4NEQwcnF3VGVDZzROWGQ4SnFMRnZiMmpMVkRveXY5ejUxWEo1T1A3S2VYRzl3c2dJaU5yMm4rL1hEbk1SUytYMHNMbXNsSENoYmIyOERSbEh0OCs3MTFzVkRyaWpjY3NDK1NsRXFtd1BheEtyYUc3YzdOallXb3ZoS3ZUajIwejlZbUJUcnhRU0VPYUkwYyt0R2VrOVNVcEl1ZjNxL3M0eTA5TnhXQ0JCSU02bm5lMnRmcXB1VGNRM0NLbWs5VU5CRnBXVmt4c2ZIVGVDbVFvenBDWmdYOHNSYVJnM3BCamZwUEdBTmNPdmF4YXJVWEFmdlM0M2hZS0FlS0pRZzJWTXVKek1YRWJzRUwxNnE3TW9zMzdmR1YxYzVsZVVFRFE0RzZKWm1pS1Z0aGJEUlVEcGQ3bHhhV2lvM0tNSzNSM09lb3dDZUFtamJBUG1qcUdtZkQ4NnRXZGlWYm1Dc2VCRDQ1QkJGSU92bnQvNlF5ZVI0T2s0d2w3eCtaNjVMUUF1dkIrR3cwWE1yYzFuREZlVDhvSllwRDJtKzc2TVBzSDRwY0wwUXVKZ0ovUFhhR2xCYkM5eDIxWERBTGJ6MExFbnF0Zi9ZWlNJeHRBTGlWVHFkZ3dYK29RVlVkUEVkUFZDL3lFaTdKVFlkL3pkWUdEeHNyUDZMc1M1YVdtWnpWeVYxNzVFNExEQXFTb2sxYVpkRXdxMEhDVEdDQU5kZWVia216TCtZbFN6Q21LaFZ5Y0hHeHNiTzdpVE9JdGZSNzB3RXBlaHB3SFZnclkweFpuMnVvS0FRSGg1TzlYZXpzYkdwRlo4TzZpdE92eTY1Yk5UYTFIUXpRM3RGdG5oSU0vRDEyVmdWdVdzVEhrSHU3cmV5TUQxcTk4VnphSjdkMjk3ZytHUDJsU2U4clZwWWNSUlcrdHpYd2dUajgrRUJjeTAybnNhRWs0MXRiWDBkSFgwY0JkSXVmWFMwTlI5ZmQzbCtlc2o3aDltaXNSbDhMS2J2NFNRZWo1K2VCcjFRbTVkK0w4Syt1akhKSVJ4WFpvN3NuQXFzQ2ZqVC9mMHVTUFh0MTREdG12V2N2K2JSVUdyeWRyOFpiZjV0ajJSSy9GcENhaDlaQnZwNEswUW9ITkh0ZDBYdStaMUgyeG01YTdjUVhId3BwbGtGckNtR0JnRU5PZm5uVnhURGg3TmJtcHYzdHhjeFFNOTZXMW5kN0pCYjlKTXJHclFRWkxqWjVGRWtsSlFHREhyaVYybHBhYVdJUDkrOFFDbWc5RVk4Z0ZyVFhnVE9CalE5QUt5VkozY0xYWE9kZ1FxY21KQ1RsNi9Bd3VJZWREc21qQjRZTytjd1JVVkYzUTVuV3lBQ1hUTzZ1c01yTjNxUVZnZUVFN0RTUHFCM0FXMnhNZ2FCUFZ2cVBVSzM4cE5vT3hXcG55eGd0Nk1lbDZoZm9EZ05FdXZpb2lGZm9HOWdVRm85L2YyN3F5U3JjdFJoaXJ6YTBkYUJwTWJUQ2pZK05TZ05EMk1pTzFDUmJHemRmREJSWmpZTGlSY2lFQWo3aDVOM0FaTFVFMVR2T1hlRmRkRzBUZ2U2TGI0cklJQTZCbkhqQ0dYWnowUmZMZDg5bTFkMmt3bER6d3VRcW5LdTZXM1dkNU9iVWptNkFNcWdVS3l4MldJNFkzUy9vUUR2UlNaTXJTa0dqbHZ2VFMxSUwxZzZmQSsxVnFreVR3OFU5TnNURVJiTitjQi85TFJ6NmlkcXJVUGtJSVloVVMySDlzYXRPOEFNVnM2azZ0MjRrWjd3QVE4dEY4L1JGMFpJNlkzOCtQNjkyN2x1Vy8zSnAzOGtLVnFtcW9XT0QwRWpBR3F2eGhKRWRYNUxGa0JTT1R2aVRzbWdudldMWWNlVm9KWlpIMHRQU1M0N1QwcXJiY3BMdk43UFRHcy9PWXFtYWdMOGFCbTg3bnNPSkd6Zm9sK05aZVgwcHNKNGtPeXFVOUdBN2J6WGN3VTJXcGU2aWZuNWVhQXJMWVVhUU5ycTZ6UDZuVUcyRmpkNEtsNEZYZlJnTHZ4ZXQ5bHd3SjZrTHFnSmJVN3RhL0tiY3ZwaXBuZ3pXVmNnRGZIb1lNT2V4ODlJSkwxcllhWjJlaHhZK2I0WVk1TjBiSXQ1Qis4MlhjNUJDYisybGp1NEpTSXpuYWdYT3BpUnhXWjdXb3YxV2UxMys0M3hoN2lHU3BNRWRVQmpvMEFieEhLRmYrd1cwRlFxY3JDeFNXZnZHNVVVWmxsTGZUdlpZSWNjQjVySHZUNzNONk85ZzRNT1FqS3Z2NWRSSE9RcjdwdDJhVnBsbFp5eXNraUdOdkFQZFJOZy9tMXR0K3ZPOTdWTURVSXhrUW5wRVVyS2JMU2xWZnlicHZxcFliR1lrVGZKR2hvcHJkZU56L1RhM1JYUGVlbUpxMEE2a1A4c3l0dkJmRG91MDFlTDBkdzQ4RnArKzFJTUtIbFY3bFJRSWdtcXdLNWZTWGk2WnNhbllSNyt0aEZtYWZIdUhXZXZTVWxZaGhVMGpVK1FJMy9RajhGQVQ5OU1oaWVWblJlN1hwSFBveDczUU5aR2xPeHUyOWZTejRhRlhjTUs1R0M1Yytwb015UnVDZ09yNm15VnVUYWFobGxjaUFaRURHeUVVQjBnbHhOTE1KK3M3T1h0alZuYzlwSHRJeENIcTNnUkQxNjllZ1ZJdWVTR2p5UnJ6MmhNaEZMUklPSENzeWUvUytCT3gwQXZndzVYMGdZOEh3YURJUktKWUtrY3lhVGRYVHc2SEFWVVRGMGRUMmpaVWl0RDRsY0VBaEdoZEF3YVdsN2VOWllJUUJMaVVUeDExMjBkTWtJSHpwalRxbXpIYWFaMGE5Yi9lS2V0ZDV4RkpYdmpvQ0xxTVB6NHo2TFk4UHoxRHVhVjB3NmV6OTEvVkdYK29rM3FXL2x0T0w0cy92R1dDamRURS9HSGtkRStyS1E1aXdxaHdwU1JSUThaRnVGVjhJV1BidEhSYTkxa2tCc1dNS3BqZHBhcVc1SkxnamtWMGJSanFENjB0eDl2VExYRXhwNngrc21UK0pqNjJSTlBITEIzUTY3ZGg4OGRSWm1UMVBuYW5XWVdPdUxwd0lyRTFhcHNiMk4waFVja0YvRk9HZHBxbmNNeU1qSjB0TFEwSGN6SlhhQVZtUW9DTVAvQTQ4MFJadWZqaW91TDUrY2YzWXo1OFVOTnIzREF1UTYwNmdtUGs4Y1JaYU9yZ1RsWHVkSmJHR1VaTE9Vb2VteXVSM2VtOGZuMTM5b2hqMUlwZjlEQXRkbzhySXJ6eEQ0OHZSTkRoZVZwaU5YbUlucU5NNDRuc2RyMXVNaXVoRmtFaXN5K01ZL1VLWWFDOEo4cGVTWVdxRlZRZDFqTGFGQjlaRWFYUit6R3Awc01uamNWdWE2Umtoakc0aU4vNTJTYnd1TXoyWGt2ZG1pV2p6eSsrNCtsRVBCclk3RDZxSGFSZWM2dEVNVzgvclp3MHNhZlAzK21Xb0tCVk4zdS91VDR6OFpWSytTNFV4ZHJ6alNmdXg2ME5zYzZ4dmp2VXpqZ3BNaVNMaDJhbE0zcXhVYmlPYVlrQ1E3YStEZUc3NlkzWGVxc21vSkxyRE9XOXkwVDBpMFN1RUx2NTk4aHgzbWZsVEc0QlYxSlRXcnAvV3lXMEFqYmczY0ZtMC9iZDY3cFMyOE9tWEttQmtmbTMzcHJHcDhIdXlpTG9xdTVjMkRZMDVHdjh2WkpsOWtrZkRQQWZBM09tMWtPQk82RXd2YlBueitQRGtoRlNwSHljbkphL09uRGErbGxDNjZTa3ppY2dxTGk2eVd3TUtESGNuU1hRS2FPRHduSzBjQi9nSnl5NE41NzJwdzJpNE1EazFLU3crMnVxVkR3aW1aS3AwVjdvNEZieDJDVXdzSHFQR2N6ejJERzJmVmFmakg2Qk1CSlBabDkxNjVkQXo0Z1ExdXVQQVF1RXJmT1FrTThGcWloUDVlRytwckJseHdGblc5cmRoeUkzMU9NTk1ldVJaWm9QN05DTHVyZDNBa1pFZnU0SVJ3ajRXZXI1c2VvenQ2MWx4bEpYWGxhNnduVTM5OC9PTmpDUFB4a2JPK3UrUnJKZy8yak5tdWxtenhFUUpZWjJvRDZvLzc4bXYzNVU5T2Fia1d0dE01WGtRTXpXSnFaNVhZYU5uK0ZjTjVvVTErNEt1dk9HNzJSMTFhVWFTNkM1blVUSGlBRnZrSTVwWGZjVFNLTGdzN3JaVEtvcGJRYUdXd1I5cjg5R2dockhSd3NiOUI4eVZKZlIveEU5dnhuTC9HQndUWGxZTm9YeklWYTJuak1MN2p0WU1hS2JJRStSclF4ckhsMFlDRG4wVUNQVzYycWtiUmNwdmIwbnBDVlR3WC8xWGVodnJDbXQ4MGlhTVdwaG5WekJGK0xjUU51M2ErcHRiNmV6MlI3UVZiOEkrTTVDa0EvVGpKTVJLKzVRRVdPcko0SlBGSEx0RldKNGp4SFAvcU9zd21uTW5iMGcyZ1Uyb05FN2cyRjRzUWE1eUtxYnlXMTlpeDRGTDg3cm8rMnl4ZWdDZzZFeW5HdUNRNlBpdnB6Zk5zWjlyTXIwdVFGeHNYOXZVckdsNzJOeWhZRjVkN2ZyaXlvWDRWMzYyZVRpTG9WY2E4OGNjQ0tnV0I2ZXlNdGhjcU1iNDVJcnU3c2p5TWQ4dnFYZ05FRURCTVVGQVJWQ2hiTVNFczZVK0tnRS9US0tESUJwdmQyOGg5LzgzeURpODZWYkU4V2hNT0cyL0h4blQybWVHMEg3RkIxYy9pS08veXE3MWlEM3lVWGc2d0FqQ3lWbkczTGl4NFRXeEdDN2szQ3B3SWJPTzZWVVZpSGpIaEJseWswS3BjbVFHSHpZdVdyTmFFWVh5YmVwU2xKUlVJYU95R1VxSi92VHg0VHBhbS9zYlMrdmo0MlppNWZzTEVUdGhObUo3MHBtSVVCYmF1MkpXdnQ1czFqdzJzYTJsR2FpVjBCYTBaTEl3SmZWdSttT0liQ0t4d3VxaW93RmY5UnRxQWNObXRQcXZBcEtPWmZtc3B1cmJ4bDZ1NjZwTmdvbUNBL01KbzBZY2Z1WURKZHR2cHBhYXBTZ3ZDQzVmaUtsRHQxektCSi90bDBHVzZUcjZCaHJPWHlYSnNmaDBteHFNTEhWNHVIM2xsWDlVSmFoTzZsQ1UwMEFtVXRrZk95MGkyWUg2RXlQMi9Hby9sK3RDVHFkZTVRbTAyMVdHQm1WV0xZZXdsTlV3OVp1dHRaZzdBUEgrVndJV09wWnFwTlQ2RG1mQnV0b2hhUHJwTWpnd2RrTnU2ODNrZXhtbXpwM3pKczkydDdoN3BEa1BlUVpkTXZId0hxOHNRRGVscU5BVWJCWXMyQWpaRE84L05ubWdoU2s1OEdjaDVrZzJzQ2NDTFFWVXBLU3ZMeWFWWTJ0UUZEUGg5Q1J0MmI1SStjQzI1VlVqK2gwTkUyZTFWQnNNc3N3N3k0UjFoY0g2MndZcndtejNTK09WTWc5NVduNmVpYzZvNmppL0NhWUliN0ZhZDVyNnFXdnNSQUtTNWJobmRFVHFVZGVCMlRGeXhEdmo1NnNQNTBwMDJrUXZUUGRhVEpjV2FMRmkxbHJJOXNQdWJrZ3dXbEl0REpBRnRiMzFnUHNtbllTN1BMTEEwRXRnTGE5VkJPWXJqTmR4ZHo1NTNhM0pVRnkzc1U1ek5mVjVDYzBFODg1aEM3YldpVUduZTR1UFpLZHdveVlCb1RkcTdKTy81UWRXd2txZXNSUWRXeWlFZkhScU1xeFVJdGNLQndXeVJQTHB3anl4MHlqK2NRM0V3MVEwNk5Ydkp6enBiNXZxRHNaRE00TldVM3NhWVRWSkhGbFpybjFGT1lYSHNxOTB2RjJuY0I1ZFNwaDdvakx3RWhXUGJ0VkJPaVJTeXZnL0lwSXRlWGpMNHhWdERndnN6aUQxeEhiU1J5N2RWaXhIdlN2dlVUVmVuMnREQVRSdVB1eVdaZzJ5ZmtsZWdUdWxlb0p5N2ltOTUrOWpGdEhKZzNZQ045TWJ2alhPdCtOTXJscTJRUktMbFh4RzFoa1UwNlY0M2FETHMrVG5OMi9NRlJTNE9xd05VMGhZdVlkUmd3eWJ5S3VmMWxRbkZaQjlnTFRjZ3NqOFJoTDlRaUtsVVRHaDZ1a040VFltT0hOeDc2WXhrSTVwVVRWY3FWa2Z0U3ZudlNiV0xMWXVxZXR2bkRBemFWeWR1MStIQlI1dXd5K09rZUZ0N2F3RmFQY0NFU1JZRFhXZVY2S2E3K3l4TjNVZU9yY1BhUCtaZWxFR3JiLzBoSTFCdjBaVE5lR3pqK3dLNnpSWWlXRzQvRkh0MXlTalJZWGs2anZiVjNEdW9pUEpHR01CUzRTdjJzQjhwOW1WdUcrbHB5VjN4OGZQc3h1Y1ZqQi9saWZmcGVMbW5VY2U4U2IvWUdDL2w5cFAwOWExNi9IQkc3WDhCL1Y0aE9YTk9XYjh3bmFRVW8yVTNlOWtQLzJDU1ZKZ3BGM1dDajFVbFJMUjRDWGtLL2ZIRXB3Zmg4eGJYTWQ0KzlyT2plMkx1S01vTk9QQ0ZzMU5DVi9QV2grTEdaOUpmZnRDRjlKblpoUlU1OTQvZWREaWVMQXpmUEI5TzJLd3cydU9YT2IxbnFQOUUxQnUxa2c4UTM4bUhoVk5xM2ZtZC80c0QrZnJPVEZTZzVTeUZwMW90V3NkeEY0ejZ5cHFTWE9aTSt2MjhLbTU5VGVaSWw2Wjcvc1RYdm1EVkJ0U1FQK0xoWFhZK2FNTTBlTndWazV2MkRzdCs5Y0JQUDZXYUhKWDU5aU1KbHRDUmkvS2lzTW9TdnZlanVYd0ZsSzVUR1RFTlpiMTAxNGFHdG9LNCtzQmd6b0s3ZVBpMlNoYkd3c0FDSUh0WjB2bDA2NGhZNElreG95Y00yWklkSjV3ZWliL0htMzNCWk9iWHBtU2hMWldjYkt6Yk1NNzRlNUVRWEt0Y0IrazJCZmp2bzlMOStpV1pvdzdjRW04ekMrZE5UKzFjVzhhZUdRMldaYVhoZkFEZzhSZis0NkdTZW1sMjhJMytKTjBTc3J1d3R0VnVxWmtvbEVua2pYUXUrREF4UHFYR3FySmllU1M1VDU5U2t4OFIzeTRiM0dkY0NhU2pQV0YxTDdZR1dESEhkSjYwVXNvQW1XbU9wR3lUNnVoK0x3RlpVUGpYc3YyREdRRXQ1cHVsblcxdGJOUmJXNElsNVdwcVVkSEdpZmFvK3lpZnFRb0JXYU5IR1lZTDdYTTdnSjZlS0dyZGN0RDNTR0o1ZlZNUkUvUXlIdzBXMUYyRVcxWXRUZjJ3WlprNWc0QmVlM2F0TnRiaWRsYWpLN1pkVnBWN3NHeDZPZzlXM1hrRXV0NFpOblV1emNKOXR0eGxYSERwYnFJUW9lQ0JiL2M4bVdqcHJVczhySlFPekNNUzVCeFMzSEFCRTdlRGdJRTlxdDZQbzkrL2ZVeFNnM2IrdkwzOXBiMnZMeE1sa2FKZk8rbVJyOGtJdkJGajk0QXFucmJoV1NQQnIrdnRNSDhnbUVBS2xvbVB5VWN0b1U2YVRXckZSaCtqb1VpTzR4RkRBMXRZV29EY01mWnZra0dxalgycDhzeWx4L0tFTFhvRitROEpoVERsdzQyaXRsYzdRenNDUE03enBnam5hUG1zeGZqbGdVcksvQi9yV3EvaldLSlFpcDRyTC83dXREbXkwb3l4VDlTaS94TXFOb2lkdnBqSnRDZjV3ZEdVanRJS1hFTjFjUGUwNStLUnhqKzRoYzV5VFZhb21iM29QY0FXbWdnendqWEMwL1J2RFAwQ3ZReGZqRmUzM0RjTFFoYjlkQy81dWRyYTJyN1ZMVmJsclFQQ0JCRWNzUEt6SmZobXZvK25oNGRGOUZPTjBQcmpLWEVGQklWMmhEeE9JZXNEOCtPN2R6cHpWbmJBM2hySUtDZ2ZrbzNDbElrNGFTbnEvMmpObVFQRXA1RFpXcUIyUGJCVEVyU3F1bTdoNDlxZHpFMm1HRU5NVk02K1Zxajg1R3NKTnQvY2lnTHNVRTZ5SG1IZzFDY3dPYlpLQVRYcUp3Z2pQYVJTbi90N3BtVEFNNWdsQ1g5NTgvcW9PNFRtVzhIbVlXeE9mYVdXaWpKN2F3RGQ3RkZMMktvNW5WTi9YNjJjbWVnVUdDMXpWTGg4QkNNalFkbkozWDkzZXJoMXlOUlhNUURxMHYxTG5XYzdpVE82cXFERVdZaFFSRVRGNzhUc003U0dkaDFuY0paRlFEUTNHOE5lVFo0WWs5YlJ1V3ZtamFtcU00S2I3UitURnhkSktoWVN1ZWFCWXgxZDcyQ2tYbFZaT1BuMXNpN3gxbGRxUGROZkt1NmFsNWRaRkhybEdFdnA3ZXpVdU8xQy8xY1Y1ekdSai9aUi9nZGxJSFF5NmNvTmI3NjZieGNYNGpqQTBmajBJUUNpOXA4VGp2QVJyRXJUWW9VTVVLbHRpS25qeU9QN3c4QkJRQXhiV2c1NTJta095ZGUydFZMLzdsU3hUZWVuSmd1Y1cvS2RubDFLTXNUdHozQnRwNWlMQ09USnk5Y2VoTm45MnhVQ0sxZUxyTW5YeG5OY0svbXpzN0FCVXdDYUJCUXRjcFl4OS9JQzVZOWJIM1YySHNTMVF2aUF2THc4WUxIRDBZWTFycnJOZ3hpUm9zVUFJWDh2R2RNZTNQdlhZdnI3S3UwQnJWS0N2c2NTNlNBek5FUjFiRGxnb2UxcTd0TEd5VW1Fb0FEdzdNQ1FVc1o5MmRnSURyOWcyNVRWUENtNjlJYmlzM0RUR2hVNGRYQTNOREdqVG03clZoeDB6SXBtYUk5ODJwQnFVR2c5ZkZOQVNaYWJwWGR5ZW1NajVzRnRpeDB3YkQzUnAzaWxNNjVueklSMmk0amw5WTJOank4dkxBd1A2UW96Ky9VOExNOG9HbkJIRUc1WU1GRDNYeEhjcXZ1M1pFSlk0ajZJY3ZJWXFWc3JnVE4zVnQ0V0tzaklMMzlramIyQ2tvSEhKd1ZUcTR3Z3dxeEJGcFJ6ZDNkMWRwYWpENzVza250VG5INlI3Ri8zUTl1M056ZFlPRGxsVzl3RTVXQXJoOGZnR25HY1RadVRmeDNqZzVKQ0lDS0hRNHFEb3RMR1hQL0NITXpQL1dGZXh4bTBCMndCQ2hjUFp3R1VHQndhZzZraFBuSGlhYlpXNUU0TU9mN3FjdlB3K1NCZTRIcmphRTFXYlB4M1lzTG11RTFBWUlhY0dwanIySFJPeVV3bFF6V093SE5UeXlkRm5yRGZDSlZGREdQdkIwd2Fkb2lqR21yVGsxeFRWUHUyRjh2YnlXaEJHNGRhOXA5dTAzSFc5WHZDcGNGZEpXa1Zad2sxQjgxSGtVSmFWL2ZON2VRVGNpSmFPYm42cmtWU3dIMkhRS3N3QUZCQkF4SEpjSnJYT2xKaVc0SVZBR3o4R1pwTnd0NlU5aklYZEwvRnJ2VTJFak9EbTFIMlVoNjFyN2hLUXVjanhPaytGUytjMG1jeEJrWVdhaXhlTTExYk8rbGhXbVpjMmNhMi9URTlQUC9ud0JheFovTEVaL2pXUXF0c2J3OHUveWVTMkgxTUdqTWFTZWYxK1RUOVdkMHJjdVAxUmsrc05sZG9KWHg5T2VPek96TXdBNThTcEZDRXJKemNCek9KRjZvSXBEVHhpTGR6ZzFlU1dSWVAzMWtiSFQwVzFYV1NlV204UUZCWVJ2a0p6ZXc5bC9ROFBDbU1XYnQ0NzkwbVgveEd6T25MOFZvWjJsYm03cDZmZVVya1p3aXpIbFd0a0FUcXIyVEsxRWRSQ2IrZVhQblV5dStqakkzQXI0RE1Iam94R2NRRVpMMzZGc0FOejlkbXNPQlIzYVRpWmQwcnFLQ3I2MGFNT1NUMFd4NVNXcVNtY3lLWi9SQTUzZlZOVGFFZ0k2SWRPYlNPenN3OUE0M0xUVjZvTDB4MTVyZlN1b0lDOTZWNld0RXFOWmI0dWZ3WEhheXFNWlJqd0pRb0RoWVdGMm1wRit1Vk96YWtQbUN2cU5BVi91RXJtOWtCcFR6eDdpbEtwait3UEQybHNCelNqNVRmNTMwZlJIUjBkd0xVM0ZYdmV6a3JIOWVvbmRZUU9aSSt1d1k1M1IwWkdnRjJPOURWZWc1TXFNM3BPaTE5UnNRNTVmTmZ4NUxGM1JFaWRLbG1DbWFac1pEazJObGE3OUNHdWdYWEdGNjh2bHFycDhmY2pJaUEvTkhuVE5IbEJ6d0VHdEhrMVFSN25ONS8rOS9IQytQaDRxWnlmbjE4dENuVUQ5YXlkaEo0UDVOSzBiNGV6cytQTm56bFoxVmg2UkVjZkZ3RkxDNnhGK1lpWW5rU09MZ2NucDRzNEMxeUZJNWRQVUI5VVhPM0VXbGN5NS8wM2h2WFduaWdjbUpPTEMyRm01bTdwNjFsNFJNRnh5bFFSbE1OQ2tXTjZlanJyMllVcEw0dGRIOU9EYWtUU056bzZ1dURnWVA4bVcvNTBvMGRyQStRNzJFK0FieGE2MDRLQXlhNHdGUlFmRmJxLzcxZktlWTdpN2RCUFVHSW5FTHJ0RXg1dXMwSHpVMkk3WURNaHJVTTdPN0JseWxSUWlvMFdHSjFTOWN3bUdQNU03M2xRVXRUeEhSTWVEZFpWMXBrN0cxTWdoMU9XUWt1S3BTc202YVRHbHBZRDVXT2lNdEFIUUFLa2RHNXNWQWYwdzdkTGpPRUFHejZ5cmUzdDBmNytQT1hXak16YTNpV3dlejJmbzVyYXZVK1NnUUZycm84L3pMOXg2cFluQzJrK1FGOHE5RzI1OHBpT1VNVFQ4dmxJZDN6TnhmRkhwbW84N0t5MVpick9ZM0VkczdyOGRVMU5OOU9WekF4Rzg0L0lLelBGUTVyN2lkQThTNVliQnZ6cDRqdm1ndXpqYkJ3V2U5aEx3TWVrN2x3RWVrcGRXNzdnbFNuSkw5eTZDV2NzblpmeEVNTXFEN2RFMy9FYjV1U2p5cW81bFVNaGhKZ3JGZEhaSDFtWVZBVDlxRzZpcWtyWXF2TmRrRnUrL05MQ1BwZnRxSnRGWHJBVWE1SXhuRmZtTUlVcExmUURiRCs5enQySVg4OE1nUVZPZXZWUWI2UVBLaTcrU0R2U2NtRHlSNE9ubGQ4N2N4UDFZaU0zNXg2WVhpakRSSWJ4dW9kNWU3SDBVY1ptWE9YUDErZ0grYXQzbkI1SllwL3VIRGNJNFlvR2lkOHFpemwrQnh6SDMyRUVkcFl5Z2ZUQWVLcWJnM2M5cUdWNkV4SHA2VlRjc1llZ0hOZnBubDgwNTY0ZGFXd214RTkyOWRRclo4aG9MbkJXcE5TNjZpOFZabUlXZzFxcW5xaG1maW9mY1lNL2NYcGJNYXRaRFBlMlJZKzVTcWFoU3dRenRHc3NLOGRYL1FSTE9HL202Sllad3dGNGU2REFtOWNsUERyY3I4b21YdU51VDR0NWZjcUhKVERsT2xWOVhtSnpZRFh4bFUzdHkvdkdWbkc5Rnp0U1dtSlZpNDNxemQ2K3VCVzZTVytkUmhYM29QdGN5cVRkTkRhK1RMOGVtdUdmSllGcmNPSjR1cENTNzFQdlVsb1h1ZXc5UVk0b3BGTFpaanRIejA1V21UdTZFQndVK2IxaHZiVXAvZEQyTm9IUUZMNWFtWFlPZnJ2MGtlb3JFWFlldjBPclFUOWpCcFQxRjd3WHlzbWhjaXZFQXovbHF4bzBtNlRLRFhPZHlrNHRlMEdrNlI2RmU2RVFEU3laWEVZTTFhdm1LN0NQZHhtaUJyeXoxcGxUTE9xcW5jb3lmVkZTYU1sZ1UvKy96eWRDTGFaYTdaS2FFY0VMMnE0RXhMdU5tL1cwUXhOWjcrYTAxM05FYkhnUXlQaEpHajE5SFY3NnJTWjQxbUJPTzBrTVNmZnZiSWtVQ2NSUGRmdXBvM1RvWTRYajFXYnlHN0tKblpVQldxWHlXRWVXYmhYOXRYbGwwSGVBaWhoNjBQbnlaYXBxRFh2aVlVRjhZT0FYT1pGRDdEeTZJRkJwODJzamhwTFFFOHd4OWl2Q2NzQjFLK3A2d2Vhb0dVMm95Y0RJWXVUTFZiNm4vb3lOeFB4R3BTNnFJN1cvK1ErSlZQbnNlSEJ0N3JqZXhPNk9TWHNqbVluTjN6NTgvOGVXbTM3RldCdnA5bE1UaDgrN2RzbHV6SEYxOTM3bkJDeFVHS0JGQ0p4SjFVVWhFaDA3bXB1WEQ0dkVWNG5HRE9qZ1Z6bXoyWDM4VkRueUVnZjJPaUVQWHJqY1RXazlqMS81MkhxTklNcU9pa1NqNW55a0hQS1ZKYU1LYUpZOEwvWUpacURNQy9hRnhnT2JEYTZYS3cyWmRjUDVyR0wyVnBjNHE0dmxvbjhTbTRrbHoxY3JCeHplbjhVbjBoSzZaT3JmOGZZalZGTmFqVXhNdm1TUFRVaXR4Zy9NTTcvYTEyZnZ5cE1SOXd3b3BNYmsxOGk4QmtObDlyYW5kTnBoMXc0VFNINzRERStUYVBlKzZqdWJTY2JlUWZxZXozWFhaZjB5eGliNEZvbU1vNDJ2QmhrNkZhWGFESTU3S3BPWGpPYW9NWEZjb2NYTzJMZ0Jxa2FZNXlZeVF0WWRObTdDV0szQllhcWgvRE5tSU83MTRDY3BodzE4WjRxTVRnUkhoSGVxNmQydzZUSmlVOTFrbG45Yjd5aHhxWGNKZmpZdjhHNGw5NU9GS2gveUF3V3FGTHVzVXBQVjJyMVZKTnlpdnhPWnRVNGs4VXlGQzI5R1pKTnU0RGU0dk0vS0lJNGtWOVhza0ZKU0hzNzFFclpkT1dhT205Znl2K1pzVlEvNm1wdHRlUGo4K1VCbzdVK1VVL1k5R0RoRSs0U2NQWmNtODRtQnJwcTYrNEM1STUxYkNmdGhWWlo4ODZHaXFFNFpCeEZ2LzlvcVVzR0VjeTJzMVFEU0Y5YWNiS1ZCTERRamVNNFNiaWI4MnB5eitUNHE1SXYrT1ZxRW9PMkRVMzF5bHhvZlpXcmw5eWQ3aG92Z0NncnIzQit1SU1JVmZuQUVQR1VLelR3KzVWTHdhNjlvOGJkbFFSUmRHSFBObHZNUWQrZ1YyMGdGdjBmVzgrUHU5cHYxNjRvVyszaUVmaEd0MlBHQWI5SHBSdHBGYTV6WWp1dHd2YmpCdGU1eWtodU14ZGtwZTlDeEExMGxhZVk0ZnNZNVV0S2t5RW5CdWI4cFNyeStrM1FUcStqOVlDWGNxT2pjbSsyeVM3ekk2Vkh0THk1YVhZcFpIMG0wUlg5K0R4bmNXYXNjNE54c3QrczRUNDV0WGtJaURsdXBmcmY3a1pZdkVZT085bjZUNVV6Nmo3bnc1ZUhLckM3eStwRXZqbTN5TXJoWFVHVXVjMk9WQmlQWnUySjdKTzQ1czdmdXE5aHRUcmo1cU1IR25abkRJK0ZrbmZaRXJUcXFKWHlpcjhVTDVuYnpzaFVVa2ZmRDZuc1NZOGVCa2RLN1F5TFQwaHNEWGpYOFZXdGU3d0lEejhYb2lhak5aMVZFempwK2haeVJwYWw5dHJGR2hMelpjUUtwNHNkQnlMRjU0dUNGcVFOUmdwWlB2YWJ6czAram5kT2paVGowMTBJSk4xdVI5YkR2NkJGcURtdnBWaFdNN0J0Y09XNmhwcEJzS1ZMejYzTGhRTDVUWGhpbDg4NngwS0dnd1JjQ1Z1cUM5Q0JMOXJGUVAxRVFjM2drdGlSN0pyRWd1bC81bzFtNWxjYWRuOHRrdW5DaEQ1cDQ3dVBFYjFSMk5xMmFhalBUTDc4MVNZdmZJY1l3aGZjZGlwUVRmOS9ZK1liWGIzVjZtZnIzR3lFaFpwbnZFV05kc0l3eDkzOWYvcDVoTXIwSTRYanh2LzFHaTczd2tYQUZ4SkdEb29mN25XZldHQ3hTRW1GbWpUUVRVZWE0b0xMTnVFVkt2dkhad24xQ2NmREd2UlNoaDN6bTYxUGhGK0R4WkJoZnBmbWVCZUtEdlZLd1plaC92SlUrVmh2NWp2Z2pSNE80blB5SFBwRjlkbG5vMTFkckxsTkpnNW1Sb1dQWFAyVGRJMUpsMXg5bHA5Q0twdEszZSt6aFA5cTN1aDcyQ2x0azlXNTc4eUJmdmMrL3VIZnk3WWpzdmFLb3pRNzdwMHNheE01MlpmKzJlb3ZEbzFES3dmZEpyVnV0MDJMTkRZeHZsTHI1V2d0elQ5N0Z0MXBDU1NkbkNCeHJYeDN1dWtVbXQ3SU9IcW9JZWFjSXNaVU0rbkErYzJvcitxbm9SR3pmbTBJYmtKUkNRaFhITk9hUGY2TitIZVVReEpDYkIzV0tTNjNCQkhSeWFHRzZoejUvZXVtK3JKUzNjaGY3eHRMTnZDWDJqZDlnMnJPMENmSkxFZTdJUHdkRUdzbjJSL3RGUXlidk05ZE5BakpkSHRmMkV3UDZzeXdaREZCY1d3eEZIMlhJUjZHRnFOMFhCak1uWDBiQmhPNW1vdHpkYzRRSENhaHNNNUgyWkd5WU80aXFTRkcxc05CNVNseldlQVVkYjNYWW5rUFNPRW1sdFMzNHd3cCszMUZCVW5qM3JQWE9DMGNzcHQxYUZuZnA1QzE5elBHWjlsOW56dkNPSlV0QndLYWxwcTlhZmMveHlmOERVRXNEQkJRQUFBQUlBTkpRMTFvbWNkdC91bVVBQUtGd0FBQVFBQUFBYldWa2FXRXZhVzFoWjJVMExuQnVaK3k4Q1RpVWJmdy9xbzBpYVVOUlNGTFpsYVZrS1VwSXlMN3YyYmZzWml4dHFDUnZTWktRaE1SWXNnekdVb1JrUzJJd1ptekpNc1lRWXpDWTgzMTYvOHZ2L0pmcm5PczYxem5uZjUzclhOZjl2dFZqbm1mdSszdC92NS9sZnU3YlF3TzlxNXpzZk93c0xDeWMybHFYRFZsWXR1NWxZZG15dnBNVnJ0ejJlVUdCUDNiNWFWa0VzTER3bkVEKzI2SnRLRExQd2lMRW9uMzVrbkhvNjFtaWhaRlZhL1h2aGF1bDkwVXZxajkyT1lXYkhUU2FQYmZ2YUhjeWNiZzBTMDNmYnFtRGRBdVZZU1BGZFh2TEZ2VnQrNTk5ZjdEMmRxekQwcEpIdmUxQTVRd3pUdWl4ZDRtSTVLNkowalBEN2J1MVgrMWtZUmtSeURUUWFuVTJ0TEt5V3N0Z0xrYk5SREdwektQc2FzdjN0ckt3NkZ1SjdMOGh4MmNDN2R5Nlo2RFFSZWduMjNYUm5tMDgyK0ZXR2J6em1XNW9SR0lhUTNIcmRoYVcwSCtpZDVJZi92M1VwNTB3dEUrN290WFpvOVc1U0U5WXRzQmdqLy85d2R1NG9hK0VwTkdNWnJnVXFiWk9xZUYwRDYwWFFRbkJ4MC8rZXlzUFg0TjkvMWFXMjJxaWJTeWJBNGVYL3N2emhHU1FiOW41K0Q4ODdmKy8vRCsrYkYvWTZqeFd0M3NMVEtKRXUvcDI1TS90bXJjaHdUZzRvdFdmSVo4WTJaSnA4RFhpOFA4cUhmNlBsd1hrVW5Sek52V1E3Z1pZaEw3VUZaMUQvN2YzVktsbi9zUG9xVHY1TnlNdC9HU1FmTng3Nkw4Tzg4NCtTS2lMOXYvdFpTNUg2ZDF3WlNmYUFlNlR2dnNmbnRmUHNZMkZKWHovY2dOOEtpUCtmNVY0aEg1M1BwT3lkZ0VaUVB2TlVZY3pLWlhVWGYvTlBiK2h3dWIwR2VsL0ErZjgrZlBlLytIQS83dDRLRCtvbFlFclFyUFJjRi9kenYvd3ZMOGhtdGYrTnlBSy84ZDlqbE5kM3NZaTRCaVFzTUZmMVY1TjFNQ0dUYW5XcU5MTUwrN05XS3piSVhCQVplK0tUN3ZIcncybUlsVWg3Z2dlOTQxdnZyd0RQZnpIOW92UjFkdWZRcHo2VEY0eE5WNkluMThYV05HUW5EOG9lLy9PeWMvTVk5T2NXN2wyc0ZFVlNybU9vdnU4UlJOYmY1YXNmR28yK3ZTZE5WMEpKVFR2dkozeXNad2dmYWJzMXZCd2g4YWRIYUc3NzFzbzMxeTZPSUtEM0pFVFNPQ3RUbHRJVUdUY3UxdC9jdXZLNEc5YTZJTEEzNjlMWFBodThDWDVYQjIycGFINndYVEVKNmRxWDNQTzBKbWRlMWNhNTJQWkdtUGxXYllqbi9LenkzUStkOFJVWlA4dHUyVzYzN2tDdjNQSzhyL3M3VUpDUXFweHVCNDN1Ujl1Y3Y1UkdiMDk5clg3Nys5VVBySDQ2TkdkM0xzc2QwNktIOWtqTHBBZ25xSXJscVRqN3U2dWZlM2FOUjNSUkIyUi9ZK2FIS1YwemE5LzhUdG5YSVEzZ3BiYmN5TzNwNXRDd2F4dDFNVTBqcW9ISGZqa2xLb3J5aDdiT0ljZU9TMThjYVIxVjJ3ajNBWDNmbk0rODgybDlOdUV2Nld0YmQrM2I0L09wRHorTVYzR3NZOUhTRFBycVkrdmIrOTA0RStQOHNDSUNJeG1WcVpMYVY1cUtuK1EwbEVhSXlKZU15dWxLV20vWUYrb05ZRDhVNjNMM1c3R1Q3VysxQlpoVG5LRzZ1emNHM3FtWWJSNC84UDdMMTY4ZU43cS9MeHJzdnpqeDdlOXZTWjBWOVVNTTRYVTNoOC9mclN6ZEpOcFAzMndRUUVCV2ZCMFZPMWNIVjk4akNYbUJUbnAwRzVXSThGdjk5bVVZd3hPdlhPVCt4Q3FYSGhaT0JPYTg1azgrR2UzMnp2b0NIRm95RTNtMEx4QVU2STZoTlYrOUZoeW0zdEVoRTFxYXVxY3A1T1RSclQ2cFNwcnZSUmR6VHhqbllYUUladHNDNjY3SVR1ekNKUVBSQi95MnBvbERXWER5OHNybHR5bXBLYUdiMnFLRmt0NjlLcmo5OVh5Zlord1BIdGlrM1JGazZEVE5UV3pLQUlNbzVwWTJOblphUzM5SlZRNXg0Vk5uM1hMMWdTcGcreW5uMnFkU3UzNFlDdzJQVEp5VVcxekpXdlBuajFsT0Z3K0JpUEp6YjVEVWxMeU5FOWNsUzBidGV2YUs3RzNSM2F6enRBWk00RktIL0JrcFFzWGVycTduejU1OHVTNWxvaDEvMVF3amkraEpaQnJQTFcwWVFSR09URngwOXZMeXcwRzBlUjRBeHB3YUx5bVJ1T29RYStIU1pwZUxQMTArc0d0MndWTVRoMkVLRDU3a1p4c0lwYTBORHR3ZG1ObFBBRkZtMGxDZWxGYmk2SFJnaVNscGFOK2ZBaS85L25pYW5qa2h4WERaekNySW5tbStYazkwKy94NUZzbXNiNE5NUkxQV3QvQm5QOVpyZEhKZmhZY0VsSU90NnBudmdsWExZTGtoR0RyaW1acGlRZy96TzViS05zck5PL205ZUtLVkhKUHFXdlgwdnBxZ0VyVXByVzBiWTNmcUVOUWtNbUFWL0R2c29yUDlpUFZnVm5kNzk5MlQxM0ZsbzdIcWg5ckdyK1ZiWGdhZisrcHJtaFFZT0E3LzZxQ3lIcjkyNS9NSmptNTJ0cmFCb2VHZm5aMlBrbFhRZWZjdTdmTjI5djdkR0xycVNON2NJNzJhTHNleHUzY0dKWTdWeDFHanlXMnVubDdYMmN3R0d0dGRwdHZrNlh0UEh4OTlVRllXRnBZM0RpVDhwcnY3YUU5c1VoNGczSFErT0kxalVvVnZEN2sycFJvRzRMQVVNMElNYnBFMlhhZUw5NURXUUEzblY1cm03QndNOXlrTC84ZlhkSHk2dW9QdGJVcUcwczkrbXVqc1lKTGpWeHFTT0FobmRQMHJrNU9Ua0tkektsbzMvNWtwSEg3VTlhREprY29GMHNycXg3bzhqS2RUb01ZaEhCWGZQeDRSbjdJRDQzT0Q4WmhUUE96SVRmTENkNVFKNXl4alhta0hlS1hTeDNiTGd1UFBwTEVURHFjTytJaGM4aE5qaStQNklOemVBelpQZW8zRmFONHUrZ3plOHpabE1mSURBUUhsMkd4dVVTaURhUlFTS29sNXJkSFJFMVQzWFpyWmU3dE81VWZRWGJBNUVDSGEwTVgxQ0gwMytmbUNoVVVGS3gzVkM5NWNtcms5eHBpVEhzR0JsTDA5UFFDZzRLeW9XSjlzUG1qZnFlbThSZWZ0VG9iUy9DVVYxWGxHZWE5Zzl6QVlEQ25VenZFZU9LMDE0SzBuRzdlYk9ySXI2K3F1bEZyRzFMTDFlR1N5TEtRdElLMWo1cU5tUzlSMENzdEY0QXM4YTk2L2FqcExYdjAzWThEQmZCUHRQNHdrVmhWN01sa1ZUNnhmV2Y0MlQ1dS9vZVhuK3RrRzBNMlFoU25KdHFTbGM2ZCsvNzdkNDZwbVJuVTB3bnRqVWk3RGhlakpKMHJ1Ym01YTZ1VEdUUnFGTk1LL3U2aGtGcGRXeHQwU1lndkh1clJIY0tQdytHa1h2YkgwaUMvcmFTRmszVHl6Q1dxWjVZWEZ3TnM3T3h3MHhsWUxOYnVWNVdPWGNXdE5SSnZ6VWVXaGVjQ0RQeWVmWnVUWkVHZnRnbi9iNU9MQUd3QWI0VjlEakRoOUdVakpidmJ2RnUyRGorV0Z5SU54cnAycGJ0RDlnQlFGUDYrdEVhYnlTZFFadjc4TWFRTzErTVpkT3JmVGhYWjFmZEJHSzNNVzFTZGp6OTlBTEJZV0ZSRS9KRDRvMGhsRDJpYm94ZjQ0cXZYNG96RnNnT1ZNRjRLNU1MTnQ5MU5rU2U4TXZid0M1UUk2MUhUajVLYVczRnFzZko3bG1zM2hvVW5PNWUzTGhUZWNhQTd0WlN3Zm4zaXp2bENjc003ZmhDQTNneExhaGJiLzdBeVNHRzlSU0NoeGFqdERwci9NbjhSbGhCV2xPNHFmMys1bnhKK0pRc2dRSlkrNUpLbXdheGFUSy9Ybis2ZG4vcytvNElsNFh1ajBqZUtjdFBxR2NzMkMrbjVnSTFlQ2hmS1pTeEZFMjhaUGZkTzRMMGdDTGhIck1PVHExNEpibVZOdjV1Z0t1bDZmZDhZNTZNckVoKzNHRWp3OUVCMFU2c3JTa3V6SUJmeTB0bW04YVJZTXRuejZOR2owNExNbGRqSXpWWFhvNEtDNVBWMWE4REtqY2lvRDU5M1I2c1hYcHFGR2d0VUtwUXRpOEtXaXdnL2ZZQ3FUYmQ2K0lPdlBWUjVqbThnZHJtOVdPZzVsRlZaMmJ0QUpSV1RrTkhoM0ViVDF0bEFKWituK1F6VEwwdnAxNmhsS3I2K09ncXBhWllHMTU3aEVpTHJxWFdndUNDbklMa2d4UUJ0UFc4cnBUMngrbzBqVUtyekN2S012L1Urdlp6Vm5YZXp3ZGZIWjRqaVdQS1NIR05uWXhOVXlqWjdxOS9qRGNhMFRVV2ZlbWFNZEhnWGZGVFNLaDNvUmxlVWVQNTVwSTJJbDh3aFhjb3R4NktBSW56QXNZazYraThOS3hlcitNYzBkdWRTaSt3ZWQwVWEvbTV1U0JlMytPL3lKSDNLa2NGWklTclpWWU5uTmR6VzA5TVRnQ213SjlFbzcvbUZPa1hqQVFvZWp5K0h1b1E2VnI4dk9SQ0pScmR0U29YSzBXMTlWdFUrN2R4bi9xV0d5OHVYMnZqbno4ZSt2cjZ5a3BKTXFMQUovL05YaFBlRm1PQ25BNDN6ZTVjMk45QWJpeG5Nbi9YTURWK1RmQk9zN0l0bzFndUYxOG16ZElZSGxnQ3dKWFVvdEloOWNiVUdvZ0hqLzlEN2dkeGFQRDdRTzF6RGRkTnF2ZVgzdkxTMHRHZFFVQy9teFhuUGpDZUFzNmJOTlhWMXBoaFRvMXBiUEkxVzdoa0taRDhVdHRrM01ualhLajgvZnc0SkswZ0FjWm55Z0wzczBXVVZGVG1BRzVpaUl2RTBQWno2RDZCY3FDY1RNVzc4ZDZoajk1czNyM1NscS9RTURyNGFXNmdVVFh6SUVaaWNuT3hSYmdrU1VDZmJFQlFDeUE2ZmI5NXlmTDMyTXQ4N091SUxDd3NEL2YzUDlNNmp5TmRxSEg0VWZzWDM5VmtmS29reGVSYlRtQ24rcmx4RmI0Wlc3VkUrYUt3Q2laSE9mbXFUUGxGQWQ1SGpDeXFhbkpuNUFFQ0h4T25qeDdFWDF4TmF4aEZwc3VFZTkxdys5WHF2aHp3RWh6NVlRZkFHbVVFWCtDaFFCRFdXbE1UdDdlTlR2ZU5IZ1hrLzdwYnBxWVArazgyMkhGWmQ3M285cWdKRzByN3RWbWFOa1pudk1LZFZCYlh5c08vQXg2ZnFaSXRzS0l5UEFkRUQzcmk2dXE3Tmo5NERWQndxL2hJeGU2OXNtSnB2aWFtK1hsa1Rid0JzNW56bUJvNFlMRzVzYTJOVEpVNE8yL0djNTBnQjJ5YytaYXZ6eGVZU0htRmhBL0l6d1NhbjNjVXUvaVFIUWVkc2JHMzFkanpVeXgzbjI4NHNqcEcvcllDK0dSRFFJMytSaHgxa3dneHR6YmhJL2R5UnZ1Ym1HTnVhMEV6UUFwQnBrQWVjck52Z1JqR0JCSndVaW4vL3FZUHNDRGlTU09tR2VjLzU5YXFycXczRmtneHJiYzFBRjZwdzhmUHpvNVpuVXdCcUlkdFo3OTE1MVpHRDlKM3NmdUdkcGRhMWJNTzVDQU94cEp5NmdqZmZCWVZxYXZuS0xhK2JtWmxWMTlTOFpyL0lJN0pPS09kbjRIWmM4ZXlIWElKSFFLd3JLaXJLNnVvS1FYOU4rRmZsamU0Z3g1ZXczQUpSbDU4dmJtTmpBNFR3SHBwcGZsVk1wQnpmZFc3ZHdXTGk0bVFYa3U3bDVmTFFlN05mbmtYbE95akFHd3VoQlFBemppWHZQY28vUURPWCtOM0pObSt1eXI2WFRqdjNuZVBPbFhiYzNZb1lwN0F3aTJoMUI0L3E3SktVZlpCRmdPbWdrUXB2Y1RvQzcvVjY1RmxMZVlMYllQVURFUXVhUmxGUmNXNW1ZV1pHQjBZQktxZldsa29xbkFlYWd5bUhYRVdVSE5EODRNQkE5OXBhTlFmWDVoemQ0a0wwNElhcEdMZU50ZlhVMHBMeHlaTW5mYUtlQU0xRjFxc3R5bjV4bEFYUjR4a1NZb2JvTVdCR2tKN2NEeThIZ3NiVXlYNExHclB3cmxQSnl6NDhub1lRUFV6YmpnZTJSYm53WFlyTlVTRWhreFhLZG5aMmVIMjFqWGYxNnhQU1FDSStHcmx4Y1J4UXlaQ1hJR1M0NDY0b0VtNkN5Z1NNS0RIWEhWOHdCMXlBK29BQzlwRGo4OUU0eGZFVWRDY3d5eUNKMUFlVGV5R2hnajNMKzRYTGxvWVlHVWdPam4ybTF1amc0Titkb3hNVDJmeWlWZEtYdGVxWGxVTFJCbDZ5SndsUndKeW5NN3IwYWFJRHJtODRIY3dUdExLNkRjb3RUYXFzZ3gzd3k5YnU1WmFGYnFGUXBoQU8xT3FmN00xbGJMMjdxMnNMcDNoWWdtLzVmbE5zS1Nqc3RMU2o5UENFaEFUaTQweVBjcjRwK3RhVlp5N0xGOXZadVpaUEh0dktWVVZWY2R6U1VKMGZVUFhhTU8vbno3ZjY0d3VoWWhmN0JWaHM0NHc3WXhzZGlDVFNCMGdFUEhrYXlnWjRlZTViUjE5aWNVa2dQMStKang4MXdxSXhyZFVaOG1qTzlKc3k1TzdtWmwwcWFvWVNOcy9zRE1YTjQ0aUZqSG5wNURZVWZZNzRrejFGSWFLTGNXNjJxdGxSZG1JeHpOdlhsd3hxQUVscGtBTGNjVTNXOWg5NlBYeThsS0VZeWhVQTl2TzNWQUgvVHpZSTZBT1UrWjM3Q1NpRTFBNGdKUldReDBmTXU4VGNXQ25ORklJaGx1U1BWaXdvS0hDRHFyVEoweGM5QUlJZ2Y1aEtib3psS3J3b0QzSTc2UktJQTlwWUU0Y2loMnRVbEYyVFl6ZjNRUlJhc3lZMWU2QzNudk9wbDdmMzlNcUtPZGlDOFlWKzJzVitHWHdFbGRQekpZTHU5ZlZGWmtXMjB5MkNVVCtYbHlzQW5xRGVFaG92ZkxHM0k2VS9BTFFzTFQwTGt1em1tY09RQjFETTBLTFZqNWwxUVNXV3dhMklKSVZjQlErRXVlblkxYVArSWswOFg3d0t5bG9wTGZnWVkya3BjQ2FFYmFYdlVNTW4zdkhhSCtqMzdNVEN1YkdGbFovZUJiaWg2dFZVTUI1bTQzSGJMZml4dmdxcGhmTlNTVHFuRDdKWFNkYlhSa2VReGxTbCtTdUtMWTZESmtKdHJsZEZyaTljcFZDcG5xNnVWNEdsQ2tlK2g3YU1ZMDUxb2l6QkNJREpHdXU4QkJDeUk2UFBmSW14a1pDVHVJYm5NZ2V5MURqWjdmYVQ4K2E3SG5mb3QzWTk2eDRyejA4enVpTFg0eWtFZ3ppVlBmeG95UHNRZEZKL0ZYeExnSVpldG1Gck5IdlUzcktvVXBtYms3SWdVQlpYL2t4Y1F6Um5WNFlhSHNRdjJBWFBZdS9lRzU3VzNqRXh2V0w5NC9xaWlZV2RUVE5xUUIycHZ6MlBOVndJZERqTEw2RmNFN3JRb01MRGNUbFk2a1NFSEs0aFBVN0VyTXRwOGd1QkRNYlB4anVPZHNaOE5LOTJibGxnc1o1ZWcyc2ZIQVlSTEQ2NzFQbCtpOEExNHpYS3R0VTY5ZU9vbzhYdnc2amMvS3hmbmM4VTVnOUg3WkJQMFEwRXNlMVNPczIrZStPS0l4Y3h0b1FyVXJ5d3pNZVJnYXVmNmtUdlptQzFSTjZDTE90TERnVTd0TGsrcVVaZVhadzBVdUhpRVlEdStmajRnS0dsYkwzZElWYzhFNmxkZUtsQ3M2UHpHakJUMHNhbTdVNjBGMGsybkxwWW5tK2RldDdCU01mYjQ1ZmZ1VUMxY2N4cE40VlVxSEtwd0ZCcWkvbkNiMUMxRUcvdWhCYTFWM215aDNaYlozazJ5dmU5VDlBOHJwamxnSURQeGxMaTVocStIbHhLVjlyVjFHZ25takRBRzBDZDFCZVlBdnJOejE4Ykh1N282bmI3cFI1My9UaE45U1IvZGJGU2docHp0Y3Zuc0x0VnJBZ1FOUDRqSUNXdzI0Q2t3clVtajVEWkk2NmxBM21qYk9pakdLdzRwRGtwRjNFWmxwSjRmbWRHVldqSVN4cnZQVXViaDcxaG9YRStkMXJHcEZJTzVYekMvOFpJWWVjaXFiRTVTd1JSQzRWRSt6NVJNNjVhdFZwUFhuTXNWajU5ZWRIMGZlanc0UFpsYW9YL0JPTG5vR1pxVVRTZEl0dmFIMkFxUUk5eDdLa2dYY0lSVGJNTnUxZFhxOENZUS9ESVFRUDkvZCtoUGpqMlZXUStDektaOUQrUE43RXB3c3NmMmoxa2NGL3RPeHB2TVVWRFdWcGFQbnVYVUxoRzBTR3h5MUhFTnBlWFRZRUhxaXNydndQdWdjbjM4ZldGMEJGWCtYYXpGc2FDR3pvdGtBREt4Z1JLRW1Qa0Z4S1NDOXlhRXo4NDdsVnVDZmY0eVV0a2RXdE5CdzVTMEg5bWVzVVJwK2JqOGtEK0hZK0F0SlJVWUhoNEFiQVlWQ0xnakdJUFFDaWlaRUQzN3NoWkNKMTlaRStkbTBOeXhUUmZuaHVZa3F2aXdVREc1dEpKcUIvOTYzbGxrd1F2QlJPcDVLQ3dzR21VSEF3TzFHZHE1T3UyQ2V1OW5TNmxQaEZQY2JnTFFQZG1maDVGTjdPNi9ZS2tFMXUvMEJvR1VDYzI1WlZBVjVGbFMvbDJYc2pWSGYzaWxIb2hQbEhvanJRa1RNeDFqSmZINitSNHBsWHZacTd0emJDV0R5Y2sxeStSS1RNVjhyekF4WWpORll4Y3VRUkdkbkJ3MEREVHdNK01WS0Y2OS9xa2VISWIwQ1JpaEtEK1ZMWlY2QzQzTnpjYk96bDVhdDlYUHdZY1BUMDFwVlZ1MlNFZlEvU2haMDA2ajdxYTRxdmxtNE1GdlB2dWNzdUtKbXBEVlNPNkhZSEJPeUFvcGZaMnZOcmhhRE1QQkFXbUMyTjZMVTNQMWVQbzl0UTloT2xBUklpbVpXVGdVcmFDU1BUQnQ0SWRxdHBxZ0ZQTGp6aXZwb1p2YlgyNGg0dkxKTTlZcEpXejBRczAxeG9ydjBmeFJmdk0wbDZQYVhCSk1JOUdLdVlWOHNHWkJ0OUI0b0JkSGVJWjVQa2xVcVdPQjZJOEtpQXc4K3ZYbHgwUzAvaGpwOUIxcGhjOVN5TmV2SGdSQ05UYW9BZWpsZCtmcHRkeTNkdkd3cUxiNzV4eG5yRy9WUy9obi92Y1phRDJ6TVNkenVwSlNVbFpwN1VWa002UFdEM1NlVFVqdGhocGZrQjQvb1RGY1VUUzk5TUtCSFl5UGU1bGZLeCtRKy9TSDAzenJ3WlJjKy9lTnBXb3pTR2JJSlFyV3huQkcrbkJaRVpVMytob1ptZFhGNUhWcGk4N3ZXc1NBWGRMRExMQ1FKbWRyUlJ5OEJTVEFKWGc2WGtOVVFtNDZySk1sbWtzWjlMNjZGZG1KV1lMVm5QeTE2L0xMUzB0aFk1cVNUcnVaMUttUUowQUhTSWlEVWZzQXpuTHg2Q3o3Ynl3YkMvajV4bjQrdlhyOTZBbFdYL3cvT2FMMTFSU1Vla0ZFOW5ySm9mb2JSQi9TRWtoUG4xdGJlM25iR293RHRQVFk3UlJ6NlF6bDhCbkVqcWNBVmI0RWxwOFdOdWg1dmdIUDFvY1VDaTRBVGE5dkR3YnJIOGtLZWJlT3p1Nm5ZV05UUy9VSEpJOUZJbzNQdFZCbmhPd0JGbTdVbEw2MGQzOWxGUVRsc1VscVBxKzI4MU41bERsZEQ1b0l1aElVTzBoaGRvK2RadHpSNEpwKzhvdHZUMWVKSERyS2ZCeElqQU9DVmo0NldlTUUxU2lDY1kwQ0lYNmdQVWRucUVRc0Q2Y2UvaUZTOU9QanBUbzBpNnVOTjdiMEg3d1NUbXUvVkV4WWVDdENpblAwNWFrK2FmdUpvclh4c2J2YVV2NGNOZGdyN05xQmg0eVlYbDVHVm00QUpIb2ZHWmF3QTVMZ09mMkVMQyt0S2pOTG1aMy9TWk5HcnhHRUk2WUo3WnVMWlVMMWtPZWoxTlI0ek5LU09LeFNLSjJrczRKNkZZRDUvanJqQXp5ek14TVZzQTQxejdTcEZOOEQyTEoyNlRycDVMdElydkorS0tnVzdjeW9iTG5lbEI2SUl5aGFIRmJNNElpSlkzN2RXT0JvUDhhcktqTnlhaVoyVmxkR29xNFkyZnE5UjhlNWRadUpWSlJCTG96dUtmZWV2TVNjaXlYNEZKQzFMb0dUTU9tWFZwYVdwWHRQdjRZb0JlUXFVYnkyeFNJUFRGbmdmOXpjbm9yTENXeDd4T3ZDNEl5NmdQV3c2MWg1KzJia21Oalk5Y20xWmg1K0NJN0hFdTNSL2xRd1F2d0tPUGpUdml6RHBkNllnUzhqajRCNkRCN3AzUmtENUZQU0dFeEc0eXMvZk8yaWVldHprUGtjSUFqMEtHZHJXcWJDMXlnWVN2ZkdxYTZxOS8rNU9USXcxcjNNclloSnlURmxtbkxaa3VYZjVheDluTDI1YVhOTHB6L0cweklDTVVuWFZmVUJ6VUZFUG9rSVlIMnU0Ty9ObkxEa29iYXlEcDlQN2pjalRQaitpNEFpaUQ1ZlE4dk45RFVvUlFpVnVZdnBlaTZlTGhUWWh2dWlaajVtVWtsMDZEMmE4TVdOWDFKTlFpbWUycU5MMVNTcDBzMkpDUkVWamhPeFFkaENBZS93VGpnd2FnUGNWRm5VblM1dlo5b0h1YzloSWw5WXl4V05YbXpwZXhLU2tIa084TzhTdHREaEljZmg2bmlpYTFUZ0FwZ1B5eEJRTkRkaTVJNy9DeHNiWVBQeWhmd05LbkhZT1RjamZScnU0cUlQdm5XVW1SSXI3V0paRHZyaEdkMEZYK2c0RWVIczdyZld3bEhBUFEzam43SExEcW9zUEx3ZURIQ0xseFZLTGk1cFlVUTRFS09rVXU5RHJacEJvRHRBNTVNcit1NjB6SnZmL3NOZlV1Y3BiTkhOck9MMFhjazdOUTVpYlc2R21yd0l2dFo3NG9IR0wzSzZ1b1pseU9oSEhKV21CZWRuWjJCb2FIdm9UZ3F4eW9ZZllMRlFYeGd1S3hzcTgwbEVDdDIxOUR6UVkzNEdRRFFJS1dqdkpWekYxeC9GTlZ5RVgzTTRqVWJNZGtPNHQ0b3M1a3lXN1pwckFOWFZFSkMxR2szcTdlRFBKOGhUWHhXR21ia1ptVkRjNXNHZHgrZ2RpYjJFUndTOERuS2xocStaTWZRM0FETHZTVVJ5Z1V5UHp1eG1QMGVqR2Y5dWhsdWNqT1BMcDVOYWY4NWswczZKbWVsWG11WU53VW9NK0UvSUhtWWNyUFJkTlRQL09yVnEwQ2NBREhwbHUvYUt4NWkxNkxKWkU5ZWdaclVaMkZkcXpVank5OWRQRDg1bWJ2eG5aelBEbFc3NkJvaDAva3FaNHBwd1BtSDlCb3Y3ajljaitiZExKbTNMOVVFdzIxYU92Qnplam9QUVhLcDVGNlA4dC9CcDdsWXQvV1NneVFsSmF2eVorUGpPZkgvRE16ckthVDIvdm56NStlM0Y2Q1pCWHZqK3Axb01YeFdpNGhwN3ZYbzVkYnY5THp0UW5OYnllWFc4VGZEQjFzVDZKOHY5SHhtVmtvY3RNanlJUi9xMzBBcHNpVCtldUdySjdKL1R0Wks4bkh2czFCWG5kQzRuZDdVQStJL3lvT0V2ZEk0ck1RYll6aHEycTRTRmt1UDVRRS9RRmRTeE84T1ZzMEY0NUJsZHlJeDdkdkVSK0duRHdqMitlQTZscGY3SW9Kd050ZEZFL09PWHQzQVlWRmRhU0d1M3k4THk1WjNINWszRHBlTFA3Q3pJU3BweldEY3grYkhacjR4VlhaV281ZjVtZSs1NHUyVnhvVWFTb1pHNXZDeWNIRnpNM09MRCtjRGl2dU5Jbnh1WVlOcnlmVHppc1BQdlZWSWxHQ2kyQk1TVWFFV2gwYVpZWmRVOWFKdUY2ZndWcEErZFhURUF3NnFzU3RzdW1jdW91UnJFb1p4VCs1UTdwOFhseHQ0dFpQRSt0M2xkU2grczVpRE4vVllTVWxKNW1mN0VmYXJHcG4vY0tTU3NyOTdzOGJVUDJtZWE5dDZQeVQzbWxWQ0kwL1ZLMjRocnpBUGRDUzl3Nys0MkVWRkJDSjUvZEp5b2V3WXRYZUJ6Y2tYTXhCUlZMU3hlLzZuUk5semVabXV0MWVlQnplNUJ4QmM1WlY1aEx5K2plUVdWa3hpc0dBM2ZQTG5XcDNIQ3ZkUDJpUzFqTjhLbVFnZnZtdW0wTnZaWENYNHl0QzFhNWd2TEhYckFKbVdFOWtYSXpmYnhyNnczc2hCMG15NWdHNTZwRGk1bzl4aWtwejU2Z0Fob1FFM1M0K1kvTTYvdThZcUc4M3ZqUlBXeiswUk84aitMRkpTQkJBdHVKWlBvY3l4UndNVDlHbjUybi9lQ3hENzJhVmxCWHZIenRMU24zQ1hFR1BOYzZibVRuTm5IbjE5SUt5MFY1czNSZGhkNDVScDNPandyY0I5Y1hYMXA5MWFqTWEzYnZmVkRYOWtZVVpmN0RkSmx6eXVRdjZHejBIbEdPYWxHS2xRMFVkSURHeHoyNU9iVG1NL2lveG9nTmRLYVoyMUtuc3JjaG9pekpqUHJPa01Db1hTVGhQNzNTdmViOGtPNWo5TE1xVTJnY2ovem9YUzdWQmcxc1NueW5pbHFEdGVkT2NsWFdsd3dmdE8zaFgxaC9MOUpCODAwOU45U3dOSzZGSFQyTlU3MzlUajFiYjNTNzJLNVBua05YRU52VkZ6NXdmVFhLSS96SzdsQ3A4WFJ6UkpHQy9kKzMweDVYSHVFNHRES3hLYmd5bXhQcDdFbmdwVUpwTzl6NVNqTEIrUWYxV2JpRlVvL2RSY2d3ZmZGOXpUNFdLMEdrN0MvSFkxUzZzdytFZit2Y0tlaU9FTnEzc2VacXR4ZnhTVzZaZ2dCMklmcWVXakZsZXM0dVZRM3BRL2lsNFpQNzRPY0ZmWTNGUXo3cDlVaXkxMUlmWjdGNFI4UlIyZVMzMUxwb1NWN0hVVDkyb2V2NFVYLzVVeE1DSzQ1Mlg1N1lFYUIweHM1N1h2R1F1eDVXRXRRbG9qZWE4c3RkaFhEbTRPY05NWENvdERBZ0xPbnIwSTRnK2IwdlB0MnlPcnpGdnBGaHFuRk5paXdQaDZ1OVlDMCtxS1poRUlWbGpyc2dqd3dNQ1pPaDB1UGQ0eHpwd1RHbkVXUkR6TFN1eVI5U0MyU3pFdUxyMFM3YTlrSFpoelI5RVp0TFgydGNpKzRnZk1sUjh0NUJ2dDQ5SVBhSXBEZlFlY2FnMFJnWGlnSUl3VG8yaGdYdlFsVkxrUDZDRlYzWjBtU0JKNGJOSFZqVkx3ZWo5anBQNVplRTZjZlZuMTVOM3RkYnhMRjBkS3Q2KytLVzg0UzNqelZVSHR6MGVpU0Z6VFcrQk5ZRHBWc2VDemkzejI0cFhnVlFZSmhCNWtSUVd4TjJJOGNTQ1NQT1Q0UUV2OUdCaElBU0lqa3JiM1JYdVBiNVJXckZRd0tqUmJxaWQ1ZHltUk1rb3owa3dtUjJ0L1pKZzhucXgxWEU2UFl6VGNHNDV3R1BQcyt2Sm5PQmtUWWgrZFhiRXRIN05oNzlESldDUkpvd3Q1aENDNVptalZ5RUlaZTZxQzhXL000bnlHR3ZXZjdvSk1IdWJxQWlzWGxleGFSQkJlRHpwSjV3eFo3ZUtmTjk0ck5OOFJ1dTF5VnJkQjZVQmdEMkcyOFVmT0JqaDhURkVSYmtlVVIvbmdQWncvcXVpUFVkNXpVMU5UWkVrWGVXOFFGV1hIeHNZR1hKZThSSDYxTzBublNwN3hOM25IWGcrVEV2UDJhRlpDUW1OMTR3Wjk0cWpIUXVHcE1FSHloNFNXY1orYzJ4MGZpK09MMURPSFRRK1hyVDFnQkhQUzlseGZZVXBPY1pkRmhkcVRLRHdxZFZqZUZvL2Q2M2U2ZzY5UkFwVSs5SG9nS2hKb1hseG5pVDRVaXQ1WGs5RG93UStqSTNBMDVoUmJabVp4VXZ2L1NZcDYwTWdZTk4rNEg4V1hTMWUyME9xWThQZlJrRUVYa3FUNUJSYnhaaXpERjdadXJ6dWN1bVplaEE4S0Nwcm8yMTlaVlhWREtqbHhpVkRSblcyb0RmSnhrRWpzQmRGcE5SaEMrbE83UE9vanJqUzQveWNNYnBCRU1zMDBNSkJLTmhMWmYrTk1pdkdwZzRhbEE4WlN5UUc5YTZOKy9mSWVwQjFQMXVudUdwSk5qamY0K2ZtcmEycCtEZ3dNMUhZUjBkbWVwVHRyUEZYTU9UODVuN2xsdEl0QXFVQ1c4WGtJaFlHQ0h1RXVuRTc5VHB1dnhTMm9TWXlJdHNmb01GZnYvblpPNXF0OWlhM09ZcDlxMFhROUtxbldLTC9YLzZ6MGJGMU5mQTJGZjVSYVc5TDB4cXZvQWJDZ0l2Rkh6RFd2dFR5S21NZitoL2ZSM2hJSDIxK1pqRklpekcxdCt4TFVOdDl2YkVTRW9EblNGQ2JLYll0QWFlVGJGdUVDM0lwaW84eHZtc3JtaDhqcmpadytkbkVrdFdUYVJ5SGNJTThZZVRXbW5qbkNSOU1TR1hPNXRvUlNPWHJreU5UNitoRDN0MTRQZWF4Y1NRWkZMcVZ0d2xnc3FheTBOQXZ4REZScVBzZ2YyNjA0YVdwdmZaVFNPKy9NY0NqUDhyRk03T2RXbDlMQm9TSGpyTzd2VURBL3BwZUdKbjNQN3ZteldnTTVNeVNXVEdKeHlGZXh0YlBEcVhCN2FVK0dlYkllaXVLNmcwMFdkcnY5VXQ2VWFyUGR5MWI2dnZ4NjN6K1dvd1UyRHduRnoxVkVyU0laUzB2R1JYYjFwaGpUVkQ2OWo3YXNuaVBlOGJ2UlhlWlRwZkl5TmFQQWs2ZDU0dHpsK1BJSUZNaVVEbXVXTnR5UjRCTHpRS3NQQkJmcnlJVlFhNWpkS0FaaGVHbDRreEJsQkQ4Z3BBNFBEVlgyWGtTV0JlZXlOMU91a2diM1VsZHQzeW51RFBYNis5N09BTFFpcnpCWXI3THE2ZytJVGhIMUx0cEpPTCt3dWpqcFkzWU50MWFtMmF2NkdIT3JkY0lmdUFQSm1zM05Pb0lDQ254Mm5yR0hod3BiNnBYUk5GT1ArQ3dWY00zVFBOeklxN3hqbnoza3ZaSzFDZU9mVWNhUHVlZFBKR3FiZmE4Q1R3UENBMU5ZV0UzaUltUjJFelNjK0kwdEZOY0s1cWhoamJ4MGJrc3BSOXVMRm1Wc0Rmek5CVGU4RlZKOU10akZDOHNHdDVFM1N0U3QrRWwvQURpa2R1WVluc2ErZk83OTUyYnREdEtPdG5mRE1Ub0ZEcjRLcVhNcXp0UmRWbC95elNVODBHaUM5eDdSMXV1cjVmSTZZd3VWWUxyQm95Nk5KNmpOU0VldHh2WGg4ZklwdXNpdWc0Z0lESmlRSzFrM3NPM2x2UUdoSExGVWNaZHlwY1BVYjYrNjNYNnFrUFRUWkxlR2F5UHhNWDNuRnJTM1l2S2lRbW9Rc1FYS1BlSjJUbys3dDdjM0lsZG9FdUFqODBFT1d4enA0enlhMEpMVTRXSnk2bUJaVmRXMGFyLzNWQU1mbjN0MUtrRzl2YWtwV3B5MHFLaXdEUHBuNks1V2hjL253Y0ZYNUVoczJrblA4bGZWeEVMK1JhNW85Vy9PWjVDWDRaOC8zMEhXUGllN01qeTl2VHZrZCtjUWZjaWdzTUYvSXU0ay8xaW4rTWZVb0VKWDdpTWtWMUk3QzdWZThtTjJKYlBFOGhBa0JyS295cWFMcnFVRUVmcjd2NE5mSVVTVW1lWWpyNW9OaXN2S1FMWC9jdm5aL3lSVmdkRmdXd1JpRFBFSGs1T1RoYXlmWjN4bjViRk9YTEVhV09sWWtld2VkekRKVS9wUmF6M0c1c1gwbUIyOGhLWFppYlprWk9iWDFxcDFzcCtwWjlwaERST2FISDJ3SFJZYStuVHVlNE9lemxjeVUzUTF4Y1hGTGEyc0FvSkVndlc4dFI1RW5KazMzN2wzeGFYZ1JzbmJLcDNzdDJBc3NLZzNVVm5abDRVendTYjZuWnR0YUp5WitRQ0pOOFNxUitJS0lxRFFhTFFWc25nT1lVQlcrMDhCM2tpZXRBRi9HaGxabUpoNEFEcjgyVnZiMjZZZDNBTHRlWCtNRm1ncnlwUWJ2UXJ5dHR2dFY0d1NZQU0vZFM1UXFYQlNKS09MUERKeUVjYVFnU3hzZ2NqSU16aWxTeWx5c0xxVWtaYUdyS2J3OHZJS1NnWlAxT3FrS1o3NFBueE84b2VUZlV2RWxQeHJiTWRhUVJRMndBZXRhMDZNalc0S1Z5M3FkbnRISk5xQWVPYU0xWURncEtXblYyK2NldHY5M3IvcU5iSUhBRnUvY1IxWjcxTlFWSVM1ZjY0cktzOFhiNzN3Q3hkQ1BiZ25saWhzWjlyb0dDUUgzMWFJL1VySUY5a0FtWWMzOVB3S0U0K3FUVWRMKy9qNGVBQ3BTTnZWL2V6cmU0R3N1cjFQMFczbVJQYzNXRzBTRlNqeUMxSnJON0VsN25rVmFlc1FrdUNRRUpzdWdwdWNmNjFUbnhPck1pdGcvSGx5WDhVSE5PT05OYml1VlBPQnBMcnI0MlVtcHpIZEZmR3ZOYk9la2xFVlhBUmtQMHJjRlV4QlFXWFRlNjhYR3ZYRFpzQjVWZFo5WUlNRHdmbERLbUNUb3puUG05L3I4U2hIc05HL3FnRGc4Y1hGemdsL1pBZllncGV2Yno1WTJQS1RCY25PeWdKQTZlNWhZUmJBRk1obWsveldyeTZsaFl3aGhVbElUNFMzV2xzZmZ1ajlnS29sdFFlRTJuV25MU2lZMmpYVU1FSWZoQ1MzOWZRWVRTeUdRYnRaYXRFMGZndFpQc2Y2Ky9tOWdibHp5Yk8yc2NrYnB1SW9SWFNJNlV5dk9LOFFzbTFBUytRbnFGelU3UUxYRmlzcm1VTzdoOGp1TkVVdzlwU3h3K3diMVE4dEFkODRxekFuRGZON2gySmNxcXoxTGx5NGdPZ05FaW1kclAwblhkeTNOcHIySXN6dUFQV2dEZFBZaG55amxHWUFhSUNzQ0hvcGtEMjBRUzQwajVma245NGlzRzNMMWdSSG1VTlRZSDFjWFYzblBOcFV2NFFFQjVkVlZDaVVOOS9GdUx6VXlTNnJxMU10MTM0dWVTRk5MeGRaWi9mZ2NLRlVoc0tUMnRxdUlaWmFqYmxlaXZndGpLbE41cnVGUGs5ak1XNnNkNEFFVDBCQzc1TzBEcGR5RUJDdHptK3RwWEpwdENCZXJibTV1WU54VFVON202R25nRWsyV3M4aWEzVm9NYSt5c3JMeThuMXhIK2s4TndiWHRwR3V0L3ltMkZkcmRkM2RnT0ZXL0NxbFQ5YlN1Y3UrRnZWTVQ4M082ZzU0bVU0SFd1Ym41MXVDNzU4VUVraEE4RS9tVUNYcUpYeUhQQjhudnMxNWNqNVdNQkpacjMzVTlKYXNVdnlLTGIrMHVKcmJzeEw4Qy8vdjRvdWh3Y0VnMU4rWlMrU1VsOHRqM1Y5aGkyWDU0ajNBajJOTTIzcmZ2dXR4VDlJNTRlM2w5ZDVZTE05Y1FpOHRYeTkzbk4xVFgwOHZNREpTdGZ6NGgrc25hVlFqeDhuK25ET1RpMkZteXFrZExzU0NFeHlramNqaGpqUC94clNoZWdORDZNTU5KSVVRYm1yN2VPVDBubGxwaWNLMDRYL1BvMTNOUXNHRTZKbXNNZkZSRzhsUG5qejU2U2JuNGtQd01nczFNek5ETVRkcitTdUswK1BEVmFsODN5Y21ibDRSM3Flb01HZno2V3YxWjB4eUU3OFg4b3I2NzVZTnFETmtFZGkvYXBaUG4yTXZLWVpSZHlKbG95WitYYU5VeG9WeTVEelpuQjU5a09sZDJ6SVRxQ1NXM0dhRTh5a0VmWWUvOW94anB5bTVHSWZMRDhaUjJOa09QTHdQMVV5MitaaVJHRWtjL3ZYbnp3K2FtSWxZVXA2Nk5zZGVoZWYrQUQ4QVhsQkFwM2ppcW1yUHprYUF4QjFpK0hsNlhxdTE3ZXBnTDBIeGMrU1JqdTMxNVd6cjd1NythVXBkUGxmUTNGd2ZsaHh5cWlFOW45WUFFYXdjTFlPcThqdFhBTE9GNXJYWVZyY0RLVjNHM3ZJNU00NmRmV25lWnlVcktpcUc5T0tDNVY5MnVKellxQmpMMkxIVFU3Zlc3S3RDbjFjQWsweXJWZzFmR2Vuak82ZXF1dm5lb0x0cjJNalJLankyMFFHRHdWeW45TGszU2d4NEJYc3NuTWI1WXlkdnhsMEJuQ3EzbEV3RG5DUGlRbENMditNaEx3RkM1enlVSmM2RjRzWnF6WXA1M25tRk5nOExyWHFLQ3ZBRkY5OEt1MUJoWTJFbCsxYnlpVnhSanFNcDlTcEFCTVkwNEpoblFJQlJXMXNic3AvS3lBSmlsQnBmV2xNeisrSUN2VXNITEdyaEpWOHNBVm1FVkZWTm42a3RzVDFCdmxNYzROeDR5UFNUWjBzRmFqZTY4OXExYTRXL20yTDR2RVJqUWlUWjBkS29CTVljOFlMWlYvZEd3ZUJPcjRqZC9HUEZ3amErWE1sTGhESTdBa2tsVFU5Y0lNSHozSkhxSzkvWGp4MWVlUUhja1ZOalZraHliQUtFdWk1NklBaG5BdzB4T3dPbHJ1QWtDaXQvcUg2djFlQXJmVEpOUElOc0Z2bTJEZ2lEYkZtaGtmRkdHcnlMQ2cwZjgvdDBzb1duOFVKbkQrMDJ6ak5HdHNXQkJBR1JqOS93Tm1GVWlMMnRINjBnSFVoTnNvOSs1enRjMTR2c3lVdElnT1RQWGI0M3ozc0RsYXNackhRVUVTLzJrMFFQQWlwRTRKWHNLT2RKaFVDbk9BdUxwN25YODh2RUZ5emFQTkdDV1dxWHphOWZ4SmoyTEN5VWtMV1I5eHhBdnZ4OUM4dGJ6YjNqbUxVSGdBZlc5bGYwTll5T1ptN1NpcUtta2JWTXdFbXJ3SGJHeW16NE1rb0Z5T1dvZ0FDeU8yMnl6MHVodks2dU1DbUptNDVDeGZvWHpIZDNwblRNVHRGUVJpcENzYkd4S1BwY0dreG5yNXRjenZKNE1kMjFDRzhFNnJ6S09yaldpa2Z1UkZYNkR1cThjUkUrOWRXT3BkT3A3VnN5R3BrTXZkdWZzb3BqUHZFVmVKUXJ5ZmNXV1V2cFl5YnNPUjlMQ3NoNTBsUVpmc3UyUklzUUdsVFJFckxLaXF5ekdZdjUxTExpSHFVRkJjM1ZldEJzNVcxdGJLYm41dzBRd045Y3I4b2ZLSTVwNlpPYlorV25mbmdNUGprNU9WbnAvSGxrT09RWlZUVTFaQ2RLTlhIdUtzRUNuZUZVUHh3aWZzU1NYc1c5SDlIQUVacGVPak1hV3hvSS9WYm5TcWFmUUpHdzVRNTQ2V0YrbmZPTWVVQkhvNGY2VmtoRFE4ZzcvWCszT29MazhUblJZaEdQcFlkWnVaWElDMHFFMTBZeGJaR2FUMVgwWFJwdFpBT2lUVERsb3UzaDZuL01tVXB6VE0wenlUY0JwdS9ZTFVlU1B6SXJhNzdYUzQ0UFJvTnMvVUJXeU9uVVljUWJXR0pBSjFYaFAzZTJnVTNoK0pEMit2VXBnUVNjTFE4aHFQZlJSY3FSZnRRSm9nOCsrc3VWQ21PMnVvTythYzhqOUc5L1VweXNWeXFYc3VmM0tHNnVCMjloc2kyMUk4ZlR1b0NEWU1jMlloUC92Vzg3SUNTeXFSTlo3NFl3dnJlV3d0bXlVY3ZPVTdrclZUUVppdVFLck0xeFRQZUNiUlhRZlRWcFAvVmpmM0MyQitkdCtYVUZreDcxK3lGOGVSbUtJLzJQWS9MenhVRmRnRDJlWGxzYnBCRHNtOUI5MFZUT2ZWd2wrRTh4WGw0ZTNxY08vcUJRTUJ6QnZSNDBFdEdZaWs2clZaRXhEZkFQQ0JoL3dZNjk3WGlwdlpyczdmWTVIVmU3QjlsVkVWUSt1cFVqdHJRek01a3p3MEk2anZhaG4rd2svazloWWFHZXloNkdCWFdUQjQvSEk1Tk4yY1VocTBEcFlhcWVKYVdjWGo2Q1laMzYvYnY1dWtvRmM3RkxxRVNZZUVWeGJtc2RvalNxTExUN3pPOU5ZV3dxcTZ2OTQxaHZsZzdrWmU3MnBlUGtwU3FlbDRURXRpRGI4Nnl0SzhVYkxCSW02MXFtTjNEY0V3Tzlmcms5M1NCL2dYNElubzNOSDJ2TkNpdVdvM2RrZVpSL0FONVVUQ29lOE9yMFhwbWR3ZWVJMTBVd1RDbkJWb0EzT3JrOWp6U3pqRGlja2NkbDdvMjZReXB3c3VKNlNOdjdaZnlXaVJpMzRuMzdzMGM4eWwrQnpCQkxlaVR1OXpwa3lFTGxRb1hVL1IycG8zN3ZVYldGamlYdmthM0dyMnZNbUtRWXdvdkRXUGZNQ1g4TFlCV0lMRmNNbXhxSHJzSmxldzNoYk1QV0hZZjVYejJMNU5pN1RQSlNTSVcwcUVaRzlteEEzWkYwVE9TQzRDYkRSNDV2N2dnWVJHd1pEbVBnOGJrSmQ4Z3MyL0RXSmFtcHhSMTEyODFlU2o1VWxRay9XOHFqK3FmMHJVTCtZenRMUytSMVAxcElRbEx5OUZNdFhlOW9iN05WVTdvOVE5cGMrbzdrcWJLcGJ4R2xoZW54OFhFdGpyS0tjVUxKYlZVZnd2TzE1NThZV1dGaU1Sd2pFZFo5UjczakZ5TG8zbVo1bTIrVm9vNlRPVytZdmw4ejZNN2lmak80SjZzaTVibk5GalE2WkhhR0dITkdOWnVmbUNPQlN2WllybXRXTU9ZR0tiSEI4TFR5NnRxYit1T0NKNEZtVVpUTHJCa2NMODc3dEhtWXArOGZ0R0JzR2h2NnVuZi9WM2FMRFFDaEFQc2VoY1hWR3JTMHBLVGtkY3FpZzRwSWNGU0ZHVHY1NG9nVjRMcU9hT0xnNE9BUDVvb2dVNE5KanRvbzJxdUNJTEZORlQyaUVwVmJOVkMzbjFUTDVWV2hvU3lRd1ZkWHpCVk14V3NRWitPVTlaZ21aU0ZmbTB5UGxHbCt5dm5IY3Q4YkZWVng0YkxtenZxOFo4UUVlcGVGaWxEZnVTQWNNVUhCL2crcHM5N3pkMDFNTzY3Nm5VcVJadFpDOXdMbEhFbnB0dERvWjBaTmpjWitVK3RwVHVlSGx4MC9jQXhiSFNGUTZVU3pJang2bnBZVzlLU21LTzg2dnZ6WUxweXZGZUN4ZXMyV0J2NGNMK3pQTit1VGJ3YThxaWQ5UzZVTFJCdE15NVpZSFh5bnRpTUNaSGdvMTdwa3NIcWZ3c0c5OFpyRTJPcWpQWXhMWkVsckJrOUNqK3AzTkFod3I4MjhaQzc1VUhyUUtzUGk5dXF6bW1QakpYd25yTXhiY3hKUWNUY2tLL3M5ajd4YmVDMHY3a3c2WDJHN1BiK2orTTJNNU84eW1jVVQ5TGZGZWJXbW5rNTB6OHdKby9RTDgvTDdoT1p0U3JqMG1SSnMxTjRGRGJNaHU3ajRtd1JXeTgwVzdOU2VGL1ZtY2NxS09ERnNzNzhwMTRPME51bUk0VktCV0ZyTXFtQUxQanhqWUpiZHR5Z21wQlF6dklqZVBzd0xsU2F1di9xdHJWQnZJVXppaVBKeTFWSWhZLzVxcFozUUtWUGhMZi9UNHlmL3QxLytkQTg1S1RHTW5CR3hsK0xnU216OUFzRDR2NzlIeHV6VVFmK29RVHJ5OTNraGpqMHgvK2ZPbzR4YytudFNaS3ZEMzlNaFYvN3JLUk1aM3IrSGFmUWJiQS9CcDByL1h4cjQveXdlMWtnSS9oNXlNbjhadmZQLzhxbVpmeThIbFBDeXNyQ3NTUHlOaU9yaHY0ZXNIaVBIYVQ2cGV4MlFwRVllK2w5bCtQL2Z1Y3oxU2xmVUtPcnZjYThxQ1dWZDBRTjBsZjl1cWpNTnZtNjREeC80V3dZUzV3NzlQMy9temlIVFFHdi8zMjdKcE9pSy9PM1VOckQzTVkyWjBNRERpdnpOdzAvMk10K2grWjE3ZmhucFBNZURKa2NnMGtlWGhaKzlteG9jZk1XSVc3SzZkVC8rRmp4VkxSM01LRFJ3SlA4ZXNRSC9COFpjMjNDcE45K01QWGI2QWR4ZXY4QzZVeHR1Rmp2SUxwYWtBNCt3Mi96REc5M29nQiszVjlsTDJuYUl5dXlZeVh1cEs4cEYrbjBzMDJBcVRuQ3hSSG5KZklOWlAwV3BiNVpWb3kzSHJmQzFoRXZFMVZFbjA3cXVrSHJzeGw0T042NCtyK3VraG45M2lzUzB5RkJkNitqMGpScG1GSHZHVGYwQi9NclJUY09NNDVFa2xuMTdZcFBhSmtDc1Myby8ybXlKV20rNW11bEF1cmNZRlRWOFZOcS9QVFk4M2tuMXhadXVtMDhKVWZGT2taMFUzcytlU3N4bC9WRjVsSzcrcUFyOW9FQ2pVVE5qc3cwbFJzVXlHdTdSSjhIcnZuanhvcXlxNmpROGpzN2NIT2F0TzA2OUpGRHRGRG1kRTVGUUg2Zy9FYjlock5LRUQzeWFFZll0dlFFOWQxbzVKbmYyZEIyVnFUVzVhUFJrOWZzdEtubjZKYTNmc2VUbGorbWxvaWdxblhIQTkxdGxFZjlYZm9HNks3ZFhzcUprVktQdGxGUzFKaG43Njk5bE1IQkw2RFdWTUxHTTR6WFVTWWFBV2x2Nng5ejVPcTc5UXJOZGJuSjg3TmZuR05vd0FZZlZNdzBlVFBQQ2pCZFBFWWxwN3hKaXBlZm01bktxcFdlWnJwd08vVjJodm93VHlFQkZveTU5UzY3Y3dKLzdQVG0wV2ZKazFmeHUzVlhlS3VUZjlMSFQ0VS9DTVl1cjZQRGhLSDBrZ2tib1lXblU2MkptVE9uTXNmblZ1MDhPU3ZvelluT0d3OGtFdHFhcHc1dW5JdldwTk4vVnFnTkxDeU9FUjRPSzlibU9CV3B2M3hUMXZqVUtXWjNZUGtJN1RUNHdmLzdQeGl2Rk1UOWZydnNiUXNmR0dQUGw2SE1zRjkvR3N0U25XRncrTEhkNVpWaklib3h6VWY3SnF2SDYwNmd0VVYxZEU1bVRGVitSQ2EvbjFWOEl1SitKOHgwL1hTT1ZNSEc2aHFwR1U5VVlYd2dkb3poQ2lRVnNhMHlXdUd2eGhWcGk4QnN0cGp3bW4wWkZoMS9QcU02ZFQwZXpKNHllSG85ZzNsUkpvaE1LTXFxa3JTOExQeDNPdVVYQ2ZudTNRZEJRMlNkQ1cxVTk2U0J0ZUpSUmUvQkdKS1dodmVYUHdaaC9JcmttRnlFRXl0RXQ4ODhqNHJ1ZWRxMWFyOVNtRTN3ajJ2V3JxTVdLQncwVzUybmhlay9ISTlSd1g3M3JKaWk4Qy9KUGRvMFFWdmt5am1jc1ZuMmEvSW9Qc3N1OUt4SU5jUmVsUzlwdGZML1Vqbi81ZVFIOWl0dC9PTXpHK2VodGhnOFRCbm9lYS9jRnd1M0V2aVpnODJ2WmJ2emxjRnd1aEFrajBKaDhiczVwQlpuZzZ0ek51bm9xR1BKUlJ2TEhaVjVEVlpHcHY5KzJhcjZlZTk3TllVWWpMaVFpNzIrcUloZGYxalZUVzQxV2lHZ0ovZEdBWDU1cU1kSmhReTN6S3BFdlZJS0d4eG1xQngxUGs2OHVsUGQ1aGM0NlJlWXhka1IyMWRHSDcrVE9XeXpXWmpRT2MyejlJdmdUZjJwczJ6eWpaWExyN2kxakYrYlJIclAxeVMyN1J0cFdWQ0lpSGZnQUplWnRqdmtwYzNiSCttNGRLVmxQZDdGZ1dZbklaTnU2MHVsSDJ6RnkrdCtUMEljYVdOTFB4VWl3S0Y5WnVzaWlmMmgweXllaks3ZFo2dlo1OExLc3ArOFZ1dTFyMytkekw3SDF2c0dXRVJ6eWc0K01obTBzNFYwNzkzNHk0d2wwRW1KWkVaRGgyTGF5VllCOUZ5QVRNT0hHTlAwOGgrWU50MTBqc3QrM2JRbmZFcmNzdkgzYWU2ZS9Ma3FXSmR4ejZlS0lka24rVWxkdFIzSzRjbW4vUmhmNlNNWmd2cjNhSktYODVTUjljTnVvQ3RjbEh6V3E2OTI2a0xvdjZBNm02c29McXQySXAvREZrZTVRdGN1dTNMeHJhczRicGJ3ODdsL1VXcUJhY1BVV0NTZU8xTlZ2NnhwMmEvZjh2ajZNWnI2bUJkak5yS29lOUx1NzdER2txSHlXM0Irbm5CN2IyYWloeGp6ZGVJVk8zS3lqajBtUUdEWkxFU3poQ2NqNXhCcWJCYnBOUk5kTUlaMXA5VjNjN0N5MXpnWEU0Y3BzUlVoSUNGOUNDelNwMi9jYkhhTFZqMTBSM2hmZE9KbzNNaHIxSlBoMUxOOTE1Z2FLeXBpYjg1bFowQlRlZHlYckJ2M2NIUCtmblQ5R09oa0REUFdSM04zRHlvRUZGcE1PZldIb0taV0Y3MDVXVURWZDk1Z0xQWXpid3dlMmJoZm9LR0R0cjB0MmllcG4zR3NJVlRhdEh3WjEyK04zN2llUlNQd1p1L0xXckJZQzJ1MW1YR0t1MiszMk0yS1ZIMDJWeFdRS3hHdnk3V2Fkb2FHUVEyNTBCdndkT2xpWUs4d1hML2J2b2RDbldzamFGT05qak1yWHNOTGlrZHJoei9adm9IVzcvV3E0SnJML0ZqMVZWNVE3b2NXVlZFUVBDbVhuSEtyQnk3ZzVVYU82d3FlUDdScEplTVJ5eDllanoyU3V3SWZrU09uTitjOTdBU3hzdnBVVy9nYUNtYUZWSStjOUFnS3lGa0tWeno0UDVkZGhjbzg1bjBITzc0c2xnZVV4RlUyOG9aQnFBdjhYZm1vQUpqVlVPVmhOOE9GbDY5REQwT2RnWFBYZll5bzlORnE1SmVhRlV0cVR0WTA2MGNTSHdrOGZQR3Q5OTNHZ0FIbTlXbE5URUs1YVpDMlZHNmhFVWYrbW9iS0hSTHEzRUZwZ1c1UkxKbnVDcmU4bEI1VmJTcGIvUFJRU3IzazgrdSt4d3B0bkRtTUtDblNKSWZERllFYVU4S1IwRHVaNFNVeUliZU5zRk1WbDE1a3ZvMUdDRW9OK2pHR251SithN1NpdnhidHRFUW5SeHpqV24rNFZtbi9QNDM3UVpRY2JndzVmQXNZYmVRV1pwSE1scS91ci9OZk53dkNvNHhLdHRQMWdPSUVWdWRsM1FOTTJQSk5pRE1PRjhTRXArQUhMRU5qTldsMVZkZVBmZDM5Nit2b21lY2JXVGlReUxUQWtKRmRMNUcxMjlnbm9ubHRFaEUyMm9UWS9QMzhoVmlSSnA0UHljSjcrYzNlc0JnMmxJcDk2UFMwamc3eXlZZzcybElheTZYQXh3bUt4Zkh0aWtVTTNJdnN0YlcxTjg0eC9ySzFWS3lncTJsVCs4eTVVdVZCTDVFOTNsYTN6aW5NZldaSEt6c3pVSkRKTE42TzRMTzFLdEJMNklyckc2eWIzdjZPUEJzeG8zNlp1QWZkemxJT2xjZFFBWEhWeWNqS3lFQWlkbEQrMDI5cHBsbnJuWmRBVlQrSkdxN05oaytPTldsdjl4TmJMMDRHVzR1TGljNnExOFhkc05oVDVPSkY5Vit2cjFxNnVya3Juejk4b3QrenQ2SWovZTZRNDAvUCsvb2YzQzR1S2V0M2tqREdteUV1dFl1VG8wNW1VeDg5YWZ4azd6ZDEwK01wdkNkNWNOWHpsRFowNlRGNWZIem9hSU1mbkxzZW4vUXhZOUZWSERtN1lwWFE2UnZuZkkxL0F6a09yMWRSd3RvaUk5VWt2MGtKZHNrTjBWMVZDN05hOWQwZkRWVG0zUDZCK0VoWXN6TENTQ1IwR0hKZWUxakI3U2tKdHo0OXdVMGhGbHA2UXZZVzFFUXpUZTU4LzJaZ3dOTzR4SXlYdVA5WThudjMzTFoyN3NvRDQzeVh0WHB1bWEvNk5QRWgxeDJ2Q3RIVlBUK2ZaMWtkaUdoczEwdExUa1FPQWlvcUs3TEdONEg2Uk01OGxGUVJ2WkZWT1VORFQzVjBiaDBPU3VBOENnSnpQTEMvUE5wZjR2ZlUrWFJidEtUbElxWkNTa2dvTURIeVhsWFVjMlgwSzA5bnJZZktzckt6czNXWGhUQkJZa01jRWdoV3lJcHVlRG5VNnRiVDBrMlk4T3pjM00xRHFDdkxNNTMzekhDTno3UUMxcXNaWGF5YWdhSVQzOEpuNTRValQwTldmRGRxNGpvaDZ0c1dZQVJkdTNVM2JtTE4zSTZVay9ORmJQOU1mc2l5d2xYODFHVFphalU3dlBXVSszdjkzSnpOdG1XSzFzYjdZQlNtRXJLRzBqUCtyL2dvWE11VDFmTTFtWVlJQlZmTHo4NUh6WmpRVXhFRXdMYmZiN1oxZWJwWWxKZ2U2dnpFWnRabUxMSlcxdFYyRFdnTkVxbHFMOFZJUTE0WUhRaDEvd0pNL0dJdFY0M0JHdGJZaFRSa1FTcDFzUTB0THkxZUh3eVdtaGtpa21iVTF5NU1uVDY0Vk1kZWtOLzYwU1NNTGIxTFMwa0ZvZEw2MTFHUWRGRHpqTU1mUmpVaTdjc3Zya0hKSXJpZTBRTHpuSXIxMzNqUWRlV1gyNEp5bjZIMjZRaW1mSlhOQkVFVlJtMkFLc3U4cG5YRnlPUnBnRzFwTXZiZjBJWng2YVN3dlhHcGtRZktnME4xZzJjaDRuYmxjdzZPYklKVVdWMnRmWjF4UkRlY0pLK3c3aGJXVWxPZmpoQWFqMERiOGU5NzhtV0hlODN6cGZ5Snh6N2lpMVFzVkcyUDRFRkZZWGYwQmNDZFFDWE5aZUtIYnJ3RUsrOStqZDhocGI2NVByYTBQLzkycWpzalJ1cnBDREVaU1VscGEvTWdlVDVsRDczczlJTGZ5Qjd5UTFVVFNUakxHM01JQ0FjRnpSNEpWVGlrVUlOdllZZGJOUEcrRmh4Y2dlMnZuNXczaU5UV2d6S3FzOVFBUENBU0NHRThjWkpyUGc1TUgyWkYzdEtNSlBUMUdJSy9OQkIzb3FUclpCK09hZU1Tc2wrcUhWYk9QWlFTbFdrU25jaDBkam5vZEZ2MTZjMzZrWHZCQ3M0YkRaRUFrdmk1NXVGZjZoRnRhVDdJU0tFSlA1V1RmSU5Xc3hVaVpLZW41M1BVR3RXWlp3YmJjMS9yVDQ2ZTlGNnQxMVNaZTJ2MVpqbHY3NlNqSEdJaXNMNEtKMThzZEx4enpuaHB0aXVORjlqRmtHaGlvWnBpSkpUMFR3V3JleFpwM3g4ajgrdzRkRUFoNWcrVlk4ajVVZWU2UlVMWWRXaERxUHdqR3B1aExtcUlRc0VnaEFzQURsZ2Y2K2IwaEVtMjhmWHdnV1U0bnQ1Mkc4cFBqeTROQW1VdUFqNWllbmRVRlFESXpNNFA4ZzhtM3RMSXlncThVMlk4RTcweEtZRmVFc2dENTkyOU5nRVJrdVp1eGpDSFZvblA5cXdxTXhiSTNOaUs4ZlgwOTBXaXJDeGN1V05yWW1DZ0xoR2hJcHFhbWZwdndWMUpSTWZtN2xlY25nMDYxU1lpam1RTjdLODZPUmNXclpzdjhHTTZTSlFkWmw1bjMyQ2xmSUZjczhpeFhVMlc3cW9zc21IU0RlL1Z1dm0wMUlNQlc5NE13WkZpNHFDMmlEMit1OEhXZG1KSzlSOW9rQ1R3SUczOXBOL2FmM0V3R1NuVnlnekg1cnYyTnhpRzc4U0NiTHhIRXhudWZMOEtJb0FIV0FuT3ZodHNDWHF5UjdaZ2ZrRk5CbnA3WFBEMDl2N21VQXFvYmtTLzNCNVJjeVdnWUxmNVB2eGxCTHpjSm1xNW9yaTBXSnNTai9BT1VJWUJaWDY4QVFCaDMzSldORFdvVTNvNjVab2I4Um9Dd01JdHIxNjVCWFlPZWxycjRyc2Q5d3Y4OHdsdFFkQWdSaVNaMmQzWStnZGtDZElacGc0YXo0eEFDL0ViZXB2Mlh2YURHcHc0dTllaXJUVk9qbURoa1J6bmkvUHpQODBZQ2tDSG5CS0Vpa0hTbGtmSElYbDFqcWVRa0xSRms5NU42NWtqTUdmQS83ZmlSVEh5M0lBRGRycGNoUTJGMG1zRUQ4MS9uNkp5dUtvSERjYW9raXdUdnB6TEx0U3V2dTZLdlNMMFZLTzBJazlEUDNGaC8zbktSRTRUclcrSzNoS2V6cnJWM05td0lnQUFZMDJ2UUFBZWV2WVBaVmM5ODQ5cVZQcjI2T0ltY0ZOUEpmc2F4bDdUanhXeFZXSzdyb0xxaGFidGIrUUdGL004ZWdraHR5bzZGS3ZkQlVjT25rSGZ3ZnlhdVlUQ1lxbm43UzBLcEhUTnpjM29BTXVNTDV2QndTQ09nVlFDY2Z3K2dHQ2lrQnBFMXRPcVhVZjBvTGdVQzRCNkFXcFhBZmVSRWZmaXFJVlJsWVVzVGFqK0FBRVFQWmdrd0N6a3ZCSGtPQ0ltcW5YTjUrbXN4VFBHK2s0YnE1bUxkS2Q5dERvMmFKR21yK0I0ZjE2STcwZWQ5NzFGcU1mVlhHeGwzSnV1bHFlUlpsZVlDZ1gxTTlCRFRkbEdBSUpBZjlhaVlLWXRpTGpGSS9NcFIwbHMzSzNPMmZpbVl5dzV6dWhjM1pMdTJKTjRwSGRUZU1oWlJFS2VjZk1XWFd0dFJ3M2dkMUM2RXBROVBGakR0dmhRNGtVS1NGS2l5S0Y5WHNwQzFuVjArZ2VKeEp1VVVDTC9rTm1DNkRnd1dwQmV3enEvSVRseDl0TnJGZGc4V3pheW40cHBlLys2MkE0bENEdnM2dVlqODlvSzV1VUtFeDJCV3cxV1ozYS8yZ0FxSVZyL0V4c1pXK09DSHgwa3Z5VGovcXRtK1I0ZEFCY2RyZ3RyMFlXMkJ1eEdXQXlUWEZjMkNCZ1ZPZ1REM3FvWjZLb0tLUTQ3MXNXOVVzNWordStmZnBBZ3ZmMlNQU1g3djBNYmc5L2lPcjhWRkRGdHlHT2ZETkN1T0hTUS8rM3ovWmtkWmhGeTQ1VENWQVRLSFRoMWtQODBUZHhxRTdGT3R5dlRENG1kb3BIcWFWcGpacjdLdDVxa09ZNVNCaDAyT1JqMm1HM2NhYmFPb2FPZHpSNnBiem9PS1dhQTRuN2wxTGJyRlVUWkVqZWV5cTZTZ1FHRGwrT21kYTFYRlU1UU43RUlrcTRSL2V4ZzI2cHNBU29vVXhiQnNXZCtmY0V5SkdqOFM1YkErTE8zUHNJaUsraG9SVDZwcFdYaXVjcERWSmEwb0RFc25OVE45RTRJWVY5clpZMzluenAybDFsdmN5Tnl4azN4SDY5OWZsVEs1Nk9POWc3eWwyTWw4ZktZZVJWdTBQWS9DMjFaV1Z4dG1HNElLL0VjRWNoRFpJUWpWYjJsbmh3ZEZoT1BpbDVJZDhESzFzckpDYUxQS3VnL1VIQ1NVOVJ1WU5BQkRJRldmYXJjaWZNQ1d0NFo1bFNNZlFRWUR4MUFvbENwVUFsUkVxL05ZalBOc0hlYVUzSkU5Wk1CTlpMOWRaYVdmeWpGSVptU2pUWnlkeGVoMGhPQWZlcTBVaVdEWkZSK1ZRc0hoTHRDVlRpUnFnMGdPd3Rrb0hybkpBUlltTTg4aHlVdUJuQjRia3NaRjlYZ0RCWUVjUmJzL1JDUWl2NkdrK0tZZDhxYlcvQ2RUZFg3WjRIR0xFOVlOTElrUmxyREJwTmhZQlBCZDY5UGR1L01MYVhabldWdmRXZjFGT1NielpIc2JMMzYwR0JPeDVkaXJvMTlFNjlpdXBwOGVKRjQvZm8zSFRlejR3WS9aT1I5UU56SUtTbjlkcWg5dXNaZjU1SGZ1aTV2Y3N5SCtiOUZuMTV0RWJEM1E1dzVmeVBXc0xBeWwwQi9RRGhVcHVDYU40dy83M3BJcThtNGs5aFhMSG50OEhYWHF4V2oyL1JtVjVuQnZCYXFtY00xZGRiMDBQVGFpRHk4VTlhKzN4NS91Rkg2NnMyRlVKbHhWc0htOHBOMEIweUNVV1Z5ZGdoRnhVVXJUT2UrTUkycENxeC9tL2Zpc2EvTEtjMjNpUnI2VFgwUmt2V0RqNk40VVhkWVlCeUcrZUoyazV2SHg0K0JIN3ArSHAyaG03WXRwUEZaTkxQenE3T3Z0Zll3bjdsaHkyN0hVRHVFVTNVZkpWK1J2ZjNJOEx0MG84NDllYnZiWXZlWSt1ZXRsbHBKTGpJaUIyck8vU3NTTWk1cENsVzByYlFGeDFGV25BL202M1E1bWRXdHRyekJPMkQrZnVQZU1xMGlhM3ZFa25XTlB0WGJLdnF0akxlTHNjcEk1cE9Vb21WMlQyQ3F5dS9HaWFPTFRxb0hFeXhGM1BuU3h5OHVabisraEJIZFRnbVVQN1pZNXRQditPeS9vektIZGpxNnVWNTIvSDNoNHZ5QjU4TWlIcTQ2SkM4L1NGajZPRHp1MlgvOHNtdEhXdkhkblBQTm9QeVhZSkt1UWI4bTJLSGJBS3daU0tQclgxZnBoNmJrbytjZ09uVzNWcjB3K256ejVUN0VmMnpkVlhqa2tDZzh2TndRZDRUUGxTOVVTRVVidEE2VDhjK1M5by9aVzJSVGQrNWRoY09CUUJrWkZFN1cvakMvWS9RNDZZeUFpSzVkVGNERnpYODRONS9KSFIrL004ekdXVjhNUDdZa0ZHZlFNMisxUkxwT2krK1ZBb3E1b041bm1GeEJ3ajhGQW4yN0tYbkIxejNNNGRDcEpCMW8va2RnME55YzF0bkNPOWQ2ZFU3ZFZsWlhmMkJabERYaEpMUjNieFhydmdXYVdsbWdpV0ZqaDlLWjVIaXEvM2RpU2g4SFo4WmtabmViY3krZFZqbmkwOUVKeDdXaEliSnNveHVFQW54NWJTNTNzbGJJVnZ5SW5wN0RsMVVVdmxob1JHOHlybHhOQjdmVDcxWnEwNFE4WGY5akw3TjE2aWI3c3BYQUFlNDc0eDJNOTdjSVZXdHl0cUdlY0p2c01LU2p0NVBWQXBTdENleThxQ3lRLzRyaWd6OW95d2x3dHBWQzh3Zk9KSkdyZmlndkIyU3hzTmQrMS9VcHU4N2lzWThraFFNeC90RVNLUzB1M1FWaFo4UlErdzV1Sm5xWWFyUDliRTk4QlRmWC8vMjhsTzV0dTNHU0ZaRjQrTmwwakk1S1F2V1hMdkdiMnJPeUVqTnROdXJpMlpGeVNjVW5pMmlNcm8yVHZHZnE5N3Vmei9aL3pmeDNIY2Q3dWZiOWZyK2ZyOFh5TTEzVk0xMkVjeXozeENRY0JDRThUeG9UcnltR2F5RlEwK3VZN0EwRllyaTRRYVVIQmxxYW05QkNwbkhzT25HMDI5SEcyYnd4S2JKNDh1YktCdUZZN1NkTm9RVmR1VEczOUtiUnR2TkxhT3p3OFJhTXdFb0c5cmVhc2hIeGVvYUVBdmR0b29WRTcrWEp1ejlUbW9UaDRjaU1kczhDZjA0TmJuMEpQdUZzMGZ1OHN5RXJnVmZzMkVuQjJvSG95U2txc2NHWUtNdmRiRnRJTW1FOXN6UngvWjdjZ1NWbDNtQ2lTNmlJZS9RUE4yQ3dvS09pODlwbE5ycGZWclE0U2dlUis4TjdGRGlEeUNjV25Md0JoaGxBd1lWQUJiMG1NRVlWcjNzejNVdlBiNSsvR08zcUR6TXpkUVd0b2NTQ1RxaWJPTS9iU0cvU3RjbmNRUmdLOWNpbWNJeFdGd2djY2RQRTFtRi9Ucm90VldRMG1UNVhtNEQrcGJta0d0MERUZTNqZkR3dUNtQmVqcjBtV0k3cDlkaVlja3pRcTZickEzU0lGWEdBREZxc0sxbWZCSGh5VWZUYmhXWTk3cU81dndDajRxbm1JK2s3NUZTcEVmbjcrL01JQ3lVRXdKM0JYRmRSSXBsL0JxZHVwRTd0VzRyeHFLUXlxYnBEV3k3b3lZNlN2Vlp5YmI2MzdjT2VsZTUvVThFZmFhRVpxQllBQ3M3R3hCWWFGYVFpemR0aUlwWExlcE93OFBKUUdtaDREMVM1aS9QcFQ0aG1PMjZlUmc2YkRoSUxTSzE2TDU0NXFHNmV5NHZXeGlsZkd4WTFzWWEzaEtFYmk0eFVqbENzZnJjd2VoYWFaODdTc2FBRGVFMFYrb0w2MmQrSmdKZVRoSTVLc25LL0hwaTA0aWpmcjNpUGg1NVpZcVp0MDE1NDY4S3gvcmk4UTR5WHpJanFhbEN6NnpnMjdHYzlINlVaYXJKVVZGUU5yQndQdTBtbDlqOFh6OVd4ZnY0L3gzejFwRG94aWozc1RmSFB2TGhDSG1FN3hTZU8rKyt4SkdndEJ4eGZuMk5UNEZUK2hFeDdYWXBwanJWMEJ5WDRweVpkRHpyQ0JGVCtBUlI0U2EyQ0ZxVWQ1SVpCY0tsMHUyQ3luWjg2WE03MW83U3dsbll2ZndaZTVzSXJETUFZS01sN2h6L1RrUklKcnozRjJYeHdraWcyRkZrNEw3dkZUbnpCOER0YzVHN0hrSDRkemY1NHB6c1ZhS3o3aUZ5Zzl2K25zWENLTEN1WTZ4czNVWnpZRUptRjhQZXM2VTdGK1lTVkx1RTFvK1VMU2o5RFA0Ym5JZzJCRlFCV05hSnpkQXdxT1ROWG9OcTdYZmZ3VkZSWHZqRTVtWmpoWEQ1cWNIM3Y5ZzUvT2dxTWlRQm1ZbjZzL2dHNGMvV240OUtucjcvbmMzL24xZFJwQTZlOWR0SDBjcTAyWU0vdE5oTWxiNTFKQTZ3QmhtdS9ORXBXUmwrL1kyTGg5ZXE0RVdFTW9rMHJ2L3YwMC9MSXRPemxoQjNPS21VOFAxaDZkSGUrbytpbE8yQlY4NXgyWlBLYm9lUW1CQUNpVVhYcDFsVCtPVVpPakdQbDVwbkgxOEwydGt4UnhFbDhTaitvbHZ5bmZ5NVFxeWJwRkJ1bVhWVWhRWWRWcUdmTEJhTTRpUzJoa3BocVJTYmJxNkwycVlFVVo2TXcrVE1PcUxhaThLSFYxR2tHMlVLVFB4TFF5aEZaaDY2QW9NcURzN3U0R3BrV01oalJTaFFoUVo3c2thR1NRN2pZZnRzN2RyUnhYbGM1VkIxMWJZdGcrUDM4ak9TV2xHakFXV0J0eXkrbHZTbjQrcDliSHAyRmhyUE1WaGtKOHNyVHV3aHBYVWwxZU43UzA0RURKQ0hyMHdxVEdYQ1FyVFEvdCtQUWxUVXIzNHNJTit5K3hOd1F4YkZyWUgxSktKTERJQVpOckUzelhTcFh0LzFMWDVTVjcrenhlMzFwZjV3S0NsYWw5R3hiL1ZnQk1JdDdsdGJOMExqQnczSlI5SXBtdzd5RWhJWnJvNFJwcENMbFVwNHBxZjhPcDBISnhuQ1NScHJzbG55RE5wQWt0OW5UUzZFdTBHZVhiVjVWbWw1QWpaNWZiKzMrMDhPYjBieDN4UUpMZW1nZ3ZMQzJSb2RIbzQ3WEtWaTgvdjVoNy9OSE9zR2Nub1NMWWtGYzFCcVRSQmRsQWNreUU0MENBUFFPeGg1R1RUc2o3OUR4TThMTGpBZzhsQ1VZdis4TlhoZWNxWEJFN2djS29CR01NMzU2K004YWdCTkFnVjVxbTV0Qm1xRkszbDh6TE0vSzRXME1yTUZDQzM5SGJKcnBRbUJJVllhMDZKdFkxc1BWdklUWWxQTnR6bloyZ285eWxuMmRrTUJrS3Niam9zOUNRcTB0R3RBaUhuUjFIQXNuSmZwOEkyRk9qOElaR3pNOXdaaEtTS25vNy9ZRFVNZjJZMVY4QlRMaWFzTUZoV3lNUHc4VG9ZTjJ5M1c5NlhydGh4U0orL1I0M2grOFZLNm9aUGhtc3FkRTdrS1JwWVkrTEJFSHpiQS81dHhOOUgra1ZIUHpNcDdGNUlDNnZnSXZvdDU5Y1EzTno1L2w1QzMwQzJFbUhXdE96eGV0L1B4UCtwYy9MWHNlU2Q2aTdBcENrcjA5dm5yakJJT2xMenVXbEtMWUVxK1JCNXhpd2VLQ3pMSkxDK1h5eVJiczNXeGpjNHpTa0RFRnJQc2ZwQzJXR3VZeFhvS3BYQnNqZzlqd3FwTnFGSEZTeHFmZjRBVVBzN08vSDZBdVFkWWg1QlFZbWdFVlBwa0hpSWdHdmdIS0h0YWJFeDErT2dkOFFEeTBjcEFCOWxLUkJDbHdkVUZFSlk1Uyt5WmZZcXJDU3VCMCs4alpYelpIcWpXRE5ZdVNEVmlzSjlLbXB2NTU4amQxZDF1WWwrSVRsVGNpU3UvU3RKam9RV1pjK0VpZTQ4aE1wS0NxMmlkR1UrTm51M3V3MW9ZNGxPVHc4VE5VdUNzdFI1cURUcVJGdU1VRHAvMlp6Y2ExYlZUOFkyT1l3MHRyUlF3TW9DQlZWM0hNdzZtRkE0alY1bzRCNDZmYStIZnhOSWo0ME1PSG5USUxhMmF4YVZTUTZsSGQ2ZHNETFNGbFM2NVFoVkhvdFhhV0toMTl5TmhMcEVQbjZTcHFtMmk3SDQ5b2N3OHNXVmxiYzdEUnZEWVhtQWVKMkFpMStPVjFFTU5ucTA3NGZKVExINkV6VHRHYllJbml1NkNHci96VE9uT2wxNGpack1TcUtBYjhLUWRhZkhNUkFPTWFDMktFR09xS21kWGNZUkw0YXlOOWhvWHNZWWpNd1plL3hySWh4MkxQK0ZoWHFXM1IyMzJQZ1I0WUNoYUVwdmJMYnNvVUdqN25UVXZPdXZIb1IxMkU3SG1OT202UWJ4VThQMmFMQytxaGk1eVJ0MDlSc2dWanZuWEQ4OUxrSzJqMVJEYzVNM2Z0VHdxQmtKTXAyNTgvNVVHbXV1TWN2R2JISW12RTFsRm01blpzYk5laVUzd2pzbDU4K3JVdHlFN0ZFVmp3VkhuZnAxcHM1OUtCa1dMZjZyL2pST2ZseWZDKyt6SGRiWHBFZXBhLzVRY0NRV05UZnlkTnBXb3RMRlpXNkwyZWJYblFxV3plWGFGa0l1eW1Xd28vRUZ4cVVhT0lTWEY3L1B2cnpWdkNCTU9zREFXWTEyM1MxcUNZT2hkWkFCUkd5Qkh6eU5lTFJnUWtZb2R5ZTI2NStqZEZGTzRuZGk4QVNVSkNSQkFZSE14YmRhY0pJNXJ4WXJEQms4U0tKTUNzbi9LMVp6NWNuZFdiZzk4NHdpQjNNZVhwazlaTGJSY1NvQUxieE9DdVdmMlNhZlBUSFJLeThjV3grZ0cxbVZjSkRxKzZheGRGcDBNWmNSeEh5QWRqVVJLcmtObnlOYWFibHNLZ2I5TmxwRUZvcTNWa3M1ZkdUSi9mVGI1dVdEN3RMeisrZHZPUDRZRlZKc0wrWjJvbDNPMC9WMHp2RTR2bnBJTmNwQ1hKOTdSVnVzRnplWkZQRlJST0U3WFdaa3VlZlpXcXZGWE9xOEgxMWw2YnVFTnMrUGhiZzVKVFBUM2I0WGR0NS8zYXVJZFAxMFZXS1VaV0dXTm15bm1ldUNXcEpiWmlDSzhsT1dkdk9iQ1JldVZPdUZ1WGZtVXYvK1h6Ym9tWWQrajJOcWU2OHpsSlNVdDVFOFlFZVh4bGkzTHBsVnM5ZTBsdUttUXFsTC9CakdIMS9WMzdWb09ySkZ4c3hsUllyTm03VlhXM2JVa0RKUVd3Z3J3bEpNQ2JHbExzV3gzVzloeXYzQVN5NGJaS2kwaStQWHRMcmFPUFhNVlp0cUt2amc1SmlPWXZsV0Z1dXh0bCtGcU5oNEhvN1MyUXViVTRaTTZydWVidDZLUlFSTjFPeWNPZkFheHVMWHpiL3N2K0lrcXp1MnZxTHQwM2tMS3Q1cm9KQ0xTU2xtSmxrbXBLanpwV0FzVC9Mck9uZXE4Y3V0SDBtVEkvS0hicFBUZGRPTU11WU9OaUlVOVM0QkRQVkRTUmU1NWFYOFZHVlhUeFo3YUJ6UXJDQUkyNHlVVEpUVzR1bEMzaHFJSTNKeWNreCs2NmlNVjEzSXdGMjNTSWQ1VTJodGNLSnFYTXVBdXNXaTZVdllmWTc2N1RpU0R5YnhINUo5eHZ0KzhOZWc5dkZYOU04OVdsdjZKQ2Z5RlpvSGFnVWw2WUpKZjVvTHYzOGNxYXVKbHJJcE9pWjdTUURCZHIzeDVFamI3dUxMZ0lGcVJ4UFFscExjVlFKTDZuNnRQRmFScDFMTWlhU2xZNldGdHRLckNBa2NoS3l0RFBYcEhXWlVsSlMwcFh2REZGL2x0NS9pNnBPSkxDYXh4dklEWDgyVjZmaTN6N0dBUU5qK1ppSHN4Rk5VL1ZyanZOTG5HOXVQTEpjM2llYktLRTJ3K05PNWVzeUNsY3ZjUVhaT0d2d2lTREkydDFFWW9JM1JxYnArakhCSm5rdmNqT2NjSnNLNWZPTUJ3VU5QODBEWmErajhTSGlYeEZyaHVIOXZMcFd1UTRTaVRNemxvUFVMakNJbUM0VEVPWW1qOUltUnZmWlVXZVlmdVg0NElwZkRFMy9ZMG5BMm9QTkF3TVREb1JtdVdzclJXZE0rc1NKM3BEMG5iUVRoQzQrRzcvTStOejRnTFJzTVVRTHVsUmhQSE5WVWhpK3EyS3YxeVlJa0pyYVlrVmEwTzBnd1hBbFh0dGhSSUg0SWpRa3hOenVkMTdXMTJ5OThjbGczZEgrdHpSOVl2VnFCeFV5VjAwUFhvdm9mUHp3eTJKaWhnMjdVMjRpbmNMV3dNQ0tEWXBxZTJQNEFLUURRNkhNV05ZZE1Fc0YycjdIVElDK1FlRkFuQkxUZlVqUjJkRkJlbnIrU2FHUU4zYlEyUkNZOTZSNHdyYlNmdG9YNU90RDlBRExaTTg3dG9HaGZUVWlGaTMzaXZNcUtudGdiMjh2eWdsT2UxMC9QTUlhMEJRZWorY3VMMGVjZlRCdjlkZERNRGsrZCthUDBPQm1NRzFkdmZFQXcvcHJEem5VODlLT245S1VIREhqSUVycHlqelFzUFBkTklQSjJtQmovcEtWNVRGaVQ1UmF5MlM1bXVlOUhtK2NvdkJ4dUZENisyRVhTaU9Bd0NXVVZlWGl4WVhWNWh5WXBHc2Q1UHVHZEZRYkYvQ3RhcTd5V2IxQi9Ma1F5Qm9Od1lyU0l1WXZZZWVJbFFQNlFYWUgvbjNVbGNYSnlhbWhxYWtkQks5R2k2NWxQRkw5azlsb2hKZTI2enR4VGhweUlLN2dxNVhkTUV3OGpKTXUvbWVJR1B2TG9VL0JMY2tHSmZ2VWtmb0J1KzYvMUsrb0FJZFZPNm1HR1cxM2tFaTdvQ3lkU05YbTRrNmpBUGtNZkNmUzVMWkdENmM1S0tIZE1GWWRiVFpjT3lkQUptM0VCRmpJWUdHSVVkb3hzZ2VpUndqVDRuYVhsckZPclRXNU1xc2tSeXRoN01GRW4zeStIa0ZyQVM5MmQ5KzlnVWpUSkFNNUhsQjlUS0ZKRU5CaDRPQnU2VFp0Ym0xNUJ3VEU3KzM1aHA3c1hxcXZyd2RZQVRhTGtHRDRNOXJhMmdpdGQ1MkVZRDlabkluV0xiYUFLQjhkSFIwZmJseTdBR2JpeDFicjN5NW5XRHZ3Rkt4d1ltYUJtdVNTOU12U1k2NzFVNHg0YUpJRzlXdEc1b0szczJTVWw3cVI5L2dCZkVHNU1yWFZ2ejlqUXZBQ2dyWVZZeGYrSm8vRXAya1h2Y3Q3cVlWd3BZaDJSRmViMEF5dk1JUHFYcmx5QmJ4bUFlZDFLMzVKRmdSWEJTVWw3YjBxd0daR0FvYUdINGFOdDMzbVJudy9HcHMzQkJFMzB6TmlVeE5tbWtZS09QVXl1VmJQVm85Vy9KNFpZMkpyYXlYejh2TnRGYURBOFhIbjYvRms5UUxadTY5d3gzQmt5V3ppWFM5TWQzcHU3bmxXcEZVdDhPZVV2alRrcEdDTGxjaitkYU15dUkwVHlZOTdtd2hzWUdEZzU1OC8rWUJqRDFWQyt2bThReVdwY1ZNWDVaV21zZFBGY3ord3FCemZPVDVPQUpZQldNZWtWSm9PRlJpRTVRa1JSZ3JRaUVISnk1YzcvbktjSTY1U0Nnb0tieWJkUVNqbFlrdzhzOU5IRHd1U1J4TURXOGkrRGF4ajkzQ2RCenQ1Ky93Mm5DSzZOQzdPbGl0VHUyZTVBV0ZNQmpLN3JIWFh1S20zT0FjZGVJcEFKbkcrM2wySW5xUEVWVmxycWJQQ1dTYjBud1h5V3ptQlBiVTJuTDByUjVpeWJrR2t2UkxTWG96OWpURm12anZsT2pzTmVZSkdJVkJ0SUpmcEY5ZGNDNmphbktLRDZFQ3ZXYk1ZdTRndDQzUnd5WEZkL0NxRUtCMlptL2JBL3hwUXJYMlZiRDAwMkt5c3JDenUxUXp0b3M2SE5penFrSlJ1NS9vcEFJc09ITzZTaUlpSUZ3RE40OXJFOHZMYklGeTdkS3B2a2NyN0RpVTQxWnF1TEV5NjF2M1lPL0Y2K2pRcE4vZmFEbStWT2MrZHEwdmd4endrY3ZIMDFLejU4c3Q1RVdZcUVObW9vUlJ4RDBHVWxzaWhHVnI1UUovVzR4QUZYalk5T3d2Y3VaMFNVc2YzcHBWT1hKaG1BMGhmdktGM0Rqb3RST0x2OGZNb2NveTRYcWxzSkxjcUZWelhqSGpJM3U1Q2h4VjdkakFIbkpPTFJWMTNUNkJDSE1nZVRVMXd6Q2hjZ0pteGtoaEovUFh0VkNKOHNIZC9mNS9YTnRBUFNrUkVMMHI0VzRBQ1FnaEZpZGZobW9FbXFvSWFCRVJiSnI1bmFqQi96Tlp0VUJJVHFwUUNYQzZZbEd1ZFVGSXFtT0VTODNZc3lIcmlPZmRBM05YSGpIcUZoU1UvbWZ0RWlQSjFaclRSYlVRNTk4aUJvUUpCaW5vakt4S1o2QWV3REM3Rndva0JGN1pZRVE1SE1uckl4c2ZIR3hvYTZQM3ZRUnhlYlI3OGVRclFBVUE2UDFYL3BLR3hrYUh5TGk5am1uZmpZOGpPeG9hSHkxa21maGtYRFI0MXNIVkVhTlBlWGgzQTlBckt5Z0RLbEF3L21nK0NMWCsxTkRlcjFVNTJ1a3RuZEg0R29SUjRYMlR0TTYvSm1YOVlFQm96cTQxVlVLeDdLSGE3bzRhRG5DalpsdU1maVU3dGF5Q1JMaTg3OVRDVkdHT0lpSVpoUlF6WGNqRzY2T0ZZRFJ2ZUJOQjJEYTJ0ZDh1Tm1WS1l0N3psOGwvUlp4SW9nUGpmQkRxU1hUZThOUm1ibHVqMjA4ZDA0UlIwYVVCQUFEY2ZEVkdqQlIxd3RsYTd3TGFEdGJLeHNjR2hxd2R5WFl2aUgrdnJ3YjVXdGJhbUZCYnlNRlBGeHJJOUZXTm41cWtDNUZNVSt0N0ZUb2JqTGFCZVVNR3BxYW4wSXNBU09KMGhkMmx2QkNKdWE2NlZjUDI5Uy92eTNnMW9Dazl1MzF0OUFTN2dHbnBkSVBCTmk0d2UzbWU0dHpFcVFLc05pUzBzTGNGTEZsZFdLTS9Eckp0ZVNEeGFPRDJGV0xlRzRWS3VLK3VYRzR2bjYvSDVBWC9adVlkaWZKODFyWHdydTdLcVRMZUJxZG5RT3JBUFgvVkwzMFJIWjlUSFVucWRKQUp3SzloMEFPc2VwcXRKR2dEeUJnY2RUcGhSMS9tTEN5all1V0pqRE9Cend2R0xERWVjTFR2d292QnRQNTBuU1NsRWdEckc2UFN3YW5GaU5aUENoMGRIUlgyN2dEV2cxNitEZmJ1SmJRUEFGdHh3V09HeFBnT0JadUhyRmdJN01UbDVSeUtuYzJkSFhPLytmVytRUUMxRWJpSUx2V2xpNFVNU2VVOFpmdE1DOWp2K3M5VnErNW9mOUp1K01HdlJFYkV2bjRpbzZNNzVud0FBbWhmZDlqMEx5bkp5OENLRE5BbGx0eEMzWjFjemV4M0JWVDg1enA0MjBQbkhGK2Z5VFRNaWhEY0xaZHF3eC9tVnJDT3doRkErT1htMWRGUUlFQm9jUmUvVHlBSFN2TGVYVjRSUG96QVp2Ty9wdGxuUXZLR2k2cWpPcXA1K2ZWUVFrU2VVT0FwdXlXRVBnOXd1ampGTGpIaDQ4Y0wvOXI1RmlYM1Z4dUhzTEZRcC9JS0dDT0JaQmFqWHhzYnRzekJsY045K1BENnQ5K2VTRmJHeWpuTE9sWWVZVWJBSFlCa2ZQMzVVdTd2dyt6Y0ZJYnJ6WndCRWhWSUF2MUw5U3ArV3ZSVTRpUFU4QUQ1eFNCSTlCWmtEZXNZWlJ1Z3ZRS3lBeFlHekFERUxCRU1BL1Y2NmZOc0kwSlVnbXdOQ0lLVGFnM0ZyR1VWRjNNV0ZFbWhTVFhPbU5odjZGVCt6c0s0YWcyQU9NQlh2a0pCYlFmVFZKdmNvK216RTZEMElpVjErQ0FSUHdUdU9FeDBRODdudjMrRWdMSzBOL251RVJXaHU4R1JBWGxOVDV1Q1pTM3RCZ0lYZFBUeTBkaDFhckxwblpqZ0JjUU9TWksvRkk1VVhmLy9XMUx5YytEemp4NnNaeFpxTEtVZ1hGL0ViTTNTZGJuMXdaZm1lcVNMNTZuSitNMlRNbFZsS2ZIeVY0VUgzYTN4NGFTUi9obFplWHA2TkRJZDJpUWl1c0wrLzMrYjFlOTRoZmtaS3N1ZzczNWFWTCtFbVRyRXpuanFicWpDSWVyVko1LytPVytycjR3MkZpdFRmL1UrZmRJcEZ3OXEzanV4RFFxNEJrZ0VNczdoajBwbjNXK1I5RjRuMWI4TEJOM0dEYjlIdmh6SWNHaUpaSFlPRERJUTk5dkdKOG1ra25EUm84dGJZZEFJeGU1bHdHcXIwN2JHa3k0b0NOSVh2SFNBMXNaeDdZcENrZDQ0eWt0c2hMUVZMVUxCNkRrN09lUkFzWkJRVTFKU1FiTFFVR09MOVArZnBiTUIzRjgwQnY5STJOc1lLV3ZBYk1CdURudlVnSGkwRit3R3RWbFJNdkJZV0huNGRxUnplMWRORENUcVZOLys3a2VBWlhYRlRNWCs5SGo4VEtLMFdjOTNERmtNdG5pMVpqQnVnaWFMT3NSSjB6S2p2MndxZW5IdnRZalNnN0NWeU4yejNUa0lUMUxoQm83MFYrUnBpVmprT2VubHc2K2puVmRjNk16aFp0a0xQWEcyNEJwallmZnptWmdYdmhPc1ZFQmNpQUdHRk0vZjZjSTRzcmwvUW51MFRkSFRTWXhjWERvQ1E2QVlvbUlqMUJUT1QrTlVDbTVUbzZHaFNReUdXSFpJQnNVbStJSElTWXExZ0JUbTVkbmRwVmJuOHJyNCtXbUNQaWpacVhkbGRpSVpYUHJDL0FxKytjUVdMeFM0UWMya1JzUVljdk16VjQ4K1ltSnJxY0pkbUl2VVBDaEpVNi9xT1NyZEZnam83dzVwVW9PeE4rcjRpZWZzY2hvRjg3RFFuTDNzZFFiWFZ1Qm51OFROeFFLRlVXcjZ1UWpnbDVua3ZFempSZWpJa1NZUFBLU1pUR29HbjZtRGtpSVplVjFJR1hpa2RraU9qL1lTd3VFQmRZQ21BTjVYTHA0dnJ1TkcxV0YyVzVsdGowQzFHazliVzd5QkIrRFJpYnE1N1oyY0hubGdSOTE4TnRxanEweFhYV2tlTnY4RjJ2MWtYR3dveGNoZVByem5YbVFIblFxMG9OSklWS3AyckxwS2xxb1M4cTRUTUlwUGQzSmROOFgra3g4andIRWM0bXpFVWl1M29VQVZ5dkxDNlNrVndZL1ZUZ0ZYc25HV2VjS2VwOEdmY0FXK3VObm5KNlNMTXl0UkNpVjFybDZyeTl5c3hoQ3RBdTBGK096dzhmTWVjZVVwZktod2d3QXdYWm8yMlpRZUt2NXNERkFxRWV5TTJacHVhV2RMS29pd0VnUWJCMC9VZkFLeURzcVAwVmNBOVlKQk1xcXZZeHFEdzJrbGhBRjBHdW5qUWw2d1V4TDFDR3dYWGdwOWtueldCZmdBY0FDUmFremNLekhMSlIzWkZaK2ZzVFBnZFgwYVA1cDhOc0ZFamEvNHJuWk1yZnJ5TjZieXZnamxCLzJ0N25yaFhueG5mdk84YVNqaFVxQjd6OHJsZnEwem10dWZDZ1JrVkFsczk2QXdiMkVBQXMxWGtkdE9JMzdjeHo2RVRQZXpDVUdBUThOZFkxV0VtclZiMFV0SWwrNFY3eGU2Z0ZFa2FoRmlGc0IwbDlXY1RtSDIzcXQ2d3NlbFNQT0h6SGV5SXNSNTZXRUkwVTlBbGdyWkRCYUN6dlpOTUJhS0xFZjdBSkw1dHRxTWlPbng0S0QyMEFpUGlBcnFHeE50TDU5NTJkcHpvZWJ4blliUjFwOGpnRGd5Q0EzTCtMTnRRNk9ENVpiamxUVVVxM3B4UXV0K1JYNWYzTk5IRHJZYklxcExzMDJaWXJxN0MvL3ZFNmUyTVorSGNsbzVxalpjTVFCN1Z2eC9zeGI2UmtEWGFlRitLMm5ud2hqS215Nnp0ZVpwQlFCbU5ZSEY1NWVKT1ErcGxSTDdoekxjWDBUY1pLZFVLQnk5VlJsdkNyNGR2ZnRCNWYwaWFzUjNjTWh0MU9Tb3VGVzZZbHhYbm1PbjI1dGRsTVJRemtWMTFOdXlBMnh0MXpMcDNtVEV4WnVsS3NSVXI5bVFqekpOV1dUYUkrOWozMXkweGg4OTVMTE9rY2U3ckZkV3ZzYW1hdk1BS3BnSVBXVnZUMG5LYjI5eDFHSmI1bVNoVkJGMTYxMTZHNCt2VHdsZWt1UHlSVGt2STA2L0dkN2taMk9NaXJTcHZRaWxtQTVUTXEwM2NVWS9JOTRSaE1DWHVVTi80K3N5SExxK1lqQlZucVdmdHZoMjFiMW5jUitNRFpYL2RoMjZ4V0YxNlZ1WXJaMFF1Vmxnd2VWSHFJTlo3S1NjVi9mSFhZM1BQT2w5MDNXbUhYUDBNSG9sRThubW51K2tISE9ibGxyNkMzVU5veFZqdHFUcXZ5NGhPQldPTTZGWmxNUzFTTXNxVitUT050L2ZnRFlyWFhISFJ3YmZadFEzR0N3dGFaOWdWcnYvaTJaWVJlckY3WWNwa0ZaUlg5eXg2TVZXLytHaE9ycjZKMytpWldibVFkMU0vUjVZOTVvUXhON2srTUtXc0Y3dlNVa1YzNkR1NitGUUplWjhwUVpsTWx5dXYyL0xROXgvR2VjUjZxVnNOSk5seHoyeDhqZTlUZWYvT2tCUDhBQjRZZTNDMjN2WGh6K1lIY3ZUQmxLVXF1dTU3ZVRlMWk2K2NxSHhVNDNyb2V0Y0R5dXhNaXpLU1pFZkYrSlI5RVZKWVpDQnRXZlI1S0dYa3dBMGFZTjVIMVQxeEVsZHdidCtlNU9ON243K1ExNi8wTFY1MithZmJ2UG5lU0ZCNUFXdWw3KzBRbDZuenVZMm1pWm43V05ucHNicjFuR3J6Y1lubVY2amxreW5MTGQxL0FpR1FpUDdJZ2VNT2s0K0xIeVFwUEwwRDBETE5XZjROVjI5aHNqNTdPcFdGV1kvcFRXM1dlbHJSaW5iOTRzTktvMmVheHYzTjU1Y3VMZXk0aG5pd0lBeUdWaFVRZUZ5TmYrT0d1N1VQN2FoVXk5TEpRZ0JtdktkaVZVM1ZuZ2tGSU5obFk3UVZrNHZhWjZReS9WaGJsMnovaUtyUmZhYVYrcCszOXN1VFZjKzNRdkk3cU9yWEhtZmhiV2g5RzhvNzVNaFZpY2NXUjhXbk4wc3NKNzdRZXE3Vm0yTm1XcTBYQm9jR0puai9PK2Q0T2xocFp6SHpvaWszTGFSM0lINlZ6NHRhdmFIdCtVNUFiampMVzN1MngxNjdGV1Z3bUhGTGl1ZmZBTG11RmFXbTh1RkVtTm44ejZ2ZTJEaGowV2p0ZHpDWGdlUGlBVEw0b21YMTZ1YTBSL3pXVXZMSFR6K3NKYnMyUG1EMkYwNjhUci9wdk1BTEZWeXAzMXVlSHVQOFc3T1RYN0VoTkV1OWhtK2hwNjFIVHBVUGJ4eXR5azVZOHRRM3M0aDJlMW5vQ3NDVXFENEl2KzdDemdkWS9NRnNIclpBQ3Vjc3U5M21ieWU5ZU1SeitBcVZaVFMyTXhiWTU5U1d0RlRXMGVqcTNNei80VEo4Y2VhSHY1UG5aVFFWaWFqbmtWRUFEdEVkMUlNeWtXNmRFc2U4YUJUK1VLdnQ3SkRwU296bTdYQmM2dmRZZDdTTk1wcm5HeHh4T1JlOWtkOWJVY2ZQOE4vUlk5bWw2Uzh4andJYWNtL1VobzE1Q04rTXFoS2UzZndnVWkvN1NFckF5bGR1M1c3WFNyTlA0cCtMbXFBV0s5K2J1OHZTc3pYTG4xMUUwTjU1UC96b0VQZzJvYlhROG9HY3VLNG1RaGhVcHFwbnE4d1NpNWtTcjl5eHMySjFPbXBpT3JSN1p3V0hHcHRHajlmUlkzNGxOSCs4czc4d0diVFM0R25mOUxOR0pxbU9LbTM0djFyYWUvejRxWDZSUGxmdXl0SDhiVTllclF1VDFlbnh6V2k4cW5TK2xwRkRGQlhoYUYreE8rbTRXUEY2YjhIeDNvOERCVFpSeTNnUVF2LzlQTGZkdk5uclVZL0g5bW1qbytkNlZwbmpxUGdqMlRBV1ZlZUFienBidmVicEZLS0JXcGtwNC9vWmorQ29GcEJLV01EQ3ovQS82bnA2ZE9DVVZ1bWkxanJYRm91dzIrTmRJWnZ0ajFvS0VNandMU2xuNTdKYmZsZlJjZitPcnE5Z2hxci9EbnRIZ0tIL1JyVUU4RlQvRFpPcjRKYi9qVExDaWM5L3d6Z095T2wvNHhZSWlyVC9qcVJNZ09sL2I2cHhSeWVtOGpJc2NvTG9yRUp0Vjg3MjRWZ0pDclVqZDZ5NUpacWs3a3l5bzB4MWZyY2NYR0g4ZlJSRmpxTHNsTGN4c2d3VjdhN3N5SzZVcWdUdlA3WGpuSlU2VmF5QlZ2SFJqK1hXcmo4dUQyNW1hOFpsYjhXbTdGNUdVK0s0WnhlMkhEZ3ZEZ0h5dHFHbThWTHVFS1d2ZnpZQXcrQ25kY1ovaElTRmZWVDBNUjMvUFBjL2NpVERPNDBhZDNwMnQrS3lXMzNQUXBKT3JBS2Z0MmI0SDArRmlKYjFocWdwSDIxT2RBWk15dGx6RnZ3eFNqbjZjNjdFMlg2c2VzeXBzYkZ2S3RwOTFyUFk4dU4yMThoQW9LN3ovVno1MlFYRkdyb3QvcVRSNmpHeUJSNHhIYnRSM3djcEFhZGxXZllYU3p0VzI2ejJGYVJoeXhlZnhyS3ZFei94N24vaS9XUTJtSGJ0QllFRE83QXVuRlV1eXd1NVV3UC95R3NzNHc2V0RnSkZBNStMejFHTHlyS3RPYTBuSC9sOFF5cjhqODdOei9MTE91Wm1RMnc1WjNuV3F1TDhBVy9kRFF1NEo0bzBmVlRXSVhtVUxuVWNxdlNIUHU0Z0drcHV0dksvMjF4ZnNZQmRQSzgvbGplTmIyMDVhcGRydmp0bVN3dnAzVW1yV0pGVDhCVzE3RENMRjRPRkxkeWVudG42Q1o5YlV2WURXOVlYTk83Y3JBaUxQTDZPQzFraGJMUzc5SDdJbmVnQk1qdlM3YlFYNSsvTEhxcXFMdnEvOGIrdUpQTC9RZUx2RldacmM1NEoydElqSWpDMDFQWFVLdUEyVWY4SFVFc0RCQlFBQUFBSUFOSlExMXBLTFlTMjFRY0FBQjQ1QUFBUEFBQUFjR0ZuWlhNdmNHRm5aVEV1ZUcxczdWdGJieHRGRkg1SDRqK3N0aThwcVBaZTdWaXlpWEp6R21TN0puYlNtTGV0UFhHRzdPNVl1K08wNWduUlY1Q1FxSVJBOEZBSlJOOHFKQ3FlK0RlVWxuL0JYUGJ1OGRwTzJpYXA3RHpFTytmTW1YUE96Snp2bSt5a3V2SElzYVZ6NFBrUXVUVlpMU2l5Qk53K0drQjNXSk1QdS9VNzYvTEdKeDkrVUcxYlF5RHQ3eEFWaGFoMEp5TlFrMm1iTExVc2gzei83K21MTzZvc2ZZNlFRM1JrNmRDRnVDWTdqaXkxUGRDMlJzQ3J5VVNCbUpMSWg1bHJlMmprQncyczhUNGM0RlBwaVBSWE5hMWdhbkl4S2IwTDRQQVVVM0c1b2hmS2lwb1cwd0VqQTVxcVRFdGpBMXFsbkJaVGQ3WThZSjNsdXhDcHpmR2xqVHpzV1pBcDFEY2JuZDIwZUhPTVVRZCtDYWk0ZTNDNE8yT1FCamhoRnBRWjhpNGE1WWtQUWhlenpvVUtXd2hqNUFnME9uMFAyZll4TTE0d2xaSXBFdmU0Mk5ES0dmR2VCd2RiWUFqZFk0RjNrYkFuRU43emhqdlFBMzFNMW1MYXJXb3h1MkNxRFd1Q3hqalovZE94TTJxaUFSQkVSRVVkUExHQllGUW1DMmFqbEJhMXhzNkRCamdIdHFDYjR6U3RMNURIbHRPMENMcGNsRjJISk1RajRPMUFINHM2RXVsZE5FZTY2ZnRVdUo3WkhLTk8zK0xobVVwV1JIWmduOWdNc3FvVXBoVElpRkhtbEVUU1V6bW00OWNoc0FkVTI3WW1VdWNVUFd5ZklvekNSUzYxMkxLT0hwbXdqWHhxVkdJN2l5U0VSQ1h4N1VQU3JRUktEZWlDVUxFTEhtR1NJd3hKUUtHcFRCcVlHMno4WUFQeHloVFdvcGUvZi8veXUyLzUwMkZOcHI5a3FXNWJRMjRmWWhzSUREUGpSNVk5Wm1rZ0Zhd21kN29IcVZReGxUcHlzVlMzSEdoUGFuSVRrczNnSTdKUmV4YUpTcFo0QXNpMFM5dklScVRvM1RMWUo1M3lZaGpFUW9GcFVXQy8vdm42NlpNb01CYkpqWTZzRk1ISDQyZi8vZkFzaW13SGpDd1BPOERGTnpDOFlQWFQrTXBoZkx1T0JlMG92T0RwSmtlMkhxM0p2Mzc3NSsrZlh6MTU4ZnI1TDFHQTk4bXVkcS83MG93YmdvcVdMWFIrVkFucjBMYnJ5SE1zSEZDZkZnMHZFbS90MVQza2RFK0Jrd0dmYXR1REx1NEFQQjVKZFVqZ3RuTUtBSTRTR2JBbEpTNlBsTGhFNVpIU2xBU1JvbnlnYVhrRVBIbXNET0NURFlRUUpCODV2aWRhSXE5SVhTZU1MNWtiMWhMTTZPdkgzL3o3NC9Pb3B1Njc1OUNIRCtMcGt4cW9meGJ1WWhaZytMQkpvUHM4MXR1eSttZERENDNkUWFqUWNhMlJpUE1raDMvNXg5ZVVTUWFGYjlib0ljU0lodWRQeWRFRGJjSHdET1RpWkZUNUpOTEI5Ymc0ZmZYVHF5ZlBVaURFMU5oaVkyQ3NwOE5oMHQyVEUwSmxxRmd2Q2NRVTVwaFFJTnRHcmt2NmN1T21rWENXaWNPblpqUDIxcUFMd29MdUE3cFBsZER6STRndEcrSkpqdTlHT2RkM1E4bnhYU2pzbkJLMm41RldpNEd2NFROWDRudHAzMkhuQ0g2NElEUFBKb1JPZnNxMFo3bitDZG1DMmNxUVlPejZkTjJJaWJxcWtzTk4yWmhXMlhTSElsN0laSHZ0Z01acTYycWhWQ3FMTlJpWDFReWpZSzZyMHhwa3ZZWld6RkxCSk5QRWFMVXNOYk0wTmFIT1RKcG13ZFJMbFZRUFRWQWJiVGdTY08xSUpxTGFSVkUrcTl0dFJMYVRuelhDbTRNbDFjWnFWQnI0L0NuWmdzNDZ6ZkNJeVphSnJzaEhuK09URmhXTXVUNHRNQW14azRLVUx1YVF6aDNTRjNDSUxsenFqenJYbXplYU1vTjdhTHpwbElVYkxRNXBJUmZEcGhRc05hSGZUNTg5YWQwSWtQaXpNZXlmTlMzL1RPRDdITVNPMU9qQmc2dUo0cUhTKzBCOGprNHBiVnZzS0U3b0RwNnQxTFl3QnA0YmJCNmhHanNhYjNvZWVzaTBsSkRhVEpjdHByN3JEaFpYWnFHU3JBVDU2Q0FiRGtSVHpwUWplTGgxY3FLd2o5aG9NYlE2TmNFek0xdmw0REk3NjJTT0J5UW1laUFWYjhBWkJxckZ4T3BJdHU5WTJKSU9BRGxlZXZ1RHpGOEdHUGdFQzJYTG8xUHRBcDhmUkFrS1k4L3lNU2V3dEY2U1F3bHcrNVAwSVprTk9oZlh0TXZnV2tGUjF1ZGhtNm9LVkJiQ050MnNGSXhLS1EvYnlrckJNT1pqbTZKWGxvUTNzNksreC9DMlFIUnZCZDdtejBQczV6dENPTGFFRjBlNU41YTVKVkZ1bWN5RnUyNEZkQm1sRmRBRlhsOHAwR2xYQTNUNjlRVTZRNitRSFM0NEFzWkFWMUZwN1ZrQlhkeHBCWFFyb0ZzQjNRcm9yaS9RNlZjRGRNYjFCVHBUbTNlaTB6VmxCWFNwendyb1ZrQzNBcm9WMEYxam9EUGVHZEFGTHlCcElrSzRNeE53Rjc3bVQ2bngvWmxzU2xWcTVJcHJkWHhWVE5NRXV5MitMS1lyQWpGWlJzRk9GN3liSThJZWZ4R1pPUXNYUmQ0c0FOeTZRYkpRcjhsMDFEdmM4VndRcHkvMnVYcVBxL2R5QVozcTdoMXVIdXlzS2Jmei9sNWJNUXJjanpYdXc4ZlVuOXNmMFFxWGcvaW1sdWpUbzMxNk0vb2tPSUJhMXBaN1pha3NBZjV4dk96OXZDRG1CQnZJVlo1QkR4YXR3WlhLZTE2RXA5K01NL1ZVRVRibUtGKzRDS3NWK2tQcVVIVHZnUE1lZG5PRGtnSndRdlJ1ZHAzZUE4Z0IySU5ncXI0RmtvbklqUlppQ1oyOU5scnNabVFPTWQyMmtROEdPUW90Uks5dTVTdTRmUFhOOEtHSnprRVh6WnJvSE5iTTVETVlLWk1WWjVwbWkyM09vTFFZNXcrcjVpNnBLZlBWb21DdW9zYjAxRmFqS3pyOGppeFp4RGI3RXQxdUhMcklBL1J1Y1h6N2lGNUF2amdBbDk4NkFGTVFwV1cyM2VvZXI3VXBZY0NGeHIxdDhyakdmQ01rb0xDM2U2L1oyRy90MGtiMTltMUJ6WTRSbStKdVlLOTNjWHRKaUwrOGQwbE9jQ25mTGt3aWxHVW94RnNoRUdFbWw2RVBZYjZXb3cvS0V0VGhhcGdEVTJZeGRhMGhyNEpVUDFvRHgyeENoZXRvNFE0cmRwSkk4NHFkck5oSndzTDd5azR1T3VpMVpDYUJTZEV3RXIzNXpwUURqa0tmQ1o2UzRTcjhnZE1TZWpzOVVqUHBFMWRpWDdtS3NxRnNxSVhzVGx0Z0lGVzc5RWdNemNNWStYK2JrUy8vQTFCTEF3UVVBQUFBQ0FEU1VOZGFKUERiK0RvQUFBQTZBQUFBRGdBQUFISmxiSE12WDNKbGJITXVlRzFzczdHdnlNMVJLRXN0S3M3TXo3TlZNdFF6VUZKSXpVdk9UOG5NUzdkVktpMUowN1ZRc3JmajViSUpTczFKTEFHcUtjN0lMQ2pXQjRvQUFGQkxBd1FVQUFBQUNBRFNVTmRhMEZ1aWtlMEFBQURMQVFBQUV3QUFBSEpsYkhNdmNHRm5aVEZmY21Wc2N5NTRiV3lWMFV0cmcwQUFCT0I3b2Y5aDJXdW9qeWkwZ3BzUVVtckZOZzhiZy9TMmNWZmQrbGl6cTBiejZ5c1VEL2JtSElmaHU0eTk3b29jdEZSSXhrc0VkVVdEZ0pZUko2eE1FR3pxK09rRnJsZVBEN1pQYzF3UEc1bXlTZzRGR0RJcHdRbUxoTllJS29wYVVNS3d5Z3FjVUYycHlnUUNseUFvWEtKRDhJNWxpaUNUMjNPYkxacXczeEVpWkdkcFZ2cnhiYklGMFJCVVovakxpYjhjL2NnSTd3NzFlc0g0bTNabUczbFVQU3NMNzhGbk1NODNKcjR4K3ZtbDg2TDRWZk9PbURlWGtndStwNlQ5NldOSHp2UE5pVytPL3VIbWNHdDNkZjNvYTNPN2JpdWZCbnRwWlpsNDVuKytyZjUvNUJkUVN3TUVGQUFBQUFnQTBsRFhXbFF2QzF5dkF3QUFZeDhBQUFrQUFBQjBhR1Z0WlM1NGJXenRXYzF1MDBBUXZpUHhEcXZ0dVUwY3gzWXMyVlJ0YVVTbEJwVW00dWRvN0hWaTFWbEh6cGEybkxqd0FFaW9CN2doRGx3b0hMZ2hlSnRTOGhic24rMDRjYUpHU29sYWVmZXlHYy9zek00M00ydFByTTNUZmdoZW9YZ1lSTmlHeWtZVkFvVGR5QXR3MTRiSHhGOXZ3TTBIOSs5Wm5SN3FveUZkQVRyRUwvRFk2U01ianQ1OHVIci9CWUs5aHpaVWRTaFpNcmFkS0l4aXlmdm4vUHZvMHprRTdaN2pSU2MyWEtzcFZUNkVlRU1kRitkYmNPbTJ5L1Z0dVM3Q3hLQml2bStZcHVMN1VOSVVUcXNqejNDMWhLWUttcUpwcnA3UTZweEdwWkZoSmpSTjBseFhVeE5hUTlDUTZTbEdRdE01cmVHNTFVeHZUZWpRRGM5SHNISmQyL082RkVuVEc3bzZZWHZ1UFBWeFhUbmI4MmRzRlBoSEx6aTNzTDFhVlUzVHk5bHVWVExjcHREY3BWNXhpWVFUb3hQQXFVb1IvRnlJSWoxQXpTanVPd1E4T1E3Y281WXpQTExodWpMSnlibWJRUmhLNXM3WmdHcG9SMkhnRmJGbURnWlA1ZUhZZ0NDem5ZYnpGQ2JpZkptYW9zZjdBVVl6bjZZY3oxRFE3UkdtWE5uUTZUQUtkYVhzTzg2QThUWkRoOHhuUEhBSVFUSG0vaXkybjdOdW8yNkF0K0k0T2dIdDREWDFWRjFBVUowdHNvdTl4UVM0STZpcnJvTUZGeEI0c09TbTdCcE5hZ0dOem1jZUdocldoOGluajAwK1podFJTYXdvUkhJdVZwWUkxdmxZaWxJRVdoR3p1ZGdaVm1YT1JsWmxMTVJYRVAyZEFCTmFPVk5uSXo0WGQvYlNzNkxNaDF4OWtxNmZ3S1VNK3pzVzltb1o5a3RHaUc5WnBzTUM3MEJsZVFmLy8zWEhUQU5kcmJGWkJ2b04xbjA5ZGJhSDJGeDkzYTl0cUd5VVdaSFBDaU1GU2pQWUxMUGlSckpDZWp1N2JPc0dtNnRQaS9LYVdEcEVmTTliblJETkNKUEo3dEtFdDRTTEZKUE5ZdTIzaVcvZWU5a1M5ZExrTGZDc2JPY0pzQXE2c3hoVGV0cWhGZDNjcTR1dmw1OS9BTm5XMCtvRmJWa3BKdHFiZDZGVXFJdVdDaWxRdjZFdkp3WG0wYzRWaWxwU0tGanYvQlpYaWRseGxIYWhKY05VNUhiUWFkS0h2dng5OGZmWHQ5SEh0Nk9mNzJRbm1ycUxQaGRheFgzTEN1OVdHSFN4RFhjUXBpRkNXWnlYYlJJTmVGV2VqdkFzMytSL0ZOTU4vcDRUT3k3ZEN1dzk1d3BFWUNoMDFYVDZRWGhtdzFiZ3h0RXc4Z2w0NFR4Q0FRUVN3TFVaTmNFNm9GdDJZMmZRUy9iY3c5NCs4Z2xmUy92cEpkVWVNUGlZTHNIU0RPSWhTZmdQV1U0VklXSzFuSmlHL1JCMDJLbnBObUpudXRpT0NJbjZmQ21scCtPYUYyNEIxUDZ3TUdneUJzQ1dBcDBwRjlBYzduSlRPWHZpc3V0ODRNNEFRc1JMcHJ3MHJUVHR0cGltNUV3ci9DWW92YlpDMDhZZjVhdWV2S0hZUFNPcGtrSi95Ulg3dy93ZlVFc0RCQlFBQUFBSUFOSlExMXF5ckpudGxRZ0FBR1lLQUFBT0FBQUFkR2gxYldKdVlXbHNMbXB3WldmTmxHdFVVMWNXeDI5SWVBaGllS09ta2lYS1F5c2dBbW9SdWZVQlZDMm1GUlVGSVNJS0tBcTFRcmtnSnNnYkZHTzFndUpJUklRZ1UwZ0Zna3BEWWlDQmRoUVJFSkJua2h2Zmd0NHJFSzV3azlzd002dnpaV1pXMS9UTDdMUCtIODdhZS8zUCtaMTkxaWFlRWdyQWJLdi9GbitBUkNJQjUzVUxJQWFCVGJPN1B4V3pKbi9XZzBUY0I4eU5nQ05BSVpsa0QraVprOGptSkVJSzBBR0FwUCtQQXVDZlFkSWpVL1FOREkzbUdKdm9DZ1JtZ0I2SlROYWprUFgxS1JSZDlwUXVEMURNOVMwV3UyOHdzUHc2d3REK3VOV3EwOStYR2kzWmVGdGl2YU1UV2VweDROdjBPY1kydHZNWExIUndkSEpldHR6VGEvV2F0Wjk1YjlyczV4L3d4WmF0UVR0MzdRN2VzemNrOHVDaHFPaVl3MGRPSkNSK2x3UWxwMlJrWm1YbjVPYmxYN2o0dzZYQ29zdFhpbStVM1N5djRGWGVxcXF0cXhjMDNMbDdyN0c1UlNwcmJmdmwxNzkxZFQvcDZlMTcyaitnaEZYUG5yOTQrZXIxRy9URCtNU2tlZ3I3T0QzTFJRTEl2NlAvV3k1ekhaY2VoVUttR001eWtmU1NaZ3ZNS2ZxTDNRMHNObnh0R0hIYzBuN1ZhU09yamQrWDNwYk1XZUt4QTdFKzhHMm5zYzFTVDZVRE9vdjJkN0kvQnBiK1A1SDlEdll2cmdGZ0xwbWtheDdaSEFBQnJkYjVSajd3eHlYMlppdHFRSnJJV2RzdVJnTEJ3WFVxc1lSaDNhNWc1eE9BQ2NzUXV5b3JJYU1KQzhOenFnT1ZCR0QyZFAzbCtpZVJYY0p0RmJIZXBqTWJIYjV4bVF4em5lNmNZbjBZUmxhU3BsMzgyT2M3TXRnS0dNVFdPc0Z1dUFNVDRZdGp3Znh3YndMSXRKUVV2NVRHMHdpZ21UYmppUU1vaUM4V1UxUGQxVXhzUzJveXpCOWxwRTNKRVE3azBTS1BxOVVPb2Y1ODlYckxMVE9IK0lQdnE3V2ROZ1J3VzZ3b0ZpT0oxTEU2Uks2dVJYaDVCS0M0Q2RaM3lPZ0Y5Rm9CTjhjblBoYnVJR0dHQ3Y3b2pHM3VKTlY4R0V2NU1DZ3BhdUNYUWtIS3dwc3VFM0l6UWZsemVSSDh3SE9sZjNOczZKUDJ1alQyTFgxcnZBcXIwMUwxQ0NCOVAyUWlDM2RFM002SkxGakRKU2JvblhSOHc0OFlvOVYzSGhwOW4wbkJUc2pDTGRIZ0hDL2FOYnJVZHdHNkprZkFPZHVRSXNxQVRVMkM2NFJkazlkb08rc0VUeEthL0h0ZnRFNFBtRngyeUdOWFplNS9kYzRqWjFkRXlkMzlSaDNoM3lTL1NGdmtaL1VWNlQrSmFVb0FrbTNpS1BZaWJULzRFMk1zYU1ZRmQrOFJPcFNtZm80cEVRNFRzYzJjNU5neDMzcEhaOVJySW5lZWpMcHpEN1VwVlk0WnloWU9WeFNuRzQ1WGRLZXUvK3Z3c2s5ckgzMzVsMU8vN3VPZFN6VlJ5UE5LTFBxRStxaGhpN2ZiMmRRRjhFbmI3a1FDTUlXeW0wMFpYL1NzNk84NmRPNU4xM083VmNnK1A5UGg4bWJLM2RxbTlCRjExeDdYYW1YeFN1bzR1UWRVdE11eFpZVUZNSGN1NUQyakVvLzZhVzdETTZEWnlLdSsxU3g3VFUwaXc5UWVPckRJVnhYVTBKY2FXOEZxc3kweFJTcDR4dzNLckFZTU9IRDFTZjhlNFY3ckVvRlQxbEhCSmVTZEtFSCtnZysvSHgxVGNUSUlRRUNYRWtDL2h6UkVuUFpPdEJSM3hXWlV6UDdCc0w2aTFwRGdMTmI4SVVnbEFjMjl3T3pHa2hxeEdjdHhUZG9Fd3hTYmQremtseVVUMEFQWUJQTFkyb243dG9TaW9kQjNYU040UHdIVTgzRjNYcDR2blVVQTZtak5MUzJJejgrbkZ3L2VELzhNWGFiaGlhaGJBOXo3aDZCWTFUUFJDdXlTY213ZStYVHNkWHc1MW9hMGJLL05OTm5tUERiYXRTNEJmNGYxRVFCbDlISGkzVlIySmM3VWZZOTlyUHZpVDRSTWxlWUlBVWkxenBwS0FqZ0k5bytyTjNTeEQxOExrb1U4RXZuNHdlS0Z6TlI1R3FIV0luVXJGc3F1aG9vL0JHNVVTUmZ5Y2drZ2huTW1mSEV2YzI5dmRNWTJ1eVdCNi9iY0F3akFtVDdnQVR0ZVF0bHdzSXgreHB1YVBjazFlTVcyQW1QQWMySnp6M2dqNkF3Y2tLdDF4ekthRzRNTEJCcGJhV05TOXFUOHpJaDdzazhZR3JUMzhlamsyb1IyQmh5UWYvQ2lsTFcyU2NDVlRxc2FlRlZoN2dqZGwvMXh6RTJEczFIK3hBKzY2MmV6SlF0QVJaSDhUdDhaa1RFVUtRRnBRaE1kb2U3b1RGYzgrZkNhWmdaTjJ5eW1nbEhIbUhDTlFMV05yZGQycUJ5Q21zU2pNcVZiL2dVc0JLUzhTV3FNSzFWb21Db3ZXUXRVSk4zWUlyT1pkcjFpY3lVU2FhMG1BQVBtME41QnFEV1VQdENpU253WXZxaStoL2Q0TWcrTVlxWlBwZGllTFd6elI5VzhReWR2REVMeDZzZW9iVUhyMVZ0aEVOalNlSERsRU9RSVdxeHZrN21SQmZ6c2R4ZmE0QVhJZk1NWGN0ejh2WFplV0s5WWNSR3NqU3FkY1FsaHRZV3cyeXI1V2xlb0RlYmhUclppdTNmYVR3SXRzVHYrU09INWhNWEtWeUlxOWpwc2hXRldWdk1iY1BCSVhPRDQ1cVA3WjlaZVlNdmpuMTdVVWczNnhFZXBBK1BxT0UwaFQvY2U3TmQwcWhJakFKUnpuMnZzZ0FyQit1Y3Y4NTRqVlZCSFdIMW5hQmlucFFPaGZoNTRlRUtaRUdlNy9WanNObHMvbjdKVGNiU0hUSGhLeWNFdHU3WEd1bm5GTEpLS3JIVm1FZHJlZ1lZeUwrN1Q4RUU0Q2Jka3lyZzBUNUxSejRJbXVXMldyMGVxSHZvKzY3cHd2TnFlTVdhVUVQTyt2V3g0RDQzNzA4aEk2TkFwdWE0SHQzVU9MTFpreXdRVFcwNEFveTVvRHR5SFc0NnJHN0JqeWtDeXVncHpnTjFvVU1PVWVnVldoSnhVOGpQclRRMmwwL2JNMk9LYklXQnpoeEZHbGt4N0ZXU2QvN2xuMHEzMjlXN0hEWWxWYjA2c0g1WU5EMTJuditYOHQzbWprNEZiTHU2bDdKZ2ZrMUtVN1JONlBVYTBEQm1wTzlxYjBwWWpEQ2pmOHpiRnJqcnFZVTF2WStIRlc1TEVpRk5ISCtXMjYvY0liOXZzT3BCWnVVUVZyRW56bll2dEdobFhKNkJyWlB5bk16dm1kb1VNYXR0OXZlTk44RFgxNXk5b0Q3THJlQVdlSFhUV1E4c3R3bWREWWFuV0phT2xrTjh2V1NNZVV3NVdwSTl2WVE1Rk95eWlkWTlPdE8vV3pYVEdXSTZpM1VucWE0MEdscGNQRXdBSGpPUVhmQldPTFpGT0I1ejFuRk9ETXhSWHhmbGNFNUhqa2NQOG1KQkUyWXNzcDJ5UkhrYVhGa1BjbGhLSEJ1Nm1lMDhVUFUyUjZtVHNzUStqSmxadUxPaElrd3VvRXZxQzEyWlFCcnk2TEJwOUVDaEdYMmJ4TFZ2dFZ2ZDRyUStSTjNQcHVKdUtlNVp1N1BWcDdLbWtmZmZzekxHSWFOUnRldzlPVjJ6dVRtQVk0ejdJblhRZnAzazV5bzRmSzYvcjVUdi8zNGhLOVA4R1VFc0JBaFFERkFBQUFBZ0EwbERYV2lzU2cwekFBUUFBOGdNQUFBd0FDUUFBQUFBQUFBQUFBTGFCQUFBQUFHUnZZM1Z0Wlc1MExuaHRiRlZVQlFBSHJMWllhRkJMQVFJVUF4UUFBQUFJQU5KUTExb1ZhdGF5Y2tBQUFMMUtBQUFRQUFrQUFBQUFBQUFBQUFDMmdlb0JBQUJ0WldScFlTOXBiV0ZuWlRFdWNHNW5WVlFGQUFlc3RsaG9VRXNCQWhRREZBQUFBQWdBMGxEWFdoUkxHdGJTYUFBQVNITUFBQkFBQ1FBQUFBQUFBQUFBQUxhQmlrSUFBRzFsWkdsaEwybHRZV2RsTWk1d2JtZFZWQVVBQjZ5MldHaFFTd0VDRkFNVUFBQUFDQURTVU5kYXhHMWF2NGczQUFBT1BnQUFFQUFKQUFBQUFBQUFBQUFBdG9HS3F3QUFiV1ZrYVdFdmFXMWhaMlV6TG5CdVoxVlVCUUFIckxaWWFGQkxBUUlVQXhRQUFBQUlBTkpRMTFvbWNkdC91bVVBQUtGd0FBQVFBQWtBQUFBQUFBQUFBQUMyZ1VEakFBQnRaV1JwWVM5cGJXRm5aVFF1Y0c1blZWUUZBQWVzdGxob1VFc0JBaFFERkFBQUFBZ0EwbERYV2tvdGhMYlZCd0FBSGprQUFBOEFDUUFBQUFBQUFBQUFBTGFCS0VrQkFIQmhaMlZ6TDNCaFoyVXhMbmh0YkZWVUJRQUhyTFpZYUZCTEFRSVVBeFFBQUFBSUFOSlExMW9rOE52NE9nQUFBRG9BQUFBT0FBa0FBQUFBQUFBQUFBQzJnU3BSQVFCeVpXeHpMMTl5Wld4ekxuaHRiRlZVQlFBSHJMWllhRkJMQVFJVUF4UUFBQUFJQU5KUTExclFXNktSN1FBQUFNc0JBQUFUQUFrQUFBQUFBQUFBQUFDMmdaQlJBUUJ5Wld4ekwzQmhaMlV4WDNKbGJITXVlRzFzVlZRRkFBZXN0bGhvVUVzQkFoUURGQUFBQUFnQTBsRFhXbFF2QzF5dkF3QUFZeDhBQUFrQUNRQUFBQUFBQUFBQUFMYUJybElCQUhSb1pXMWxMbmh0YkZWVUJRQUhyTFpZYUZCTEFRSVVBeFFBQUFBSUFOSlExMXF5ckpudGxRZ0FBR1lLQUFBT0FBa0FBQUFBQUFBQUFBQzJnWVJXQVFCMGFIVnRZbTVoYVd3dWFuQmxaMVZVQlFBSHJMWllhRkJMQlFZQUFBQUFDZ0FLQUxrQ0FBQkZYd0VBQUFBPSIsCgkiRmlsZU5hbWUiIDogIlNNVOa1geeoi+Wbvi5lZGR4Igp9Cg=="/>
    </extobj>
  </extobjs>
</s:customData>
</file>

<file path=customXml/itemProps140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</Words>
  <Application>WPS 演示</Application>
  <PresentationFormat>宽屏</PresentationFormat>
  <Paragraphs>98</Paragraphs>
  <Slides>12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蔡振辛</cp:lastModifiedBy>
  <cp:revision>174</cp:revision>
  <dcterms:created xsi:type="dcterms:W3CDTF">2019-06-19T02:08:00Z</dcterms:created>
  <dcterms:modified xsi:type="dcterms:W3CDTF">2026-01-19T11:18:46Z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68CFE6D2EC9B40BFBBD04330D083468B_11</vt:lpwstr>
  </property>
</Properties>
</file>